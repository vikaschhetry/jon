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5"/>
  </p:notesMasterIdLst>
  <p:handoutMasterIdLst>
    <p:handoutMasterId r:id="rId106"/>
  </p:handoutMasterIdLst>
  <p:sldIdLst>
    <p:sldId id="904" r:id="rId2"/>
    <p:sldId id="285" r:id="rId3"/>
    <p:sldId id="913" r:id="rId4"/>
    <p:sldId id="914" r:id="rId5"/>
    <p:sldId id="915" r:id="rId6"/>
    <p:sldId id="912" r:id="rId7"/>
    <p:sldId id="916" r:id="rId8"/>
    <p:sldId id="1071" r:id="rId9"/>
    <p:sldId id="919" r:id="rId10"/>
    <p:sldId id="921" r:id="rId11"/>
    <p:sldId id="922" r:id="rId12"/>
    <p:sldId id="923" r:id="rId13"/>
    <p:sldId id="924" r:id="rId14"/>
    <p:sldId id="925" r:id="rId15"/>
    <p:sldId id="926" r:id="rId16"/>
    <p:sldId id="927" r:id="rId17"/>
    <p:sldId id="929" r:id="rId18"/>
    <p:sldId id="930" r:id="rId19"/>
    <p:sldId id="931" r:id="rId20"/>
    <p:sldId id="934" r:id="rId21"/>
    <p:sldId id="935" r:id="rId22"/>
    <p:sldId id="932" r:id="rId23"/>
    <p:sldId id="933" r:id="rId24"/>
    <p:sldId id="937" r:id="rId25"/>
    <p:sldId id="938" r:id="rId26"/>
    <p:sldId id="939" r:id="rId27"/>
    <p:sldId id="940" r:id="rId28"/>
    <p:sldId id="941" r:id="rId29"/>
    <p:sldId id="942" r:id="rId30"/>
    <p:sldId id="943" r:id="rId31"/>
    <p:sldId id="944" r:id="rId32"/>
    <p:sldId id="945" r:id="rId33"/>
    <p:sldId id="946" r:id="rId34"/>
    <p:sldId id="947" r:id="rId35"/>
    <p:sldId id="1028" r:id="rId36"/>
    <p:sldId id="952" r:id="rId37"/>
    <p:sldId id="1072" r:id="rId38"/>
    <p:sldId id="956" r:id="rId39"/>
    <p:sldId id="957" r:id="rId40"/>
    <p:sldId id="958" r:id="rId41"/>
    <p:sldId id="959" r:id="rId42"/>
    <p:sldId id="960" r:id="rId43"/>
    <p:sldId id="961" r:id="rId44"/>
    <p:sldId id="962" r:id="rId45"/>
    <p:sldId id="963" r:id="rId46"/>
    <p:sldId id="964" r:id="rId47"/>
    <p:sldId id="965" r:id="rId48"/>
    <p:sldId id="967" r:id="rId49"/>
    <p:sldId id="1073" r:id="rId50"/>
    <p:sldId id="1074" r:id="rId51"/>
    <p:sldId id="1075" r:id="rId52"/>
    <p:sldId id="1076" r:id="rId53"/>
    <p:sldId id="1077" r:id="rId54"/>
    <p:sldId id="979" r:id="rId55"/>
    <p:sldId id="980" r:id="rId56"/>
    <p:sldId id="983" r:id="rId57"/>
    <p:sldId id="984" r:id="rId58"/>
    <p:sldId id="986" r:id="rId59"/>
    <p:sldId id="987" r:id="rId60"/>
    <p:sldId id="988" r:id="rId61"/>
    <p:sldId id="1040" r:id="rId62"/>
    <p:sldId id="990" r:id="rId63"/>
    <p:sldId id="991" r:id="rId64"/>
    <p:sldId id="992" r:id="rId65"/>
    <p:sldId id="1041" r:id="rId66"/>
    <p:sldId id="1044" r:id="rId67"/>
    <p:sldId id="1045" r:id="rId68"/>
    <p:sldId id="1046" r:id="rId69"/>
    <p:sldId id="1047" r:id="rId70"/>
    <p:sldId id="1048" r:id="rId71"/>
    <p:sldId id="1049" r:id="rId72"/>
    <p:sldId id="1050" r:id="rId73"/>
    <p:sldId id="1051" r:id="rId74"/>
    <p:sldId id="1052" r:id="rId75"/>
    <p:sldId id="1078" r:id="rId76"/>
    <p:sldId id="998" r:id="rId77"/>
    <p:sldId id="999" r:id="rId78"/>
    <p:sldId id="1079" r:id="rId79"/>
    <p:sldId id="1080" r:id="rId80"/>
    <p:sldId id="1055" r:id="rId81"/>
    <p:sldId id="1070" r:id="rId82"/>
    <p:sldId id="1056" r:id="rId83"/>
    <p:sldId id="1057" r:id="rId84"/>
    <p:sldId id="1058" r:id="rId85"/>
    <p:sldId id="1059" r:id="rId86"/>
    <p:sldId id="1060" r:id="rId87"/>
    <p:sldId id="1061" r:id="rId88"/>
    <p:sldId id="1062" r:id="rId89"/>
    <p:sldId id="1063" r:id="rId90"/>
    <p:sldId id="1066" r:id="rId91"/>
    <p:sldId id="1081" r:id="rId92"/>
    <p:sldId id="1082" r:id="rId93"/>
    <p:sldId id="1016" r:id="rId94"/>
    <p:sldId id="1017" r:id="rId95"/>
    <p:sldId id="1018" r:id="rId96"/>
    <p:sldId id="1083" r:id="rId97"/>
    <p:sldId id="1022" r:id="rId98"/>
    <p:sldId id="1023" r:id="rId99"/>
    <p:sldId id="1067" r:id="rId100"/>
    <p:sldId id="1068" r:id="rId101"/>
    <p:sldId id="1024" r:id="rId102"/>
    <p:sldId id="1026" r:id="rId103"/>
    <p:sldId id="1027" r:id="rId10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CB4B6"/>
    <a:srgbClr val="DF5556"/>
    <a:srgbClr val="E7EDF4"/>
    <a:srgbClr val="FC6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3321" autoAdjust="0"/>
    <p:restoredTop sz="94626" autoAdjust="0"/>
  </p:normalViewPr>
  <p:slideViewPr>
    <p:cSldViewPr>
      <p:cViewPr>
        <p:scale>
          <a:sx n="71" d="100"/>
          <a:sy n="71" d="100"/>
        </p:scale>
        <p:origin x="-1014" y="84"/>
      </p:cViewPr>
      <p:guideLst>
        <p:guide orient="horz" pos="2160"/>
        <p:guide pos="2880"/>
      </p:guideLst>
    </p:cSldViewPr>
  </p:slideViewPr>
  <p:outlineViewPr>
    <p:cViewPr>
      <p:scale>
        <a:sx n="33" d="100"/>
        <a:sy n="33" d="100"/>
      </p:scale>
      <p:origin x="0" y="4140"/>
    </p:cViewPr>
  </p:outlin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7/24/2025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7/24/2025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96DC7D9-F5B2-4DC1-90DC-7DD1F2839FF0}" type="datetime1">
              <a:rPr lang="en-IN" smtClean="0"/>
              <a:pPr/>
              <a:t>24-07-2025</a:t>
            </a:fld>
            <a:endParaRPr lang="en-US"/>
          </a:p>
        </p:txBody>
      </p:sp>
      <p:sp>
        <p:nvSpPr>
          <p:cNvPr id="5" name="Footer Placeholder 4"/>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C0D9CE-0C12-47D6-AD76-4C8AFAE422F0}" type="datetime1">
              <a:rPr lang="en-IN" smtClean="0"/>
              <a:pPr/>
              <a:t>24-07-2025</a:t>
            </a:fld>
            <a:endParaRPr lang="en-US"/>
          </a:p>
        </p:txBody>
      </p:sp>
      <p:sp>
        <p:nvSpPr>
          <p:cNvPr id="5" name="Footer Placeholder 4"/>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540E5E-58CE-41AF-AC6A-CD1FA2EA1562}" type="datetime1">
              <a:rPr lang="en-IN" smtClean="0"/>
              <a:pPr/>
              <a:t>24-07-2025</a:t>
            </a:fld>
            <a:endParaRPr lang="en-US"/>
          </a:p>
        </p:txBody>
      </p:sp>
      <p:sp>
        <p:nvSpPr>
          <p:cNvPr id="5" name="Footer Placeholder 4"/>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BAB136-A2A1-4955-8F4B-3EDE7D88B565}" type="datetime1">
              <a:rPr lang="en-IN" smtClean="0"/>
              <a:pPr/>
              <a:t>24-07-2025</a:t>
            </a:fld>
            <a:endParaRPr lang="en-US"/>
          </a:p>
        </p:txBody>
      </p:sp>
      <p:sp>
        <p:nvSpPr>
          <p:cNvPr id="6" name="Footer Placeholder 5"/>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1FC0E94-9741-4E38-942A-EDF95545731A}" type="datetime1">
              <a:rPr lang="en-IN" smtClean="0"/>
              <a:pPr/>
              <a:t>24-07-2025</a:t>
            </a:fld>
            <a:endParaRPr lang="en-US"/>
          </a:p>
        </p:txBody>
      </p:sp>
      <p:sp>
        <p:nvSpPr>
          <p:cNvPr id="8" name="Footer Placeholder 7"/>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111369-9C2F-44EA-B7F9-DC36F2DA940B}" type="datetime1">
              <a:rPr lang="en-IN" smtClean="0"/>
              <a:pPr/>
              <a:t>24-07-2025</a:t>
            </a:fld>
            <a:endParaRPr lang="en-US"/>
          </a:p>
        </p:txBody>
      </p:sp>
      <p:sp>
        <p:nvSpPr>
          <p:cNvPr id="4" name="Footer Placeholder 3"/>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D2F495-76D5-4D65-AFAA-874603E007D2}" type="datetime1">
              <a:rPr lang="en-IN" smtClean="0"/>
              <a:pPr/>
              <a:t>24-07-2025</a:t>
            </a:fld>
            <a:endParaRPr lang="en-US"/>
          </a:p>
        </p:txBody>
      </p:sp>
      <p:sp>
        <p:nvSpPr>
          <p:cNvPr id="3" name="Footer Placeholder 2"/>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8FA516-A522-444D-8B88-7CDF081E51A9}" type="datetime1">
              <a:rPr lang="en-IN" smtClean="0"/>
              <a:pPr/>
              <a:t>24-07-2025</a:t>
            </a:fld>
            <a:endParaRPr lang="en-US"/>
          </a:p>
        </p:txBody>
      </p:sp>
      <p:sp>
        <p:nvSpPr>
          <p:cNvPr id="6" name="Footer Placeholder 5"/>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A2E775-341F-44D8-91B3-63176122199C}" type="datetime1">
              <a:rPr lang="en-IN" smtClean="0"/>
              <a:pPr/>
              <a:t>24-07-2025</a:t>
            </a:fld>
            <a:endParaRPr lang="en-US"/>
          </a:p>
        </p:txBody>
      </p:sp>
      <p:sp>
        <p:nvSpPr>
          <p:cNvPr id="6" name="Footer Placeholder 5"/>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352AB3-7A7D-48D5-A409-733191CF1713}" type="datetime1">
              <a:rPr lang="en-IN" smtClean="0"/>
              <a:pPr/>
              <a:t>24-07-2025</a:t>
            </a:fld>
            <a:endParaRPr lang="en-US"/>
          </a:p>
        </p:txBody>
      </p:sp>
      <p:sp>
        <p:nvSpPr>
          <p:cNvPr id="5" name="Footer Placeholder 4"/>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6CBBF7-C796-4D88-9173-79C957C0CD6C}" type="datetime1">
              <a:rPr lang="en-IN" smtClean="0"/>
              <a:pPr/>
              <a:t>24-07-2025</a:t>
            </a:fld>
            <a:endParaRPr lang="en-US"/>
          </a:p>
        </p:txBody>
      </p:sp>
      <p:sp>
        <p:nvSpPr>
          <p:cNvPr id="5" name="Footer Placeholder 4"/>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2987A9-CD6F-4296-B00D-94636A8171DB}" type="datetime1">
              <a:rPr lang="en-IN" smtClean="0"/>
              <a:pPr/>
              <a:t>24-07-2025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hyperlink" Target="https://courses.lumenlearning.com/waymaker-psychology/chapter/reading-what-is-perception/" TargetMode="External"/><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hyperlink" Target="https://www.youtube.com/watch?v=uWCcFrnGPBw" TargetMode="External"/></Relationships>
</file>

<file path=ppt/slides/_rels/slide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hyperlink" Target="https://www.youtube.com/watch?v=f_S_bapYEm4" TargetMode="External"/><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hyperlink" Target="https://www.youtube.com/watch?v=GW2A8xoSoYk" TargetMode="External"/></Relationships>
</file>

<file path=ppt/slides/_rels/slide9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8775" y="0"/>
            <a:ext cx="7486650" cy="750041"/>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000" dirty="0" err="1"/>
              <a:t>Noida</a:t>
            </a:r>
            <a:r>
              <a:rPr lang="en-US" sz="2000" dirty="0"/>
              <a:t> Institute of Engineering and Technology, Greater </a:t>
            </a:r>
            <a:r>
              <a:rPr lang="en-US" sz="2000" dirty="0" err="1"/>
              <a:t>Noida</a:t>
            </a:r>
            <a:endParaRPr lang="en-US" sz="2000" dirty="0"/>
          </a:p>
        </p:txBody>
      </p:sp>
      <p:sp>
        <p:nvSpPr>
          <p:cNvPr id="3" name="Subtitle 2"/>
          <p:cNvSpPr>
            <a:spLocks noGrp="1"/>
          </p:cNvSpPr>
          <p:nvPr>
            <p:ph type="subTitle" idx="1"/>
          </p:nvPr>
        </p:nvSpPr>
        <p:spPr>
          <a:xfrm>
            <a:off x="1828800" y="1371600"/>
            <a:ext cx="6262464" cy="628651"/>
          </a:xfrm>
          <a:ln>
            <a:solidFill>
              <a:schemeClr val="accent2"/>
            </a:solidFill>
          </a:ln>
        </p:spPr>
        <p:style>
          <a:lnRef idx="2">
            <a:schemeClr val="accent5"/>
          </a:lnRef>
          <a:fillRef idx="1">
            <a:schemeClr val="lt1"/>
          </a:fillRef>
          <a:effectRef idx="0">
            <a:schemeClr val="accent5"/>
          </a:effectRef>
          <a:fontRef idx="minor">
            <a:schemeClr val="dk1"/>
          </a:fontRef>
        </p:style>
        <p:txBody>
          <a:bodyPr>
            <a:noAutofit/>
          </a:bodyPr>
          <a:lstStyle/>
          <a:p>
            <a:r>
              <a:rPr lang="en-US" sz="2400" b="1" dirty="0" smtClean="0">
                <a:solidFill>
                  <a:schemeClr val="tx1"/>
                </a:solidFill>
                <a:latin typeface="Times New Roman" panose="02020603050405020304" pitchFamily="18" charset="0"/>
                <a:cs typeface="Times New Roman" panose="02020603050405020304" pitchFamily="18" charset="0"/>
              </a:rPr>
              <a:t>Introduction to Organizational </a:t>
            </a:r>
            <a:r>
              <a:rPr lang="en-US" sz="2400" b="1" dirty="0" err="1" smtClean="0">
                <a:solidFill>
                  <a:schemeClr val="tx1"/>
                </a:solidFill>
                <a:latin typeface="Times New Roman" panose="02020603050405020304" pitchFamily="18" charset="0"/>
                <a:cs typeface="Times New Roman" panose="02020603050405020304" pitchFamily="18" charset="0"/>
              </a:rPr>
              <a:t>Behaviour</a:t>
            </a:r>
            <a:endParaRPr lang="en-US" sz="2400" b="1" dirty="0" smtClean="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rPr>
              <a:t/>
            </a:r>
            <a:br>
              <a:rPr lang="en-US" sz="2400" dirty="0">
                <a:solidFill>
                  <a:schemeClr val="tx1"/>
                </a:solidFill>
              </a:rPr>
            </a:br>
            <a:endParaRPr lang="en-US" sz="2400" dirty="0">
              <a:solidFill>
                <a:schemeClr val="tx1"/>
              </a:solidFill>
            </a:endParaRPr>
          </a:p>
        </p:txBody>
      </p:sp>
      <p:sp>
        <p:nvSpPr>
          <p:cNvPr id="6" name="Subtitle 2"/>
          <p:cNvSpPr txBox="1">
            <a:spLocks/>
          </p:cNvSpPr>
          <p:nvPr/>
        </p:nvSpPr>
        <p:spPr>
          <a:xfrm>
            <a:off x="6477000" y="3581400"/>
            <a:ext cx="2552700" cy="1757363"/>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68580" tIns="34290" rIns="68580" bIns="34290" rtlCol="0">
            <a:normAutofit/>
          </a:bodyPr>
          <a:lstStyle/>
          <a:p>
            <a:pPr algn="ctr" eaLnBrk="1">
              <a:spcBef>
                <a:spcPts val="500"/>
              </a:spcBef>
            </a:pPr>
            <a:endParaRPr lang="en-US" altLang="en-US" sz="2000" b="1" dirty="0" smtClean="0">
              <a:latin typeface="Times New Roman" panose="02020603050405020304" pitchFamily="18" charset="0"/>
              <a:cs typeface="Times New Roman" panose="02020603050405020304" pitchFamily="18" charset="0"/>
              <a:sym typeface="Times New Roman" panose="02020603050405020304" pitchFamily="18" charset="0"/>
            </a:endParaRPr>
          </a:p>
          <a:p>
            <a:pPr algn="ctr" eaLnBrk="1">
              <a:spcBef>
                <a:spcPts val="500"/>
              </a:spcBef>
            </a:pPr>
            <a:r>
              <a:rPr lang="en-US" altLang="en-US" sz="2000" b="1" dirty="0" err="1" smtClean="0">
                <a:latin typeface="Times New Roman" panose="02020603050405020304" pitchFamily="18" charset="0"/>
                <a:cs typeface="Times New Roman" panose="02020603050405020304" pitchFamily="18" charset="0"/>
                <a:sym typeface="Times New Roman" panose="02020603050405020304" pitchFamily="18" charset="0"/>
              </a:rPr>
              <a:t>Shruti</a:t>
            </a:r>
            <a:r>
              <a:rPr lang="en-US" altLang="en-US" sz="2000" b="1" dirty="0" smtClean="0">
                <a:latin typeface="Times New Roman" panose="02020603050405020304" pitchFamily="18" charset="0"/>
                <a:cs typeface="Times New Roman" panose="02020603050405020304" pitchFamily="18" charset="0"/>
                <a:sym typeface="Times New Roman" panose="02020603050405020304" pitchFamily="18" charset="0"/>
              </a:rPr>
              <a:t> </a:t>
            </a:r>
            <a:r>
              <a:rPr lang="en-US" altLang="en-US" sz="2000" b="1" dirty="0" err="1" smtClean="0">
                <a:latin typeface="Times New Roman" panose="02020603050405020304" pitchFamily="18" charset="0"/>
                <a:cs typeface="Times New Roman" panose="02020603050405020304" pitchFamily="18" charset="0"/>
                <a:sym typeface="Times New Roman" panose="02020603050405020304" pitchFamily="18" charset="0"/>
              </a:rPr>
              <a:t>Mittal</a:t>
            </a:r>
            <a:endPar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endParaRPr>
          </a:p>
          <a:p>
            <a:pPr algn="ctr" eaLnBrk="1">
              <a:spcBef>
                <a:spcPts val="500"/>
              </a:spcBef>
            </a:pPr>
            <a:r>
              <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rPr>
              <a:t>Assistant Professor </a:t>
            </a:r>
            <a:br>
              <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rPr>
              <a:t>MBA</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3" cstate="print"/>
          <a:srcRect/>
          <a:stretch>
            <a:fillRect/>
          </a:stretch>
        </p:blipFill>
        <p:spPr bwMode="auto">
          <a:xfrm>
            <a:off x="7315200" y="2286000"/>
            <a:ext cx="1143000" cy="1143000"/>
          </a:xfrm>
          <a:prstGeom prst="rect">
            <a:avLst/>
          </a:prstGeom>
          <a:noFill/>
        </p:spPr>
      </p:pic>
      <p:sp>
        <p:nvSpPr>
          <p:cNvPr id="12" name="Subtitle 2"/>
          <p:cNvSpPr txBox="1">
            <a:spLocks/>
          </p:cNvSpPr>
          <p:nvPr/>
        </p:nvSpPr>
        <p:spPr>
          <a:xfrm>
            <a:off x="1143000" y="2667000"/>
            <a:ext cx="1543050" cy="40005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68580" tIns="34290" rIns="68580" bIns="34290" rtlCol="0">
            <a:normAutofit/>
          </a:bodyPr>
          <a:lstStyle/>
          <a:p>
            <a:pPr algn="ctr" eaLnBrk="1">
              <a:spcBef>
                <a:spcPts val="600"/>
              </a:spcBef>
            </a:pPr>
            <a:r>
              <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rPr>
              <a:t>Unit: </a:t>
            </a:r>
            <a:r>
              <a:rPr lang="en-US" altLang="en-US" sz="2000" b="1" dirty="0" smtClean="0">
                <a:latin typeface="Times New Roman" panose="02020603050405020304" pitchFamily="18" charset="0"/>
                <a:cs typeface="Times New Roman" panose="02020603050405020304" pitchFamily="18" charset="0"/>
                <a:sym typeface="Times New Roman" panose="02020603050405020304" pitchFamily="18" charset="0"/>
              </a:rPr>
              <a:t>1</a:t>
            </a:r>
            <a:endPar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3" name="Footer Placeholder 12"/>
          <p:cNvSpPr>
            <a:spLocks noGrp="1"/>
          </p:cNvSpPr>
          <p:nvPr>
            <p:ph type="ftr" sz="quarter" idx="11"/>
          </p:nvPr>
        </p:nvSpPr>
        <p:spPr>
          <a:xfrm>
            <a:off x="2286000" y="5867400"/>
            <a:ext cx="5040560" cy="273844"/>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14" name="Subtitle 2"/>
          <p:cNvSpPr txBox="1">
            <a:spLocks/>
          </p:cNvSpPr>
          <p:nvPr/>
        </p:nvSpPr>
        <p:spPr>
          <a:xfrm>
            <a:off x="256252" y="3669506"/>
            <a:ext cx="4849147" cy="62865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68580" tIns="34290" rIns="68580" bIns="34290" rtlCol="0">
            <a:normAutofit/>
          </a:bodyPr>
          <a:lstStyle/>
          <a:p>
            <a:pPr algn="ctr" eaLnBrk="1">
              <a:lnSpc>
                <a:spcPct val="150000"/>
              </a:lnSpc>
              <a:spcBef>
                <a:spcPts val="400"/>
              </a:spcBef>
            </a:pPr>
            <a:r>
              <a:rPr lang="en-US" altLang="en-US" sz="2000" b="1" dirty="0" smtClean="0">
                <a:latin typeface="Times New Roman" panose="02020603050405020304" pitchFamily="18" charset="0"/>
                <a:cs typeface="Times New Roman" panose="02020603050405020304" pitchFamily="18" charset="0"/>
                <a:sym typeface="Times New Roman" panose="02020603050405020304" pitchFamily="18" charset="0"/>
              </a:rPr>
              <a:t>Human Psychology &amp; OB(AOE0765)</a:t>
            </a:r>
            <a:endPar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5" name="Subtitle 2"/>
          <p:cNvSpPr txBox="1">
            <a:spLocks/>
          </p:cNvSpPr>
          <p:nvPr/>
        </p:nvSpPr>
        <p:spPr>
          <a:xfrm>
            <a:off x="256252" y="4538663"/>
            <a:ext cx="4849147" cy="62865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68580" tIns="34290" rIns="68580" bIns="34290" rtlCol="0">
            <a:normAutofit/>
          </a:bodyPr>
          <a:lstStyle/>
          <a:p>
            <a:pPr algn="ctr" eaLnBrk="1">
              <a:spcBef>
                <a:spcPts val="500"/>
              </a:spcBef>
            </a:pPr>
            <a:r>
              <a:rPr lang="en-US" altLang="en-US" sz="1600" b="1" dirty="0">
                <a:latin typeface="Times New Roman" panose="02020603050405020304" pitchFamily="18" charset="0"/>
                <a:cs typeface="Times New Roman" panose="02020603050405020304" pitchFamily="18" charset="0"/>
                <a:sym typeface="Times New Roman" panose="02020603050405020304" pitchFamily="18" charset="0"/>
              </a:rPr>
              <a:t>Course Details</a:t>
            </a:r>
            <a:br>
              <a:rPr lang="en-US" altLang="en-US" sz="1600" b="1"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1600" b="1" dirty="0">
                <a:latin typeface="Times New Roman" panose="02020603050405020304" pitchFamily="18" charset="0"/>
                <a:cs typeface="Times New Roman" panose="02020603050405020304" pitchFamily="18" charset="0"/>
                <a:sym typeface="Times New Roman" panose="02020603050405020304" pitchFamily="18" charset="0"/>
              </a:rPr>
              <a:t>(B Tech </a:t>
            </a:r>
            <a:r>
              <a:rPr lang="en-US" altLang="en-US" sz="1600" b="1" dirty="0" smtClean="0">
                <a:latin typeface="Times New Roman" panose="02020603050405020304" pitchFamily="18" charset="0"/>
                <a:cs typeface="Times New Roman" panose="02020603050405020304" pitchFamily="18" charset="0"/>
                <a:sym typeface="Times New Roman" panose="02020603050405020304" pitchFamily="18" charset="0"/>
              </a:rPr>
              <a:t>CYS, IOT &amp; DS 7</a:t>
            </a:r>
            <a:r>
              <a:rPr lang="en-US" altLang="en-US" sz="1600" b="1" baseline="30000" dirty="0" smtClean="0">
                <a:latin typeface="Times New Roman" panose="02020603050405020304" pitchFamily="18" charset="0"/>
                <a:cs typeface="Times New Roman" panose="02020603050405020304" pitchFamily="18" charset="0"/>
                <a:sym typeface="Times New Roman" panose="02020603050405020304" pitchFamily="18" charset="0"/>
              </a:rPr>
              <a:t>th</a:t>
            </a:r>
            <a:r>
              <a:rPr lang="en-US" altLang="en-US" sz="1600" b="1" dirty="0" smtClean="0">
                <a:latin typeface="Times New Roman" panose="02020603050405020304" pitchFamily="18" charset="0"/>
                <a:cs typeface="Times New Roman" panose="02020603050405020304" pitchFamily="18" charset="0"/>
                <a:sym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sym typeface="Times New Roman" panose="02020603050405020304" pitchFamily="18" charset="0"/>
              </a:rPr>
              <a:t>Sem )</a:t>
            </a:r>
          </a:p>
        </p:txBody>
      </p:sp>
      <p:pic>
        <p:nvPicPr>
          <p:cNvPr id="7" name="Picture 6" descr="A black and red logo&#10;&#10;Description automatically generated">
            <a:extLst>
              <a:ext uri="{FF2B5EF4-FFF2-40B4-BE49-F238E27FC236}">
                <a16:creationId xmlns:a16="http://schemas.microsoft.com/office/drawing/2014/main" xmlns="" id="{51AB1F46-F1A3-2DF2-5EE0-F05547C4DDF6}"/>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0" y="86046"/>
            <a:ext cx="1628775" cy="710451"/>
          </a:xfrm>
          <a:prstGeom prst="rect">
            <a:avLst/>
          </a:prstGeom>
        </p:spPr>
      </p:pic>
      <p:sp>
        <p:nvSpPr>
          <p:cNvPr id="16" name="Date Placeholder 15"/>
          <p:cNvSpPr>
            <a:spLocks noGrp="1"/>
          </p:cNvSpPr>
          <p:nvPr>
            <p:ph type="dt" sz="half" idx="10"/>
          </p:nvPr>
        </p:nvSpPr>
        <p:spPr/>
        <p:txBody>
          <a:bodyPr/>
          <a:lstStyle/>
          <a:p>
            <a:fld id="{4DD6AD1C-7048-4533-A93C-A1355830E299}" type="datetime1">
              <a:rPr lang="en-IN" smtClean="0"/>
              <a:pPr/>
              <a:t>24-07-2025</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12"/>
          <p:cNvSpPr>
            <a:spLocks noGrp="1"/>
          </p:cNvSpPr>
          <p:nvPr>
            <p:ph type="ftr" sz="quarter" idx="11"/>
          </p:nvPr>
        </p:nvSpPr>
        <p:spPr>
          <a:xfrm>
            <a:off x="2286000" y="6376243"/>
            <a:ext cx="50292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475657" y="0"/>
            <a:ext cx="7668343"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sz="2400" b="1" dirty="0" smtClean="0">
                <a:latin typeface="Times New Roman" pitchFamily="18" charset="0"/>
                <a:cs typeface="Times New Roman" pitchFamily="18" charset="0"/>
              </a:rPr>
              <a:t>Index/ Content</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9" name="Rectangle 8"/>
          <p:cNvSpPr/>
          <p:nvPr/>
        </p:nvSpPr>
        <p:spPr>
          <a:xfrm>
            <a:off x="4207156" y="3244334"/>
            <a:ext cx="184731" cy="369332"/>
          </a:xfrm>
          <a:prstGeom prst="rect">
            <a:avLst/>
          </a:prstGeom>
        </p:spPr>
        <p:txBody>
          <a:bodyPr wrap="none">
            <a:spAutoFit/>
          </a:bodyPr>
          <a:lstStyle/>
          <a:p>
            <a:endParaRPr lang="en-US" dirty="0"/>
          </a:p>
        </p:txBody>
      </p:sp>
      <p:graphicFrame>
        <p:nvGraphicFramePr>
          <p:cNvPr id="10" name="Table 9"/>
          <p:cNvGraphicFramePr>
            <a:graphicFrameLocks noGrp="1"/>
          </p:cNvGraphicFramePr>
          <p:nvPr/>
        </p:nvGraphicFramePr>
        <p:xfrm>
          <a:off x="228600" y="838200"/>
          <a:ext cx="8763000" cy="5191104"/>
        </p:xfrm>
        <a:graphic>
          <a:graphicData uri="http://schemas.openxmlformats.org/drawingml/2006/table">
            <a:tbl>
              <a:tblPr firstRow="1" bandRow="1">
                <a:tableStyleId>{5C22544A-7EE6-4342-B048-85BDC9FD1C3A}</a:tableStyleId>
              </a:tblPr>
              <a:tblGrid>
                <a:gridCol w="1622778">
                  <a:extLst>
                    <a:ext uri="{9D8B030D-6E8A-4147-A177-3AD203B41FA5}">
                      <a16:colId xmlns:a16="http://schemas.microsoft.com/office/drawing/2014/main" xmlns="" val="20000"/>
                    </a:ext>
                  </a:extLst>
                </a:gridCol>
                <a:gridCol w="7140222">
                  <a:extLst>
                    <a:ext uri="{9D8B030D-6E8A-4147-A177-3AD203B41FA5}">
                      <a16:colId xmlns:a16="http://schemas.microsoft.com/office/drawing/2014/main" xmlns="" val="20001"/>
                    </a:ext>
                  </a:extLst>
                </a:gridCol>
              </a:tblGrid>
              <a:tr h="394581">
                <a:tc>
                  <a:txBody>
                    <a:bodyPr/>
                    <a:lstStyle/>
                    <a:p>
                      <a:r>
                        <a:rPr lang="en-US" sz="2000" dirty="0"/>
                        <a:t>S. No.</a:t>
                      </a:r>
                    </a:p>
                  </a:txBody>
                  <a:tcPr>
                    <a:solidFill>
                      <a:srgbClr val="C00000"/>
                    </a:solidFill>
                  </a:tcPr>
                </a:tc>
                <a:tc>
                  <a:txBody>
                    <a:bodyPr/>
                    <a:lstStyle/>
                    <a:p>
                      <a:pPr algn="l"/>
                      <a:r>
                        <a:rPr lang="en-US" sz="2000" dirty="0"/>
                        <a:t>Index</a:t>
                      </a:r>
                    </a:p>
                  </a:txBody>
                  <a:tcPr>
                    <a:solidFill>
                      <a:srgbClr val="C00000"/>
                    </a:solidFill>
                  </a:tcPr>
                </a:tc>
                <a:extLst>
                  <a:ext uri="{0D108BD9-81ED-4DB2-BD59-A6C34878D82A}">
                    <a16:rowId xmlns:a16="http://schemas.microsoft.com/office/drawing/2014/main" xmlns="" val="10000"/>
                  </a:ext>
                </a:extLst>
              </a:tr>
              <a:tr h="769785">
                <a:tc>
                  <a:txBody>
                    <a:bodyPr/>
                    <a:lstStyle/>
                    <a:p>
                      <a:r>
                        <a:rPr lang="en-US" sz="2000" b="0" dirty="0">
                          <a:latin typeface="Times New Roman" pitchFamily="18" charset="0"/>
                          <a:cs typeface="Times New Roman" pitchFamily="18" charset="0"/>
                        </a:rPr>
                        <a:t>1.</a:t>
                      </a:r>
                    </a:p>
                  </a:txBody>
                  <a:tcPr>
                    <a:solidFill>
                      <a:srgbClr val="DF5556"/>
                    </a:solidFill>
                  </a:tcPr>
                </a:tc>
                <a:tc>
                  <a:txBody>
                    <a:bodyPr/>
                    <a:lstStyle/>
                    <a:p>
                      <a:pPr algn="l" fontAlgn="ctr"/>
                      <a:r>
                        <a:rPr lang="en-US" sz="2000" b="0" i="0" u="none" strike="noStrike" dirty="0">
                          <a:solidFill>
                            <a:srgbClr val="000000"/>
                          </a:solidFill>
                          <a:latin typeface="+mn-lt"/>
                        </a:rPr>
                        <a:t>Name of Subject with code, Course and Subject Teacher</a:t>
                      </a:r>
                    </a:p>
                  </a:txBody>
                  <a:tcPr marL="9525" marR="9525" marT="9525" marB="0" anchor="ctr">
                    <a:solidFill>
                      <a:srgbClr val="DF5556"/>
                    </a:solidFill>
                  </a:tcPr>
                </a:tc>
                <a:extLst>
                  <a:ext uri="{0D108BD9-81ED-4DB2-BD59-A6C34878D82A}">
                    <a16:rowId xmlns:a16="http://schemas.microsoft.com/office/drawing/2014/main" xmlns="" val="10001"/>
                  </a:ext>
                </a:extLst>
              </a:tr>
              <a:tr h="769785">
                <a:tc>
                  <a:txBody>
                    <a:bodyPr/>
                    <a:lstStyle/>
                    <a:p>
                      <a:r>
                        <a:rPr lang="en-US" sz="2000" b="0" dirty="0">
                          <a:latin typeface="Times New Roman" pitchFamily="18" charset="0"/>
                          <a:cs typeface="Times New Roman" pitchFamily="18" charset="0"/>
                        </a:rPr>
                        <a:t>2.</a:t>
                      </a:r>
                    </a:p>
                  </a:txBody>
                  <a:tcPr>
                    <a:solidFill>
                      <a:srgbClr val="FCB4B6"/>
                    </a:solidFill>
                  </a:tcPr>
                </a:tc>
                <a:tc>
                  <a:txBody>
                    <a:bodyPr/>
                    <a:lstStyle/>
                    <a:p>
                      <a:pPr algn="l" fontAlgn="ctr"/>
                      <a:r>
                        <a:rPr lang="en-US" sz="2000" b="0" i="0" u="none" strike="noStrike" dirty="0">
                          <a:solidFill>
                            <a:srgbClr val="000000"/>
                          </a:solidFill>
                          <a:latin typeface="+mn-lt"/>
                        </a:rPr>
                        <a:t>Brief Introduction of Faculty member with Photograph</a:t>
                      </a:r>
                    </a:p>
                  </a:txBody>
                  <a:tcPr marL="9525" marR="9525" marT="9525" marB="0" anchor="ctr">
                    <a:solidFill>
                      <a:srgbClr val="FCB4B6"/>
                    </a:solidFill>
                  </a:tcPr>
                </a:tc>
                <a:extLst>
                  <a:ext uri="{0D108BD9-81ED-4DB2-BD59-A6C34878D82A}">
                    <a16:rowId xmlns:a16="http://schemas.microsoft.com/office/drawing/2014/main" xmlns="" val="10002"/>
                  </a:ext>
                </a:extLst>
              </a:tr>
              <a:tr h="465042">
                <a:tc>
                  <a:txBody>
                    <a:bodyPr/>
                    <a:lstStyle/>
                    <a:p>
                      <a:r>
                        <a:rPr lang="en-US" sz="2000" b="0" dirty="0">
                          <a:latin typeface="Times New Roman" pitchFamily="18" charset="0"/>
                          <a:cs typeface="Times New Roman" pitchFamily="18" charset="0"/>
                        </a:rPr>
                        <a:t>3.</a:t>
                      </a:r>
                    </a:p>
                  </a:txBody>
                  <a:tcPr>
                    <a:solidFill>
                      <a:srgbClr val="DF5556"/>
                    </a:solidFill>
                  </a:tcPr>
                </a:tc>
                <a:tc>
                  <a:txBody>
                    <a:bodyPr/>
                    <a:lstStyle/>
                    <a:p>
                      <a:pPr algn="l" fontAlgn="ctr"/>
                      <a:r>
                        <a:rPr lang="en-US" sz="2000" b="0" i="0" u="none" strike="noStrike" dirty="0">
                          <a:solidFill>
                            <a:srgbClr val="000000"/>
                          </a:solidFill>
                          <a:latin typeface="+mn-lt"/>
                        </a:rPr>
                        <a:t>Evaluation Scheme</a:t>
                      </a:r>
                    </a:p>
                  </a:txBody>
                  <a:tcPr marL="9525" marR="9525" marT="9525" marB="0" anchor="ctr">
                    <a:solidFill>
                      <a:srgbClr val="DF5556"/>
                    </a:solidFill>
                  </a:tcPr>
                </a:tc>
                <a:extLst>
                  <a:ext uri="{0D108BD9-81ED-4DB2-BD59-A6C34878D82A}">
                    <a16:rowId xmlns:a16="http://schemas.microsoft.com/office/drawing/2014/main" xmlns="" val="10003"/>
                  </a:ext>
                </a:extLst>
              </a:tr>
              <a:tr h="465042">
                <a:tc>
                  <a:txBody>
                    <a:bodyPr/>
                    <a:lstStyle/>
                    <a:p>
                      <a:r>
                        <a:rPr lang="en-US" sz="2000" b="0" dirty="0">
                          <a:latin typeface="Times New Roman" pitchFamily="18" charset="0"/>
                          <a:cs typeface="Times New Roman" pitchFamily="18" charset="0"/>
                        </a:rPr>
                        <a:t>4.</a:t>
                      </a:r>
                    </a:p>
                  </a:txBody>
                  <a:tcPr>
                    <a:solidFill>
                      <a:srgbClr val="FCB4B6"/>
                    </a:solidFill>
                  </a:tcPr>
                </a:tc>
                <a:tc>
                  <a:txBody>
                    <a:bodyPr/>
                    <a:lstStyle/>
                    <a:p>
                      <a:r>
                        <a:rPr lang="en-US" sz="2000" b="0" dirty="0">
                          <a:latin typeface="+mn-lt"/>
                          <a:cs typeface="Times New Roman" pitchFamily="18" charset="0"/>
                        </a:rPr>
                        <a:t>Syllabus</a:t>
                      </a:r>
                    </a:p>
                  </a:txBody>
                  <a:tcPr>
                    <a:solidFill>
                      <a:srgbClr val="FCB4B6"/>
                    </a:solidFill>
                  </a:tcPr>
                </a:tc>
                <a:extLst>
                  <a:ext uri="{0D108BD9-81ED-4DB2-BD59-A6C34878D82A}">
                    <a16:rowId xmlns:a16="http://schemas.microsoft.com/office/drawing/2014/main" xmlns="" val="10004"/>
                  </a:ext>
                </a:extLst>
              </a:tr>
              <a:tr h="465042">
                <a:tc>
                  <a:txBody>
                    <a:bodyPr/>
                    <a:lstStyle/>
                    <a:p>
                      <a:r>
                        <a:rPr lang="en-US" sz="2000" b="0" dirty="0">
                          <a:latin typeface="Times New Roman" pitchFamily="18" charset="0"/>
                          <a:cs typeface="Times New Roman" pitchFamily="18" charset="0"/>
                        </a:rPr>
                        <a:t>5.</a:t>
                      </a:r>
                    </a:p>
                  </a:txBody>
                  <a:tcPr>
                    <a:solidFill>
                      <a:srgbClr val="DF5556"/>
                    </a:solidFill>
                  </a:tcPr>
                </a:tc>
                <a:tc>
                  <a:txBody>
                    <a:bodyPr/>
                    <a:lstStyle/>
                    <a:p>
                      <a:r>
                        <a:rPr lang="en-US" sz="2000" dirty="0">
                          <a:latin typeface="+mn-lt"/>
                        </a:rPr>
                        <a:t>Branch wise Application</a:t>
                      </a:r>
                    </a:p>
                  </a:txBody>
                  <a:tcPr>
                    <a:solidFill>
                      <a:srgbClr val="DF5556"/>
                    </a:solidFill>
                  </a:tcPr>
                </a:tc>
                <a:extLst>
                  <a:ext uri="{0D108BD9-81ED-4DB2-BD59-A6C34878D82A}">
                    <a16:rowId xmlns:a16="http://schemas.microsoft.com/office/drawing/2014/main" xmlns="" val="10005"/>
                  </a:ext>
                </a:extLst>
              </a:tr>
              <a:tr h="465042">
                <a:tc>
                  <a:txBody>
                    <a:bodyPr/>
                    <a:lstStyle/>
                    <a:p>
                      <a:r>
                        <a:rPr lang="en-US" sz="2000" b="0" dirty="0">
                          <a:latin typeface="Times New Roman" pitchFamily="18" charset="0"/>
                          <a:cs typeface="Times New Roman" pitchFamily="18" charset="0"/>
                        </a:rPr>
                        <a:t>6.</a:t>
                      </a:r>
                    </a:p>
                  </a:txBody>
                  <a:tcPr>
                    <a:solidFill>
                      <a:srgbClr val="FCB4B6"/>
                    </a:solidFill>
                  </a:tcPr>
                </a:tc>
                <a:tc>
                  <a:txBody>
                    <a:bodyPr/>
                    <a:lstStyle/>
                    <a:p>
                      <a:r>
                        <a:rPr lang="en-US" sz="2000" b="0" dirty="0">
                          <a:latin typeface="+mn-lt"/>
                          <a:cs typeface="Times New Roman" pitchFamily="18" charset="0"/>
                        </a:rPr>
                        <a:t>Course Objective(s)</a:t>
                      </a:r>
                    </a:p>
                  </a:txBody>
                  <a:tcPr>
                    <a:solidFill>
                      <a:srgbClr val="FCB4B6"/>
                    </a:solidFill>
                  </a:tcPr>
                </a:tc>
                <a:extLst>
                  <a:ext uri="{0D108BD9-81ED-4DB2-BD59-A6C34878D82A}">
                    <a16:rowId xmlns:a16="http://schemas.microsoft.com/office/drawing/2014/main" xmlns="" val="10006"/>
                  </a:ext>
                </a:extLst>
              </a:tr>
              <a:tr h="465042">
                <a:tc>
                  <a:txBody>
                    <a:bodyPr/>
                    <a:lstStyle/>
                    <a:p>
                      <a:r>
                        <a:rPr lang="en-US" sz="2000" b="0" dirty="0">
                          <a:latin typeface="Times New Roman" pitchFamily="18" charset="0"/>
                          <a:cs typeface="Times New Roman" pitchFamily="18" charset="0"/>
                        </a:rPr>
                        <a:t>7.</a:t>
                      </a:r>
                    </a:p>
                  </a:txBody>
                  <a:tcPr>
                    <a:solidFill>
                      <a:srgbClr val="DF5556"/>
                    </a:solidFill>
                  </a:tcPr>
                </a:tc>
                <a:tc>
                  <a:txBody>
                    <a:bodyPr/>
                    <a:lstStyle/>
                    <a:p>
                      <a:r>
                        <a:rPr lang="en-US" sz="2000" b="0" dirty="0">
                          <a:latin typeface="+mn-lt"/>
                          <a:cs typeface="Times New Roman" pitchFamily="18" charset="0"/>
                        </a:rPr>
                        <a:t>Course Outcome(s)</a:t>
                      </a:r>
                    </a:p>
                  </a:txBody>
                  <a:tcPr>
                    <a:solidFill>
                      <a:srgbClr val="DF5556"/>
                    </a:solidFill>
                  </a:tcPr>
                </a:tc>
                <a:extLst>
                  <a:ext uri="{0D108BD9-81ED-4DB2-BD59-A6C34878D82A}">
                    <a16:rowId xmlns:a16="http://schemas.microsoft.com/office/drawing/2014/main" xmlns="" val="10007"/>
                  </a:ext>
                </a:extLst>
              </a:tr>
              <a:tr h="465042">
                <a:tc>
                  <a:txBody>
                    <a:bodyPr/>
                    <a:lstStyle/>
                    <a:p>
                      <a:r>
                        <a:rPr lang="en-US" sz="2000" b="0" dirty="0">
                          <a:latin typeface="Times New Roman" pitchFamily="18" charset="0"/>
                          <a:cs typeface="Times New Roman" pitchFamily="18" charset="0"/>
                        </a:rPr>
                        <a:t>8.</a:t>
                      </a:r>
                    </a:p>
                  </a:txBody>
                  <a:tcPr>
                    <a:solidFill>
                      <a:srgbClr val="FCB4B6"/>
                    </a:solidFill>
                  </a:tcPr>
                </a:tc>
                <a:tc>
                  <a:txBody>
                    <a:bodyPr/>
                    <a:lstStyle/>
                    <a:p>
                      <a:r>
                        <a:rPr lang="en-US" sz="2000" b="0" dirty="0">
                          <a:latin typeface="+mn-lt"/>
                          <a:cs typeface="Times New Roman" pitchFamily="18" charset="0"/>
                        </a:rPr>
                        <a:t>Program Outcomes (POs)</a:t>
                      </a:r>
                    </a:p>
                  </a:txBody>
                  <a:tcPr>
                    <a:solidFill>
                      <a:srgbClr val="FCB4B6"/>
                    </a:solidFill>
                  </a:tcPr>
                </a:tc>
                <a:extLst>
                  <a:ext uri="{0D108BD9-81ED-4DB2-BD59-A6C34878D82A}">
                    <a16:rowId xmlns:a16="http://schemas.microsoft.com/office/drawing/2014/main" xmlns="" val="10008"/>
                  </a:ext>
                </a:extLst>
              </a:tr>
              <a:tr h="465042">
                <a:tc>
                  <a:txBody>
                    <a:bodyPr/>
                    <a:lstStyle/>
                    <a:p>
                      <a:r>
                        <a:rPr lang="en-US" sz="2000" b="0" dirty="0">
                          <a:latin typeface="Times New Roman" pitchFamily="18" charset="0"/>
                          <a:cs typeface="Times New Roman" pitchFamily="18" charset="0"/>
                        </a:rPr>
                        <a:t>9.</a:t>
                      </a:r>
                    </a:p>
                  </a:txBody>
                  <a:tcPr>
                    <a:solidFill>
                      <a:srgbClr val="DF5556"/>
                    </a:solidFill>
                  </a:tcPr>
                </a:tc>
                <a:tc>
                  <a:txBody>
                    <a:bodyPr/>
                    <a:lstStyle/>
                    <a:p>
                      <a:r>
                        <a:rPr lang="en-US" sz="2000" dirty="0">
                          <a:latin typeface="+mn-lt"/>
                        </a:rPr>
                        <a:t>COs and POs Mapping</a:t>
                      </a:r>
                    </a:p>
                  </a:txBody>
                  <a:tcPr>
                    <a:solidFill>
                      <a:srgbClr val="DF5556"/>
                    </a:solidFill>
                  </a:tcPr>
                </a:tc>
                <a:extLst>
                  <a:ext uri="{0D108BD9-81ED-4DB2-BD59-A6C34878D82A}">
                    <a16:rowId xmlns:a16="http://schemas.microsoft.com/office/drawing/2014/main" xmlns=""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12"/>
          <p:cNvSpPr>
            <a:spLocks noGrp="1"/>
          </p:cNvSpPr>
          <p:nvPr>
            <p:ph type="ftr" sz="quarter" idx="11"/>
          </p:nvPr>
        </p:nvSpPr>
        <p:spPr>
          <a:xfrm>
            <a:off x="2286000" y="6376243"/>
            <a:ext cx="50292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sz="2400" b="1" dirty="0" smtClean="0">
                <a:latin typeface="Times New Roman" pitchFamily="18" charset="0"/>
                <a:cs typeface="Times New Roman" pitchFamily="18" charset="0"/>
              </a:rPr>
              <a:t>Index/ Content</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9" name="Rectangle 8"/>
          <p:cNvSpPr/>
          <p:nvPr/>
        </p:nvSpPr>
        <p:spPr>
          <a:xfrm>
            <a:off x="4207156" y="3244334"/>
            <a:ext cx="184731" cy="369332"/>
          </a:xfrm>
          <a:prstGeom prst="rect">
            <a:avLst/>
          </a:prstGeom>
        </p:spPr>
        <p:txBody>
          <a:bodyPr wrap="none">
            <a:spAutoFit/>
          </a:bodyPr>
          <a:lstStyle/>
          <a:p>
            <a:endParaRPr lang="en-US" dirty="0"/>
          </a:p>
        </p:txBody>
      </p:sp>
      <p:graphicFrame>
        <p:nvGraphicFramePr>
          <p:cNvPr id="10" name="Table 9"/>
          <p:cNvGraphicFramePr>
            <a:graphicFrameLocks noGrp="1"/>
          </p:cNvGraphicFramePr>
          <p:nvPr/>
        </p:nvGraphicFramePr>
        <p:xfrm>
          <a:off x="228600" y="838200"/>
          <a:ext cx="8763000" cy="5529104"/>
        </p:xfrm>
        <a:graphic>
          <a:graphicData uri="http://schemas.openxmlformats.org/drawingml/2006/table">
            <a:tbl>
              <a:tblPr firstRow="1" bandRow="1">
                <a:tableStyleId>{5C22544A-7EE6-4342-B048-85BDC9FD1C3A}</a:tableStyleId>
              </a:tblPr>
              <a:tblGrid>
                <a:gridCol w="1622778">
                  <a:extLst>
                    <a:ext uri="{9D8B030D-6E8A-4147-A177-3AD203B41FA5}">
                      <a16:colId xmlns:a16="http://schemas.microsoft.com/office/drawing/2014/main" xmlns="" val="20000"/>
                    </a:ext>
                  </a:extLst>
                </a:gridCol>
                <a:gridCol w="7140222">
                  <a:extLst>
                    <a:ext uri="{9D8B030D-6E8A-4147-A177-3AD203B41FA5}">
                      <a16:colId xmlns:a16="http://schemas.microsoft.com/office/drawing/2014/main" xmlns="" val="20001"/>
                    </a:ext>
                  </a:extLst>
                </a:gridCol>
              </a:tblGrid>
              <a:tr h="434686">
                <a:tc>
                  <a:txBody>
                    <a:bodyPr/>
                    <a:lstStyle/>
                    <a:p>
                      <a:r>
                        <a:rPr lang="en-US" sz="2000" dirty="0"/>
                        <a:t>S. No.</a:t>
                      </a:r>
                    </a:p>
                  </a:txBody>
                  <a:tcPr>
                    <a:solidFill>
                      <a:srgbClr val="C00000"/>
                    </a:solidFill>
                  </a:tcPr>
                </a:tc>
                <a:tc>
                  <a:txBody>
                    <a:bodyPr/>
                    <a:lstStyle/>
                    <a:p>
                      <a:pPr algn="l"/>
                      <a:r>
                        <a:rPr lang="en-US" sz="2000" dirty="0"/>
                        <a:t>Index</a:t>
                      </a:r>
                    </a:p>
                  </a:txBody>
                  <a:tcPr>
                    <a:solidFill>
                      <a:srgbClr val="C00000"/>
                    </a:solidFill>
                  </a:tcPr>
                </a:tc>
                <a:extLst>
                  <a:ext uri="{0D108BD9-81ED-4DB2-BD59-A6C34878D82A}">
                    <a16:rowId xmlns:a16="http://schemas.microsoft.com/office/drawing/2014/main" xmlns="" val="10000"/>
                  </a:ext>
                </a:extLst>
              </a:tr>
              <a:tr h="555914">
                <a:tc>
                  <a:txBody>
                    <a:bodyPr/>
                    <a:lstStyle/>
                    <a:p>
                      <a:r>
                        <a:rPr lang="en-US" sz="2000" b="0" dirty="0">
                          <a:latin typeface="+mn-lt"/>
                          <a:cs typeface="Times New Roman" pitchFamily="18" charset="0"/>
                        </a:rPr>
                        <a:t>10.</a:t>
                      </a:r>
                    </a:p>
                  </a:txBody>
                  <a:tcPr>
                    <a:solidFill>
                      <a:srgbClr val="DF5556"/>
                    </a:solidFill>
                  </a:tcPr>
                </a:tc>
                <a:tc>
                  <a:txBody>
                    <a:bodyPr/>
                    <a:lstStyle/>
                    <a:p>
                      <a:r>
                        <a:rPr lang="en-US" sz="2000" b="0" dirty="0">
                          <a:latin typeface="+mn-lt"/>
                          <a:cs typeface="Times New Roman" pitchFamily="18" charset="0"/>
                        </a:rPr>
                        <a:t>Program Specific  Outcomes (PSOs)</a:t>
                      </a:r>
                    </a:p>
                  </a:txBody>
                  <a:tcPr>
                    <a:solidFill>
                      <a:srgbClr val="DF5556"/>
                    </a:solidFill>
                  </a:tcPr>
                </a:tc>
                <a:extLst>
                  <a:ext uri="{0D108BD9-81ED-4DB2-BD59-A6C34878D82A}">
                    <a16:rowId xmlns:a16="http://schemas.microsoft.com/office/drawing/2014/main" xmlns="" val="10001"/>
                  </a:ext>
                </a:extLst>
              </a:tr>
              <a:tr h="457200">
                <a:tc>
                  <a:txBody>
                    <a:bodyPr/>
                    <a:lstStyle/>
                    <a:p>
                      <a:r>
                        <a:rPr lang="en-US" sz="2000" b="0" dirty="0">
                          <a:latin typeface="+mn-lt"/>
                          <a:cs typeface="Times New Roman" pitchFamily="18" charset="0"/>
                        </a:rPr>
                        <a:t>11.</a:t>
                      </a:r>
                    </a:p>
                  </a:txBody>
                  <a:tcPr>
                    <a:solidFill>
                      <a:srgbClr val="FCB4B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dk1"/>
                          </a:solidFill>
                          <a:effectLst/>
                          <a:uLnTx/>
                          <a:uFillTx/>
                          <a:latin typeface="+mn-lt"/>
                          <a:cs typeface="Times New Roman" pitchFamily="18" charset="0"/>
                        </a:rPr>
                        <a:t>Cos and PSOs Mapping</a:t>
                      </a:r>
                    </a:p>
                  </a:txBody>
                  <a:tcPr>
                    <a:solidFill>
                      <a:srgbClr val="FCB4B6"/>
                    </a:solidFill>
                  </a:tcPr>
                </a:tc>
                <a:extLst>
                  <a:ext uri="{0D108BD9-81ED-4DB2-BD59-A6C34878D82A}">
                    <a16:rowId xmlns:a16="http://schemas.microsoft.com/office/drawing/2014/main" xmlns="" val="10002"/>
                  </a:ext>
                </a:extLst>
              </a:tr>
              <a:tr h="510163">
                <a:tc>
                  <a:txBody>
                    <a:bodyPr/>
                    <a:lstStyle/>
                    <a:p>
                      <a:r>
                        <a:rPr lang="en-US" sz="2000" b="0" dirty="0">
                          <a:latin typeface="+mn-lt"/>
                          <a:cs typeface="Times New Roman" pitchFamily="18" charset="0"/>
                        </a:rPr>
                        <a:t>12.</a:t>
                      </a:r>
                    </a:p>
                  </a:txBody>
                  <a:tcPr>
                    <a:solidFill>
                      <a:srgbClr val="DF5556"/>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mn-lt"/>
                          <a:cs typeface="Times New Roman" pitchFamily="18" charset="0"/>
                        </a:rPr>
                        <a:t>Program Educational Objectives (PEOs)</a:t>
                      </a:r>
                    </a:p>
                  </a:txBody>
                  <a:tcPr>
                    <a:solidFill>
                      <a:srgbClr val="DF5556"/>
                    </a:solidFill>
                  </a:tcPr>
                </a:tc>
                <a:extLst>
                  <a:ext uri="{0D108BD9-81ED-4DB2-BD59-A6C34878D82A}">
                    <a16:rowId xmlns:a16="http://schemas.microsoft.com/office/drawing/2014/main" xmlns="" val="10003"/>
                  </a:ext>
                </a:extLst>
              </a:tr>
              <a:tr h="510163">
                <a:tc>
                  <a:txBody>
                    <a:bodyPr/>
                    <a:lstStyle/>
                    <a:p>
                      <a:r>
                        <a:rPr lang="en-US" sz="2000" b="0" dirty="0">
                          <a:latin typeface="+mn-lt"/>
                          <a:cs typeface="Times New Roman" pitchFamily="18" charset="0"/>
                        </a:rPr>
                        <a:t>13.</a:t>
                      </a:r>
                    </a:p>
                  </a:txBody>
                  <a:tcPr>
                    <a:solidFill>
                      <a:srgbClr val="FCB4B6"/>
                    </a:solidFill>
                  </a:tcPr>
                </a:tc>
                <a:tc>
                  <a:txBody>
                    <a:bodyPr/>
                    <a:lstStyle/>
                    <a:p>
                      <a:r>
                        <a:rPr lang="en-US" sz="2000" b="0" dirty="0">
                          <a:latin typeface="+mn-lt"/>
                          <a:cs typeface="Times New Roman" pitchFamily="18" charset="0"/>
                        </a:rPr>
                        <a:t>Result Analysis</a:t>
                      </a:r>
                    </a:p>
                  </a:txBody>
                  <a:tcPr>
                    <a:solidFill>
                      <a:srgbClr val="FCB4B6"/>
                    </a:solidFill>
                  </a:tcPr>
                </a:tc>
                <a:extLst>
                  <a:ext uri="{0D108BD9-81ED-4DB2-BD59-A6C34878D82A}">
                    <a16:rowId xmlns:a16="http://schemas.microsoft.com/office/drawing/2014/main" xmlns="" val="10004"/>
                  </a:ext>
                </a:extLst>
              </a:tr>
              <a:tr h="510163">
                <a:tc>
                  <a:txBody>
                    <a:bodyPr/>
                    <a:lstStyle/>
                    <a:p>
                      <a:r>
                        <a:rPr lang="en-US" sz="2000" b="0" dirty="0">
                          <a:latin typeface="+mn-lt"/>
                          <a:cs typeface="Times New Roman" pitchFamily="18" charset="0"/>
                        </a:rPr>
                        <a:t>14.</a:t>
                      </a:r>
                    </a:p>
                  </a:txBody>
                  <a:tcPr>
                    <a:solidFill>
                      <a:srgbClr val="DF5556"/>
                    </a:solidFill>
                  </a:tcPr>
                </a:tc>
                <a:tc>
                  <a:txBody>
                    <a:bodyPr/>
                    <a:lstStyle/>
                    <a:p>
                      <a:r>
                        <a:rPr lang="en-US" sz="2000" b="0" dirty="0">
                          <a:latin typeface="+mn-lt"/>
                          <a:cs typeface="Times New Roman" pitchFamily="18" charset="0"/>
                        </a:rPr>
                        <a:t>End Semester Question paper Templates</a:t>
                      </a:r>
                    </a:p>
                  </a:txBody>
                  <a:tcPr>
                    <a:solidFill>
                      <a:srgbClr val="DF5556"/>
                    </a:solidFill>
                  </a:tcPr>
                </a:tc>
                <a:extLst>
                  <a:ext uri="{0D108BD9-81ED-4DB2-BD59-A6C34878D82A}">
                    <a16:rowId xmlns:a16="http://schemas.microsoft.com/office/drawing/2014/main" xmlns="" val="10005"/>
                  </a:ext>
                </a:extLst>
              </a:tr>
              <a:tr h="510163">
                <a:tc>
                  <a:txBody>
                    <a:bodyPr/>
                    <a:lstStyle/>
                    <a:p>
                      <a:r>
                        <a:rPr lang="en-US" sz="2000" b="0" dirty="0">
                          <a:latin typeface="+mn-lt"/>
                          <a:cs typeface="Times New Roman" pitchFamily="18" charset="0"/>
                        </a:rPr>
                        <a:t>15.</a:t>
                      </a:r>
                    </a:p>
                  </a:txBody>
                  <a:tcPr>
                    <a:solidFill>
                      <a:srgbClr val="FCB4B6"/>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mn-lt"/>
                          <a:cs typeface="Times New Roman" pitchFamily="18" charset="0"/>
                        </a:rPr>
                        <a:t>Prequisite/Recap</a:t>
                      </a:r>
                    </a:p>
                  </a:txBody>
                  <a:tcPr>
                    <a:solidFill>
                      <a:srgbClr val="FCB4B6"/>
                    </a:solidFill>
                  </a:tcPr>
                </a:tc>
                <a:extLst>
                  <a:ext uri="{0D108BD9-81ED-4DB2-BD59-A6C34878D82A}">
                    <a16:rowId xmlns:a16="http://schemas.microsoft.com/office/drawing/2014/main" xmlns="" val="10006"/>
                  </a:ext>
                </a:extLst>
              </a:tr>
              <a:tr h="510163">
                <a:tc>
                  <a:txBody>
                    <a:bodyPr/>
                    <a:lstStyle/>
                    <a:p>
                      <a:r>
                        <a:rPr lang="en-US" sz="2000" b="0" dirty="0">
                          <a:latin typeface="+mn-lt"/>
                          <a:cs typeface="Times New Roman" pitchFamily="18" charset="0"/>
                        </a:rPr>
                        <a:t>16.</a:t>
                      </a:r>
                    </a:p>
                  </a:txBody>
                  <a:tcPr>
                    <a:solidFill>
                      <a:srgbClr val="DF5556"/>
                    </a:solidFill>
                  </a:tcPr>
                </a:tc>
                <a:tc>
                  <a:txBody>
                    <a:bodyPr/>
                    <a:lstStyle/>
                    <a:p>
                      <a:r>
                        <a:rPr lang="en-US" sz="2000" b="0" dirty="0">
                          <a:latin typeface="+mn-lt"/>
                          <a:cs typeface="Times New Roman" pitchFamily="18" charset="0"/>
                        </a:rPr>
                        <a:t>Brief Indtroduction about the Subject with Videos</a:t>
                      </a:r>
                    </a:p>
                  </a:txBody>
                  <a:tcPr>
                    <a:solidFill>
                      <a:srgbClr val="DF5556"/>
                    </a:solidFill>
                  </a:tcPr>
                </a:tc>
                <a:extLst>
                  <a:ext uri="{0D108BD9-81ED-4DB2-BD59-A6C34878D82A}">
                    <a16:rowId xmlns:a16="http://schemas.microsoft.com/office/drawing/2014/main" xmlns="" val="10007"/>
                  </a:ext>
                </a:extLst>
              </a:tr>
              <a:tr h="510163">
                <a:tc>
                  <a:txBody>
                    <a:bodyPr/>
                    <a:lstStyle/>
                    <a:p>
                      <a:r>
                        <a:rPr lang="en-US" sz="2000" b="0" dirty="0">
                          <a:latin typeface="+mn-lt"/>
                          <a:cs typeface="Times New Roman" pitchFamily="18" charset="0"/>
                        </a:rPr>
                        <a:t>17.</a:t>
                      </a:r>
                    </a:p>
                  </a:txBody>
                  <a:tcPr>
                    <a:solidFill>
                      <a:srgbClr val="FCB4B6"/>
                    </a:solidFill>
                  </a:tcPr>
                </a:tc>
                <a:tc>
                  <a:txBody>
                    <a:bodyPr/>
                    <a:lstStyle/>
                    <a:p>
                      <a:r>
                        <a:rPr lang="en-US" sz="2000" b="0" dirty="0">
                          <a:latin typeface="+mn-lt"/>
                          <a:cs typeface="Times New Roman" pitchFamily="18" charset="0"/>
                        </a:rPr>
                        <a:t>Unit </a:t>
                      </a:r>
                      <a:r>
                        <a:rPr lang="en-US" sz="2000" b="0" dirty="0" smtClean="0">
                          <a:latin typeface="+mn-lt"/>
                          <a:cs typeface="Times New Roman" pitchFamily="18" charset="0"/>
                        </a:rPr>
                        <a:t>Contents</a:t>
                      </a:r>
                      <a:endParaRPr lang="en-US" sz="2000" b="0" dirty="0">
                        <a:latin typeface="+mn-lt"/>
                        <a:cs typeface="Times New Roman" pitchFamily="18" charset="0"/>
                      </a:endParaRPr>
                    </a:p>
                  </a:txBody>
                  <a:tcPr>
                    <a:solidFill>
                      <a:srgbClr val="FCB4B6"/>
                    </a:solidFill>
                  </a:tcPr>
                </a:tc>
                <a:extLst>
                  <a:ext uri="{0D108BD9-81ED-4DB2-BD59-A6C34878D82A}">
                    <a16:rowId xmlns:a16="http://schemas.microsoft.com/office/drawing/2014/main" xmlns="" val="10008"/>
                  </a:ext>
                </a:extLst>
              </a:tr>
              <a:tr h="510163">
                <a:tc>
                  <a:txBody>
                    <a:bodyPr/>
                    <a:lstStyle/>
                    <a:p>
                      <a:r>
                        <a:rPr lang="en-US" sz="2000" b="0" dirty="0">
                          <a:latin typeface="+mn-lt"/>
                          <a:cs typeface="Times New Roman" pitchFamily="18" charset="0"/>
                        </a:rPr>
                        <a:t>18.</a:t>
                      </a:r>
                    </a:p>
                  </a:txBody>
                  <a:tcPr>
                    <a:solidFill>
                      <a:srgbClr val="DF5556"/>
                    </a:solidFill>
                  </a:tcPr>
                </a:tc>
                <a:tc>
                  <a:txBody>
                    <a:bodyPr/>
                    <a:lstStyle/>
                    <a:p>
                      <a:r>
                        <a:rPr lang="en-US" sz="2000" b="0" dirty="0">
                          <a:latin typeface="+mn-lt"/>
                          <a:cs typeface="Times New Roman" pitchFamily="18" charset="0"/>
                        </a:rPr>
                        <a:t>Unit</a:t>
                      </a:r>
                      <a:r>
                        <a:rPr lang="en-US" sz="2000" b="0" baseline="0" dirty="0">
                          <a:latin typeface="+mn-lt"/>
                          <a:cs typeface="Times New Roman" pitchFamily="18" charset="0"/>
                        </a:rPr>
                        <a:t> Objectives</a:t>
                      </a:r>
                      <a:endParaRPr lang="en-US" sz="2000" b="0" dirty="0">
                        <a:latin typeface="+mn-lt"/>
                        <a:cs typeface="Times New Roman" pitchFamily="18" charset="0"/>
                      </a:endParaRPr>
                    </a:p>
                  </a:txBody>
                  <a:tcPr>
                    <a:solidFill>
                      <a:srgbClr val="DF5556"/>
                    </a:solidFill>
                  </a:tcPr>
                </a:tc>
                <a:extLst>
                  <a:ext uri="{0D108BD9-81ED-4DB2-BD59-A6C34878D82A}">
                    <a16:rowId xmlns:a16="http://schemas.microsoft.com/office/drawing/2014/main" xmlns="" val="10009"/>
                  </a:ext>
                </a:extLst>
              </a:tr>
              <a:tr h="510163">
                <a:tc>
                  <a:txBody>
                    <a:bodyPr/>
                    <a:lstStyle/>
                    <a:p>
                      <a:r>
                        <a:rPr lang="en-US" sz="2000" b="0" dirty="0" smtClean="0">
                          <a:latin typeface="+mn-lt"/>
                          <a:cs typeface="Times New Roman" pitchFamily="18" charset="0"/>
                        </a:rPr>
                        <a:t>19.</a:t>
                      </a:r>
                      <a:endParaRPr lang="en-US" sz="2000" b="0" dirty="0">
                        <a:latin typeface="+mn-lt"/>
                        <a:cs typeface="Times New Roman" pitchFamily="18" charset="0"/>
                      </a:endParaRPr>
                    </a:p>
                  </a:txBody>
                  <a:tcPr>
                    <a:solidFill>
                      <a:srgbClr val="FCB4B6"/>
                    </a:solidFill>
                  </a:tcPr>
                </a:tc>
                <a:tc>
                  <a:txBody>
                    <a:bodyPr/>
                    <a:lstStyle/>
                    <a:p>
                      <a:r>
                        <a:rPr lang="en-US" sz="2000" b="0" dirty="0" smtClean="0">
                          <a:latin typeface="+mn-lt"/>
                          <a:cs typeface="Times New Roman" pitchFamily="18" charset="0"/>
                        </a:rPr>
                        <a:t>Topic Objectives/ Topic Outcome</a:t>
                      </a:r>
                      <a:endParaRPr lang="en-US" sz="2000" b="0" dirty="0">
                        <a:latin typeface="+mn-lt"/>
                        <a:cs typeface="Times New Roman" pitchFamily="18" charset="0"/>
                      </a:endParaRPr>
                    </a:p>
                  </a:txBody>
                  <a:tcPr>
                    <a:solidFill>
                      <a:srgbClr val="FCB4B6"/>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12"/>
          <p:cNvSpPr>
            <a:spLocks noGrp="1"/>
          </p:cNvSpPr>
          <p:nvPr>
            <p:ph type="ftr" sz="quarter" idx="11"/>
          </p:nvPr>
        </p:nvSpPr>
        <p:spPr>
          <a:xfrm>
            <a:off x="2286000" y="6376243"/>
            <a:ext cx="50292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475656" y="4022"/>
            <a:ext cx="7668343"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sz="2400" b="1" dirty="0" smtClean="0">
                <a:latin typeface="Times New Roman" pitchFamily="18" charset="0"/>
                <a:cs typeface="Times New Roman" pitchFamily="18" charset="0"/>
              </a:rPr>
              <a:t>Index/ Content </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9" name="Rectangle 8"/>
          <p:cNvSpPr/>
          <p:nvPr/>
        </p:nvSpPr>
        <p:spPr>
          <a:xfrm>
            <a:off x="4207156" y="3244334"/>
            <a:ext cx="184731" cy="369332"/>
          </a:xfrm>
          <a:prstGeom prst="rect">
            <a:avLst/>
          </a:prstGeom>
        </p:spPr>
        <p:txBody>
          <a:bodyPr wrap="none">
            <a:spAutoFit/>
          </a:bodyPr>
          <a:lstStyle/>
          <a:p>
            <a:endParaRPr lang="en-US" dirty="0"/>
          </a:p>
        </p:txBody>
      </p:sp>
      <p:graphicFrame>
        <p:nvGraphicFramePr>
          <p:cNvPr id="10" name="Table 9"/>
          <p:cNvGraphicFramePr>
            <a:graphicFrameLocks noGrp="1"/>
          </p:cNvGraphicFramePr>
          <p:nvPr/>
        </p:nvGraphicFramePr>
        <p:xfrm>
          <a:off x="228600" y="838200"/>
          <a:ext cx="8763000" cy="5018941"/>
        </p:xfrm>
        <a:graphic>
          <a:graphicData uri="http://schemas.openxmlformats.org/drawingml/2006/table">
            <a:tbl>
              <a:tblPr firstRow="1" bandRow="1">
                <a:tableStyleId>{5C22544A-7EE6-4342-B048-85BDC9FD1C3A}</a:tableStyleId>
              </a:tblPr>
              <a:tblGrid>
                <a:gridCol w="1622778">
                  <a:extLst>
                    <a:ext uri="{9D8B030D-6E8A-4147-A177-3AD203B41FA5}">
                      <a16:colId xmlns:a16="http://schemas.microsoft.com/office/drawing/2014/main" xmlns="" val="20000"/>
                    </a:ext>
                  </a:extLst>
                </a:gridCol>
                <a:gridCol w="7140222">
                  <a:extLst>
                    <a:ext uri="{9D8B030D-6E8A-4147-A177-3AD203B41FA5}">
                      <a16:colId xmlns:a16="http://schemas.microsoft.com/office/drawing/2014/main" xmlns="" val="20001"/>
                    </a:ext>
                  </a:extLst>
                </a:gridCol>
              </a:tblGrid>
              <a:tr h="434686">
                <a:tc>
                  <a:txBody>
                    <a:bodyPr/>
                    <a:lstStyle/>
                    <a:p>
                      <a:r>
                        <a:rPr lang="en-US" sz="2000" dirty="0"/>
                        <a:t>S. No.</a:t>
                      </a:r>
                    </a:p>
                  </a:txBody>
                  <a:tcPr>
                    <a:solidFill>
                      <a:srgbClr val="C00000"/>
                    </a:solidFill>
                  </a:tcPr>
                </a:tc>
                <a:tc>
                  <a:txBody>
                    <a:bodyPr/>
                    <a:lstStyle/>
                    <a:p>
                      <a:pPr algn="l"/>
                      <a:r>
                        <a:rPr lang="en-US" sz="2000" dirty="0"/>
                        <a:t>Index</a:t>
                      </a:r>
                    </a:p>
                  </a:txBody>
                  <a:tcPr>
                    <a:solidFill>
                      <a:srgbClr val="C00000"/>
                    </a:solidFill>
                  </a:tcPr>
                </a:tc>
                <a:extLst>
                  <a:ext uri="{0D108BD9-81ED-4DB2-BD59-A6C34878D82A}">
                    <a16:rowId xmlns:a16="http://schemas.microsoft.com/office/drawing/2014/main" xmlns="" val="10000"/>
                  </a:ext>
                </a:extLst>
              </a:tr>
              <a:tr h="555914">
                <a:tc>
                  <a:txBody>
                    <a:bodyPr/>
                    <a:lstStyle/>
                    <a:p>
                      <a:r>
                        <a:rPr lang="en-US" sz="2000" b="0" dirty="0">
                          <a:latin typeface="+mn-lt"/>
                          <a:cs typeface="Times New Roman" pitchFamily="18" charset="0"/>
                        </a:rPr>
                        <a:t>20.</a:t>
                      </a:r>
                    </a:p>
                  </a:txBody>
                  <a:tcPr>
                    <a:solidFill>
                      <a:srgbClr val="DF5556"/>
                    </a:solidFill>
                  </a:tcPr>
                </a:tc>
                <a:tc>
                  <a:txBody>
                    <a:bodyPr/>
                    <a:lstStyle/>
                    <a:p>
                      <a:r>
                        <a:rPr lang="en-US" sz="2000" b="0" dirty="0">
                          <a:latin typeface="+mn-lt"/>
                          <a:cs typeface="Times New Roman" pitchFamily="18" charset="0"/>
                        </a:rPr>
                        <a:t>Lecture related to topic</a:t>
                      </a:r>
                    </a:p>
                  </a:txBody>
                  <a:tcPr>
                    <a:solidFill>
                      <a:srgbClr val="DF5556"/>
                    </a:solidFill>
                  </a:tcPr>
                </a:tc>
                <a:extLst>
                  <a:ext uri="{0D108BD9-81ED-4DB2-BD59-A6C34878D82A}">
                    <a16:rowId xmlns:a16="http://schemas.microsoft.com/office/drawing/2014/main" xmlns="" val="10001"/>
                  </a:ext>
                </a:extLst>
              </a:tr>
              <a:tr h="457200">
                <a:tc>
                  <a:txBody>
                    <a:bodyPr/>
                    <a:lstStyle/>
                    <a:p>
                      <a:r>
                        <a:rPr lang="en-US" sz="2000" b="0" dirty="0">
                          <a:latin typeface="+mn-lt"/>
                          <a:cs typeface="Times New Roman" pitchFamily="18" charset="0"/>
                        </a:rPr>
                        <a:t>21.</a:t>
                      </a:r>
                    </a:p>
                  </a:txBody>
                  <a:tcPr>
                    <a:solidFill>
                      <a:srgbClr val="FCB4B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dk1"/>
                          </a:solidFill>
                          <a:effectLst/>
                          <a:uLnTx/>
                          <a:uFillTx/>
                          <a:latin typeface="+mn-lt"/>
                          <a:cs typeface="Times New Roman" pitchFamily="18" charset="0"/>
                        </a:rPr>
                        <a:t>Daily Quiz</a:t>
                      </a:r>
                    </a:p>
                  </a:txBody>
                  <a:tcPr>
                    <a:solidFill>
                      <a:srgbClr val="FCB4B6"/>
                    </a:solidFill>
                  </a:tcPr>
                </a:tc>
                <a:extLst>
                  <a:ext uri="{0D108BD9-81ED-4DB2-BD59-A6C34878D82A}">
                    <a16:rowId xmlns:a16="http://schemas.microsoft.com/office/drawing/2014/main" xmlns="" val="10002"/>
                  </a:ext>
                </a:extLst>
              </a:tr>
              <a:tr h="510163">
                <a:tc>
                  <a:txBody>
                    <a:bodyPr/>
                    <a:lstStyle/>
                    <a:p>
                      <a:r>
                        <a:rPr lang="en-US" sz="2000" b="0" dirty="0">
                          <a:latin typeface="+mn-lt"/>
                          <a:cs typeface="Times New Roman" pitchFamily="18" charset="0"/>
                        </a:rPr>
                        <a:t>22.</a:t>
                      </a:r>
                    </a:p>
                  </a:txBody>
                  <a:tcPr>
                    <a:solidFill>
                      <a:srgbClr val="DF5556"/>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mn-lt"/>
                          <a:cs typeface="Times New Roman" pitchFamily="18" charset="0"/>
                        </a:rPr>
                        <a:t>Weekly Assignment</a:t>
                      </a:r>
                    </a:p>
                  </a:txBody>
                  <a:tcPr>
                    <a:solidFill>
                      <a:srgbClr val="DF5556"/>
                    </a:solidFill>
                  </a:tcPr>
                </a:tc>
                <a:extLst>
                  <a:ext uri="{0D108BD9-81ED-4DB2-BD59-A6C34878D82A}">
                    <a16:rowId xmlns:a16="http://schemas.microsoft.com/office/drawing/2014/main" xmlns="" val="10003"/>
                  </a:ext>
                </a:extLst>
              </a:tr>
              <a:tr h="510163">
                <a:tc>
                  <a:txBody>
                    <a:bodyPr/>
                    <a:lstStyle/>
                    <a:p>
                      <a:r>
                        <a:rPr lang="en-US" sz="2000" b="0" dirty="0">
                          <a:latin typeface="+mn-lt"/>
                          <a:cs typeface="Times New Roman" pitchFamily="18" charset="0"/>
                        </a:rPr>
                        <a:t>23.</a:t>
                      </a:r>
                    </a:p>
                  </a:txBody>
                  <a:tcPr>
                    <a:solidFill>
                      <a:srgbClr val="FCB4B6"/>
                    </a:solidFill>
                  </a:tcPr>
                </a:tc>
                <a:tc>
                  <a:txBody>
                    <a:bodyPr/>
                    <a:lstStyle/>
                    <a:p>
                      <a:r>
                        <a:rPr lang="en-US" sz="2000" b="0" dirty="0">
                          <a:latin typeface="+mn-lt"/>
                          <a:cs typeface="Times New Roman" pitchFamily="18" charset="0"/>
                        </a:rPr>
                        <a:t>Topic Links</a:t>
                      </a:r>
                    </a:p>
                  </a:txBody>
                  <a:tcPr>
                    <a:solidFill>
                      <a:srgbClr val="FCB4B6"/>
                    </a:solidFill>
                  </a:tcPr>
                </a:tc>
                <a:extLst>
                  <a:ext uri="{0D108BD9-81ED-4DB2-BD59-A6C34878D82A}">
                    <a16:rowId xmlns:a16="http://schemas.microsoft.com/office/drawing/2014/main" xmlns="" val="10004"/>
                  </a:ext>
                </a:extLst>
              </a:tr>
              <a:tr h="510163">
                <a:tc>
                  <a:txBody>
                    <a:bodyPr/>
                    <a:lstStyle/>
                    <a:p>
                      <a:r>
                        <a:rPr lang="en-US" sz="2000" b="0" dirty="0">
                          <a:latin typeface="+mn-lt"/>
                          <a:cs typeface="Times New Roman" pitchFamily="18" charset="0"/>
                        </a:rPr>
                        <a:t>24.</a:t>
                      </a:r>
                    </a:p>
                  </a:txBody>
                  <a:tcPr>
                    <a:solidFill>
                      <a:srgbClr val="DF5556"/>
                    </a:solidFill>
                  </a:tcPr>
                </a:tc>
                <a:tc>
                  <a:txBody>
                    <a:bodyPr/>
                    <a:lstStyle/>
                    <a:p>
                      <a:r>
                        <a:rPr lang="en-US" sz="2000" b="0" dirty="0">
                          <a:latin typeface="+mn-lt"/>
                          <a:cs typeface="Times New Roman" pitchFamily="18" charset="0"/>
                        </a:rPr>
                        <a:t>MCQs</a:t>
                      </a:r>
                    </a:p>
                  </a:txBody>
                  <a:tcPr>
                    <a:solidFill>
                      <a:srgbClr val="DF5556"/>
                    </a:solidFill>
                  </a:tcPr>
                </a:tc>
                <a:extLst>
                  <a:ext uri="{0D108BD9-81ED-4DB2-BD59-A6C34878D82A}">
                    <a16:rowId xmlns:a16="http://schemas.microsoft.com/office/drawing/2014/main" xmlns="" val="10005"/>
                  </a:ext>
                </a:extLst>
              </a:tr>
              <a:tr h="510163">
                <a:tc>
                  <a:txBody>
                    <a:bodyPr/>
                    <a:lstStyle/>
                    <a:p>
                      <a:r>
                        <a:rPr lang="en-US" sz="2000" b="0" dirty="0">
                          <a:latin typeface="+mn-lt"/>
                          <a:cs typeface="Times New Roman" pitchFamily="18" charset="0"/>
                        </a:rPr>
                        <a:t>25.</a:t>
                      </a:r>
                    </a:p>
                  </a:txBody>
                  <a:tcPr>
                    <a:solidFill>
                      <a:srgbClr val="FCB4B6"/>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mn-lt"/>
                          <a:cs typeface="Times New Roman" pitchFamily="18" charset="0"/>
                        </a:rPr>
                        <a:t>Glossary Questions</a:t>
                      </a:r>
                    </a:p>
                  </a:txBody>
                  <a:tcPr>
                    <a:solidFill>
                      <a:srgbClr val="FCB4B6"/>
                    </a:solidFill>
                  </a:tcPr>
                </a:tc>
                <a:extLst>
                  <a:ext uri="{0D108BD9-81ED-4DB2-BD59-A6C34878D82A}">
                    <a16:rowId xmlns:a16="http://schemas.microsoft.com/office/drawing/2014/main" xmlns="" val="10006"/>
                  </a:ext>
                </a:extLst>
              </a:tr>
              <a:tr h="510163">
                <a:tc>
                  <a:txBody>
                    <a:bodyPr/>
                    <a:lstStyle/>
                    <a:p>
                      <a:r>
                        <a:rPr lang="en-US" sz="2000" b="0" dirty="0">
                          <a:latin typeface="+mn-lt"/>
                          <a:cs typeface="Times New Roman" pitchFamily="18" charset="0"/>
                        </a:rPr>
                        <a:t>26.</a:t>
                      </a:r>
                    </a:p>
                  </a:txBody>
                  <a:tcPr>
                    <a:solidFill>
                      <a:srgbClr val="DF5556"/>
                    </a:solidFill>
                  </a:tcPr>
                </a:tc>
                <a:tc>
                  <a:txBody>
                    <a:bodyPr/>
                    <a:lstStyle/>
                    <a:p>
                      <a:r>
                        <a:rPr lang="en-US" sz="2000" b="0" dirty="0">
                          <a:latin typeface="+mn-lt"/>
                          <a:cs typeface="Times New Roman" pitchFamily="18" charset="0"/>
                        </a:rPr>
                        <a:t>Old question papers</a:t>
                      </a:r>
                    </a:p>
                  </a:txBody>
                  <a:tcPr>
                    <a:solidFill>
                      <a:srgbClr val="DF5556"/>
                    </a:solidFill>
                  </a:tcPr>
                </a:tc>
                <a:extLst>
                  <a:ext uri="{0D108BD9-81ED-4DB2-BD59-A6C34878D82A}">
                    <a16:rowId xmlns:a16="http://schemas.microsoft.com/office/drawing/2014/main" xmlns="" val="10007"/>
                  </a:ext>
                </a:extLst>
              </a:tr>
              <a:tr h="510163">
                <a:tc>
                  <a:txBody>
                    <a:bodyPr/>
                    <a:lstStyle/>
                    <a:p>
                      <a:r>
                        <a:rPr lang="en-US" sz="2000" b="0" dirty="0">
                          <a:latin typeface="+mn-lt"/>
                          <a:cs typeface="Times New Roman" pitchFamily="18" charset="0"/>
                        </a:rPr>
                        <a:t>27.</a:t>
                      </a:r>
                    </a:p>
                  </a:txBody>
                  <a:tcPr>
                    <a:solidFill>
                      <a:srgbClr val="FCB4B6"/>
                    </a:solidFill>
                  </a:tcPr>
                </a:tc>
                <a:tc>
                  <a:txBody>
                    <a:bodyPr/>
                    <a:lstStyle/>
                    <a:p>
                      <a:r>
                        <a:rPr lang="en-US" sz="2000" b="0" dirty="0">
                          <a:latin typeface="+mn-lt"/>
                          <a:cs typeface="Times New Roman" pitchFamily="18" charset="0"/>
                        </a:rPr>
                        <a:t>Expected Questions</a:t>
                      </a:r>
                    </a:p>
                  </a:txBody>
                  <a:tcPr>
                    <a:solidFill>
                      <a:srgbClr val="FCB4B6"/>
                    </a:solidFill>
                  </a:tcPr>
                </a:tc>
                <a:extLst>
                  <a:ext uri="{0D108BD9-81ED-4DB2-BD59-A6C34878D82A}">
                    <a16:rowId xmlns:a16="http://schemas.microsoft.com/office/drawing/2014/main" xmlns="" val="10008"/>
                  </a:ext>
                </a:extLst>
              </a:tr>
              <a:tr h="510163">
                <a:tc>
                  <a:txBody>
                    <a:bodyPr/>
                    <a:lstStyle/>
                    <a:p>
                      <a:r>
                        <a:rPr lang="en-US" sz="2000" b="0" dirty="0">
                          <a:latin typeface="+mn-lt"/>
                          <a:cs typeface="Times New Roman" pitchFamily="18" charset="0"/>
                        </a:rPr>
                        <a:t>28.</a:t>
                      </a:r>
                    </a:p>
                  </a:txBody>
                  <a:tcPr>
                    <a:solidFill>
                      <a:srgbClr val="DF5556"/>
                    </a:solidFill>
                  </a:tcPr>
                </a:tc>
                <a:tc>
                  <a:txBody>
                    <a:bodyPr/>
                    <a:lstStyle/>
                    <a:p>
                      <a:r>
                        <a:rPr lang="en-US" sz="2000" b="0" dirty="0">
                          <a:latin typeface="+mn-lt"/>
                          <a:cs typeface="Times New Roman" pitchFamily="18" charset="0"/>
                        </a:rPr>
                        <a:t>Recap of unit</a:t>
                      </a:r>
                    </a:p>
                  </a:txBody>
                  <a:tcPr>
                    <a:solidFill>
                      <a:srgbClr val="DF5556"/>
                    </a:solidFill>
                  </a:tcPr>
                </a:tc>
                <a:extLst>
                  <a:ext uri="{0D108BD9-81ED-4DB2-BD59-A6C34878D82A}">
                    <a16:rowId xmlns:a16="http://schemas.microsoft.com/office/drawing/2014/main" xmlns=""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12"/>
          <p:cNvSpPr>
            <a:spLocks noGrp="1"/>
          </p:cNvSpPr>
          <p:nvPr>
            <p:ph type="ftr" sz="quarter" idx="11"/>
          </p:nvPr>
        </p:nvSpPr>
        <p:spPr>
          <a:xfrm>
            <a:off x="2286000" y="6376243"/>
            <a:ext cx="50292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1" y="0"/>
            <a:ext cx="7772400"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sz="2400" b="1" dirty="0" smtClean="0">
                <a:latin typeface="Times New Roman" pitchFamily="18" charset="0"/>
                <a:cs typeface="Times New Roman" pitchFamily="18" charset="0"/>
              </a:rPr>
              <a:t>Brief Introduction of the Faculty Member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9" name="Rectangle 8"/>
          <p:cNvSpPr/>
          <p:nvPr/>
        </p:nvSpPr>
        <p:spPr>
          <a:xfrm>
            <a:off x="4207156" y="3244334"/>
            <a:ext cx="184731" cy="369332"/>
          </a:xfrm>
          <a:prstGeom prst="rect">
            <a:avLst/>
          </a:prstGeom>
        </p:spPr>
        <p:txBody>
          <a:bodyPr wrap="none">
            <a:spAutoFit/>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12"/>
          <p:cNvSpPr>
            <a:spLocks noGrp="1"/>
          </p:cNvSpPr>
          <p:nvPr>
            <p:ph type="ftr" sz="quarter" idx="11"/>
          </p:nvPr>
        </p:nvSpPr>
        <p:spPr>
          <a:xfrm>
            <a:off x="2286000" y="6376243"/>
            <a:ext cx="50292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sz="2400" b="1" dirty="0">
                <a:latin typeface="Times New Roman" pitchFamily="18" charset="0"/>
                <a:cs typeface="Times New Roman" pitchFamily="18" charset="0"/>
              </a:rPr>
              <a:t>Evaluation Scheme</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400" b="1" dirty="0" smtClean="0">
                <a:latin typeface="Times New Roman" pitchFamily="18" charset="0"/>
                <a:cs typeface="Times New Roman" pitchFamily="18" charset="0"/>
              </a:rPr>
              <a:t>Subject Syllabus</a:t>
            </a:r>
            <a:endParaRPr lang="en-US" sz="2400" b="1" dirty="0" smtClean="0">
              <a:latin typeface="Times New Roman" pitchFamily="18" charset="0"/>
              <a:cs typeface="Times New Roman" pitchFamily="18" charset="0"/>
            </a:endParaRPr>
          </a:p>
          <a:p>
            <a:pPr lvl="0">
              <a:defRPr/>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graphicFrame>
        <p:nvGraphicFramePr>
          <p:cNvPr id="9" name="Table 8">
            <a:extLst>
              <a:ext uri="{FF2B5EF4-FFF2-40B4-BE49-F238E27FC236}">
                <a16:creationId xmlns:a16="http://schemas.microsoft.com/office/drawing/2014/main" xmlns="" id="{C1C792C2-0BAB-FA0E-C685-8F4B7C3D4FE6}"/>
              </a:ext>
            </a:extLst>
          </p:cNvPr>
          <p:cNvGraphicFramePr>
            <a:graphicFrameLocks noGrp="1"/>
          </p:cNvGraphicFramePr>
          <p:nvPr>
            <p:extLst>
              <p:ext uri="{D42A27DB-BD31-4B8C-83A1-F6EECF244321}">
                <p14:modId xmlns:p14="http://schemas.microsoft.com/office/powerpoint/2010/main" xmlns="" val="2259834659"/>
              </p:ext>
            </p:extLst>
          </p:nvPr>
        </p:nvGraphicFramePr>
        <p:xfrm>
          <a:off x="323528" y="1124744"/>
          <a:ext cx="8568953" cy="4895055"/>
        </p:xfrm>
        <a:graphic>
          <a:graphicData uri="http://schemas.openxmlformats.org/drawingml/2006/table">
            <a:tbl>
              <a:tblPr firstRow="1" firstCol="1" bandRow="1">
                <a:tableStyleId>{5C22544A-7EE6-4342-B048-85BDC9FD1C3A}</a:tableStyleId>
              </a:tblPr>
              <a:tblGrid>
                <a:gridCol w="1982693">
                  <a:extLst>
                    <a:ext uri="{9D8B030D-6E8A-4147-A177-3AD203B41FA5}">
                      <a16:colId xmlns:a16="http://schemas.microsoft.com/office/drawing/2014/main" xmlns="" val="4215152995"/>
                    </a:ext>
                  </a:extLst>
                </a:gridCol>
                <a:gridCol w="3499576">
                  <a:extLst>
                    <a:ext uri="{9D8B030D-6E8A-4147-A177-3AD203B41FA5}">
                      <a16:colId xmlns:a16="http://schemas.microsoft.com/office/drawing/2014/main" xmlns="" val="1990022529"/>
                    </a:ext>
                  </a:extLst>
                </a:gridCol>
                <a:gridCol w="3086684">
                  <a:extLst>
                    <a:ext uri="{9D8B030D-6E8A-4147-A177-3AD203B41FA5}">
                      <a16:colId xmlns:a16="http://schemas.microsoft.com/office/drawing/2014/main" xmlns="" val="1757884998"/>
                    </a:ext>
                  </a:extLst>
                </a:gridCol>
              </a:tblGrid>
              <a:tr h="353154">
                <a:tc gridSpan="3">
                  <a:txBody>
                    <a:bodyPr/>
                    <a:lstStyle/>
                    <a:p>
                      <a:pPr algn="ctr">
                        <a:lnSpc>
                          <a:spcPct val="115000"/>
                        </a:lnSpc>
                        <a:spcAft>
                          <a:spcPts val="1000"/>
                        </a:spcAft>
                        <a:tabLst>
                          <a:tab pos="1533525" algn="l"/>
                        </a:tabLst>
                      </a:pPr>
                      <a:r>
                        <a:rPr lang="en-US" sz="1600" dirty="0">
                          <a:effectLst/>
                          <a:latin typeface="Times New Roman" panose="02020603050405020304" pitchFamily="18" charset="0"/>
                          <a:cs typeface="Times New Roman" panose="02020603050405020304" pitchFamily="18" charset="0"/>
                        </a:rPr>
                        <a:t>Course Contents / Syllabus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97927929"/>
                  </a:ext>
                </a:extLst>
              </a:tr>
              <a:tr h="691350">
                <a:tc>
                  <a:txBody>
                    <a:bodyPr/>
                    <a:lstStyle/>
                    <a:p>
                      <a:pPr>
                        <a:lnSpc>
                          <a:spcPct val="115000"/>
                        </a:lnSpc>
                        <a:spcAft>
                          <a:spcPts val="1000"/>
                        </a:spcAft>
                        <a:tabLst>
                          <a:tab pos="1533525" algn="l"/>
                        </a:tabLst>
                      </a:pPr>
                      <a:r>
                        <a:rPr lang="en-US" sz="1600">
                          <a:effectLst/>
                          <a:latin typeface="Times New Roman" panose="02020603050405020304" pitchFamily="18" charset="0"/>
                          <a:cs typeface="Times New Roman" panose="02020603050405020304" pitchFamily="18" charset="0"/>
                        </a:rPr>
                        <a:t>UNIT-I</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15000"/>
                        </a:lnSpc>
                        <a:spcAft>
                          <a:spcPts val="1000"/>
                        </a:spcAft>
                      </a:pPr>
                      <a:r>
                        <a:rPr lang="en-US" sz="1600" dirty="0">
                          <a:effectLst/>
                          <a:latin typeface="Times New Roman" panose="02020603050405020304" pitchFamily="18" charset="0"/>
                          <a:cs typeface="Times New Roman" panose="02020603050405020304" pitchFamily="18" charset="0"/>
                        </a:rPr>
                        <a:t>Introduction to Organisation </a:t>
                      </a:r>
                      <a:r>
                        <a:rPr lang="en-US" sz="1600" dirty="0" err="1">
                          <a:effectLst/>
                          <a:latin typeface="Times New Roman" panose="02020603050405020304" pitchFamily="18" charset="0"/>
                          <a:cs typeface="Times New Roman" panose="02020603050405020304" pitchFamily="18" charset="0"/>
                        </a:rPr>
                        <a:t>Behaviour</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tabLst>
                          <a:tab pos="1533525" algn="l"/>
                        </a:tabLst>
                      </a:pPr>
                      <a:r>
                        <a:rPr lang="en-US" sz="1600">
                          <a:effectLst/>
                          <a:latin typeface="Times New Roman" panose="02020603050405020304" pitchFamily="18" charset="0"/>
                          <a:cs typeface="Times New Roman" panose="02020603050405020304" pitchFamily="18" charset="0"/>
                        </a:rPr>
                        <a:t>Hours- 8</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22731542"/>
                  </a:ext>
                </a:extLst>
              </a:tr>
              <a:tr h="1771294">
                <a:tc gridSpan="3">
                  <a:txBody>
                    <a:bodyPr/>
                    <a:lstStyle/>
                    <a:p>
                      <a:pPr marL="596900" marR="228600" algn="just">
                        <a:lnSpc>
                          <a:spcPct val="115000"/>
                        </a:lnSpc>
                        <a:spcBef>
                          <a:spcPts val="10"/>
                        </a:spcBef>
                        <a:spcAft>
                          <a:spcPts val="0"/>
                        </a:spcAft>
                      </a:pPr>
                      <a:r>
                        <a:rPr lang="en-US" sz="1600" dirty="0">
                          <a:effectLst/>
                          <a:latin typeface="Times New Roman" panose="02020603050405020304" pitchFamily="18" charset="0"/>
                          <a:cs typeface="Times New Roman" panose="02020603050405020304" pitchFamily="18" charset="0"/>
                        </a:rPr>
                        <a:t>Introduction to OB , Definition, Nature and Scope – Environmental and organizational context – Impact of  globalization, Diversity, Ethics, culture.  Importance of OB in understanding Human </a:t>
                      </a:r>
                      <a:r>
                        <a:rPr lang="en-US" sz="1600" dirty="0" err="1">
                          <a:effectLst/>
                          <a:latin typeface="Times New Roman" panose="02020603050405020304" pitchFamily="18" charset="0"/>
                          <a:cs typeface="Times New Roman" panose="02020603050405020304" pitchFamily="18" charset="0"/>
                        </a:rPr>
                        <a:t>Behaviour</a:t>
                      </a:r>
                      <a:r>
                        <a:rPr lang="en-US" sz="1600" dirty="0">
                          <a:effectLst/>
                          <a:latin typeface="Times New Roman" panose="02020603050405020304" pitchFamily="18" charset="0"/>
                          <a:cs typeface="Times New Roman" panose="02020603050405020304" pitchFamily="18" charset="0"/>
                        </a:rPr>
                        <a:t>. Cognitive </a:t>
                      </a:r>
                      <a:r>
                        <a:rPr lang="en-US" sz="1600" dirty="0" err="1">
                          <a:effectLst/>
                          <a:latin typeface="Times New Roman" panose="02020603050405020304" pitchFamily="18" charset="0"/>
                          <a:cs typeface="Times New Roman" panose="02020603050405020304" pitchFamily="18" charset="0"/>
                        </a:rPr>
                        <a:t>Processes,I</a:t>
                      </a:r>
                      <a:r>
                        <a:rPr lang="en-US" sz="1600" dirty="0">
                          <a:effectLst/>
                          <a:latin typeface="Times New Roman" panose="02020603050405020304" pitchFamily="18" charset="0"/>
                          <a:cs typeface="Times New Roman" panose="02020603050405020304" pitchFamily="18" charset="0"/>
                        </a:rPr>
                        <a:t>: Perception and Attribution: Nature and importance of Perception – Perceptual selectivity and organization , Social perception – Attribution Theories ,Locus of control –Attribution Errors.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1361052405"/>
                  </a:ext>
                </a:extLst>
              </a:tr>
              <a:tr h="696557">
                <a:tc>
                  <a:txBody>
                    <a:bodyPr/>
                    <a:lstStyle/>
                    <a:p>
                      <a:pPr>
                        <a:lnSpc>
                          <a:spcPct val="115000"/>
                        </a:lnSpc>
                        <a:spcAft>
                          <a:spcPts val="1000"/>
                        </a:spcAft>
                        <a:tabLst>
                          <a:tab pos="1533525" algn="l"/>
                        </a:tabLst>
                      </a:pPr>
                      <a:r>
                        <a:rPr lang="en-US" sz="1600">
                          <a:effectLst/>
                          <a:latin typeface="Times New Roman" panose="02020603050405020304" pitchFamily="18" charset="0"/>
                          <a:cs typeface="Times New Roman" panose="02020603050405020304" pitchFamily="18" charset="0"/>
                        </a:rPr>
                        <a:t>UNIT-II</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15000"/>
                        </a:lnSpc>
                        <a:spcAft>
                          <a:spcPts val="1000"/>
                        </a:spcAft>
                      </a:pPr>
                      <a:r>
                        <a:rPr lang="en-US" sz="1600">
                          <a:effectLst/>
                          <a:latin typeface="Times New Roman" panose="02020603050405020304" pitchFamily="18" charset="0"/>
                          <a:cs typeface="Times New Roman" panose="02020603050405020304" pitchFamily="18" charset="0"/>
                        </a:rPr>
                        <a:t>Dimensions of Human Behaviour and Psychology</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tabLst>
                          <a:tab pos="1533525" algn="l"/>
                        </a:tabLst>
                      </a:pPr>
                      <a:r>
                        <a:rPr lang="en-US" sz="1600">
                          <a:effectLst/>
                          <a:latin typeface="Times New Roman" panose="02020603050405020304" pitchFamily="18" charset="0"/>
                          <a:cs typeface="Times New Roman" panose="02020603050405020304" pitchFamily="18" charset="0"/>
                        </a:rPr>
                        <a:t> Hours-8</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27841118"/>
                  </a:ext>
                </a:extLst>
              </a:tr>
              <a:tr h="1382700">
                <a:tc gridSpan="3">
                  <a:txBody>
                    <a:bodyPr/>
                    <a:lstStyle/>
                    <a:p>
                      <a:pPr marL="596900" marR="231775" algn="just">
                        <a:lnSpc>
                          <a:spcPct val="115000"/>
                        </a:lnSpc>
                        <a:spcAft>
                          <a:spcPts val="0"/>
                        </a:spcAft>
                      </a:pPr>
                      <a:r>
                        <a:rPr lang="en-US" sz="1600" dirty="0">
                          <a:effectLst/>
                          <a:latin typeface="Times New Roman" panose="02020603050405020304" pitchFamily="18" charset="0"/>
                          <a:cs typeface="Times New Roman" panose="02020603050405020304" pitchFamily="18" charset="0"/>
                        </a:rPr>
                        <a:t>Cognitive </a:t>
                      </a:r>
                      <a:r>
                        <a:rPr lang="en-US" sz="1600" dirty="0" err="1">
                          <a:effectLst/>
                          <a:latin typeface="Times New Roman" panose="02020603050405020304" pitchFamily="18" charset="0"/>
                          <a:cs typeface="Times New Roman" panose="02020603050405020304" pitchFamily="18" charset="0"/>
                        </a:rPr>
                        <a:t>Processes,II</a:t>
                      </a:r>
                      <a:r>
                        <a:rPr lang="en-US" sz="1600" dirty="0">
                          <a:effectLst/>
                          <a:latin typeface="Times New Roman" panose="02020603050405020304" pitchFamily="18" charset="0"/>
                          <a:cs typeface="Times New Roman" panose="02020603050405020304" pitchFamily="18" charset="0"/>
                        </a:rPr>
                        <a:t>: Personality and Attitudes, Personality as a continuum - Meaning of personality , Johari Window and Transactional Analysis , Nature and Dimension of Attitudes -Job satisfaction and organizational commitment, Motivational needs and processes, Theories of Motivation</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299309981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400" b="1" dirty="0" smtClean="0">
                <a:latin typeface="Times New Roman" pitchFamily="18" charset="0"/>
                <a:cs typeface="Times New Roman" pitchFamily="18" charset="0"/>
              </a:rPr>
              <a:t>Subject Syllabus</a:t>
            </a:r>
            <a:endParaRPr lang="en-US" sz="2400" b="1" dirty="0" smtClean="0">
              <a:latin typeface="Times New Roman" pitchFamily="18" charset="0"/>
              <a:cs typeface="Times New Roman" pitchFamily="18" charset="0"/>
            </a:endParaRPr>
          </a:p>
          <a:p>
            <a:pPr lvl="0">
              <a:defRPr/>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graphicFrame>
        <p:nvGraphicFramePr>
          <p:cNvPr id="10" name="Table 9">
            <a:extLst>
              <a:ext uri="{FF2B5EF4-FFF2-40B4-BE49-F238E27FC236}">
                <a16:creationId xmlns:a16="http://schemas.microsoft.com/office/drawing/2014/main" xmlns="" id="{CA742D6D-52FD-9BB4-7A4D-D5BF95A919AD}"/>
              </a:ext>
            </a:extLst>
          </p:cNvPr>
          <p:cNvGraphicFramePr>
            <a:graphicFrameLocks noGrp="1"/>
          </p:cNvGraphicFramePr>
          <p:nvPr>
            <p:extLst>
              <p:ext uri="{D42A27DB-BD31-4B8C-83A1-F6EECF244321}">
                <p14:modId xmlns:p14="http://schemas.microsoft.com/office/powerpoint/2010/main" xmlns="" val="3325286855"/>
              </p:ext>
            </p:extLst>
          </p:nvPr>
        </p:nvGraphicFramePr>
        <p:xfrm>
          <a:off x="611560" y="1066800"/>
          <a:ext cx="8075240" cy="5014918"/>
        </p:xfrm>
        <a:graphic>
          <a:graphicData uri="http://schemas.openxmlformats.org/drawingml/2006/table">
            <a:tbl>
              <a:tblPr firstRow="1" firstCol="1" bandRow="1">
                <a:tableStyleId>{5C22544A-7EE6-4342-B048-85BDC9FD1C3A}</a:tableStyleId>
              </a:tblPr>
              <a:tblGrid>
                <a:gridCol w="1845482">
                  <a:extLst>
                    <a:ext uri="{9D8B030D-6E8A-4147-A177-3AD203B41FA5}">
                      <a16:colId xmlns:a16="http://schemas.microsoft.com/office/drawing/2014/main" xmlns="" val="3173305869"/>
                    </a:ext>
                  </a:extLst>
                </a:gridCol>
                <a:gridCol w="3257391">
                  <a:extLst>
                    <a:ext uri="{9D8B030D-6E8A-4147-A177-3AD203B41FA5}">
                      <a16:colId xmlns:a16="http://schemas.microsoft.com/office/drawing/2014/main" xmlns="" val="3133212448"/>
                    </a:ext>
                  </a:extLst>
                </a:gridCol>
                <a:gridCol w="166458">
                  <a:extLst>
                    <a:ext uri="{9D8B030D-6E8A-4147-A177-3AD203B41FA5}">
                      <a16:colId xmlns:a16="http://schemas.microsoft.com/office/drawing/2014/main" xmlns="" val="3944300991"/>
                    </a:ext>
                  </a:extLst>
                </a:gridCol>
                <a:gridCol w="2805909">
                  <a:extLst>
                    <a:ext uri="{9D8B030D-6E8A-4147-A177-3AD203B41FA5}">
                      <a16:colId xmlns:a16="http://schemas.microsoft.com/office/drawing/2014/main" xmlns="" val="421852069"/>
                    </a:ext>
                  </a:extLst>
                </a:gridCol>
              </a:tblGrid>
              <a:tr h="303988">
                <a:tc>
                  <a:txBody>
                    <a:bodyPr/>
                    <a:lstStyle/>
                    <a:p>
                      <a:pPr>
                        <a:lnSpc>
                          <a:spcPct val="115000"/>
                        </a:lnSpc>
                        <a:spcAft>
                          <a:spcPts val="1000"/>
                        </a:spcAft>
                        <a:tabLst>
                          <a:tab pos="1533525" algn="l"/>
                        </a:tabLst>
                      </a:pPr>
                      <a:r>
                        <a:rPr lang="en-US" sz="1800" dirty="0">
                          <a:effectLst/>
                          <a:latin typeface="Times New Roman" panose="02020603050405020304" pitchFamily="18" charset="0"/>
                          <a:cs typeface="Times New Roman" panose="02020603050405020304" pitchFamily="18" charset="0"/>
                        </a:rPr>
                        <a:t>UNIT-III</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15000"/>
                        </a:lnSpc>
                        <a:spcAft>
                          <a:spcPts val="1000"/>
                        </a:spcAft>
                      </a:pPr>
                      <a:r>
                        <a:rPr lang="en-US" sz="1800">
                          <a:effectLst/>
                          <a:latin typeface="Times New Roman" panose="02020603050405020304" pitchFamily="18" charset="0"/>
                          <a:cs typeface="Times New Roman" panose="02020603050405020304" pitchFamily="18" charset="0"/>
                        </a:rPr>
                        <a:t>Dynamics of OB –I</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15000"/>
                        </a:lnSpc>
                        <a:spcAft>
                          <a:spcPts val="1000"/>
                        </a:spcAft>
                        <a:tabLst>
                          <a:tab pos="1533525" algn="l"/>
                        </a:tabLst>
                      </a:pPr>
                      <a:r>
                        <a:rPr lang="en-US" sz="1800">
                          <a:effectLst/>
                          <a:latin typeface="Times New Roman" panose="02020603050405020304" pitchFamily="18" charset="0"/>
                          <a:cs typeface="Times New Roman" panose="02020603050405020304" pitchFamily="18" charset="0"/>
                        </a:rPr>
                        <a:t> Hours-8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xmlns="" val="881138139"/>
                  </a:ext>
                </a:extLst>
              </a:tr>
              <a:tr h="913834">
                <a:tc gridSpan="4">
                  <a:txBody>
                    <a:bodyPr/>
                    <a:lstStyle/>
                    <a:p>
                      <a:pPr marL="596900">
                        <a:lnSpc>
                          <a:spcPct val="107000"/>
                        </a:lnSpc>
                        <a:tabLst>
                          <a:tab pos="2428875" algn="l"/>
                        </a:tabLst>
                      </a:pPr>
                      <a:r>
                        <a:rPr lang="en-US" sz="1800">
                          <a:effectLst/>
                          <a:latin typeface="Times New Roman" panose="02020603050405020304" pitchFamily="18" charset="0"/>
                          <a:cs typeface="Times New Roman" panose="02020603050405020304" pitchFamily="18" charset="0"/>
                        </a:rPr>
                        <a:t>Dynamics of OB –I ,Stress and Conflict: Meaning and types of stress ,Stress Management, Meaning and types of conflict , Effect of stress and intra individual conflict , Conflict management.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267021598"/>
                  </a:ext>
                </a:extLst>
              </a:tr>
              <a:tr h="303988">
                <a:tc>
                  <a:txBody>
                    <a:bodyPr/>
                    <a:lstStyle/>
                    <a:p>
                      <a:pPr>
                        <a:lnSpc>
                          <a:spcPct val="115000"/>
                        </a:lnSpc>
                        <a:spcAft>
                          <a:spcPts val="1000"/>
                        </a:spcAft>
                        <a:tabLst>
                          <a:tab pos="1533525" algn="l"/>
                        </a:tabLst>
                      </a:pPr>
                      <a:r>
                        <a:rPr lang="en-US" sz="1800" dirty="0">
                          <a:effectLst/>
                          <a:latin typeface="Times New Roman" panose="02020603050405020304" pitchFamily="18" charset="0"/>
                          <a:cs typeface="Times New Roman" panose="02020603050405020304" pitchFamily="18" charset="0"/>
                        </a:rPr>
                        <a:t>UNIT-IV</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15000"/>
                        </a:lnSpc>
                        <a:spcAft>
                          <a:spcPts val="1000"/>
                        </a:spcAft>
                      </a:pPr>
                      <a:r>
                        <a:rPr lang="en-US" sz="1800" b="1" dirty="0">
                          <a:effectLst/>
                          <a:latin typeface="Times New Roman" panose="02020603050405020304" pitchFamily="18" charset="0"/>
                          <a:cs typeface="Times New Roman" panose="02020603050405020304" pitchFamily="18" charset="0"/>
                        </a:rPr>
                        <a:t>Dynamics of OB-II</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15000"/>
                        </a:lnSpc>
                        <a:spcAft>
                          <a:spcPts val="1000"/>
                        </a:spcAft>
                        <a:tabLst>
                          <a:tab pos="1533525" algn="l"/>
                        </a:tabLst>
                      </a:pPr>
                      <a:r>
                        <a:rPr lang="en-US" sz="1800">
                          <a:effectLst/>
                          <a:latin typeface="Times New Roman" panose="02020603050405020304" pitchFamily="18" charset="0"/>
                          <a:cs typeface="Times New Roman" panose="02020603050405020304" pitchFamily="18" charset="0"/>
                        </a:rPr>
                        <a:t> Hours-8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xmlns="" val="406213646"/>
                  </a:ext>
                </a:extLst>
              </a:tr>
              <a:tr h="1227075">
                <a:tc gridSpan="4">
                  <a:txBody>
                    <a:bodyPr/>
                    <a:lstStyle/>
                    <a:p>
                      <a:pPr marL="596900" marR="228600" algn="just">
                        <a:lnSpc>
                          <a:spcPct val="115000"/>
                        </a:lnSpc>
                        <a:spcBef>
                          <a:spcPts val="205"/>
                        </a:spcBef>
                        <a:spcAft>
                          <a:spcPts val="0"/>
                        </a:spcAft>
                      </a:pPr>
                      <a:r>
                        <a:rPr lang="en-US" sz="1800" dirty="0">
                          <a:effectLst/>
                          <a:latin typeface="Times New Roman" panose="02020603050405020304" pitchFamily="18" charset="0"/>
                          <a:cs typeface="Times New Roman" panose="02020603050405020304" pitchFamily="18" charset="0"/>
                        </a:rPr>
                        <a:t>Dynamics of OB-II Power and Politics: Meaning and types of power – empowerment , Groups Vs. Teams – Nature of groups – dynamics of informal groups – dysfunctions of groups and teams – teams in modern work place.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566009298"/>
                  </a:ext>
                </a:extLst>
              </a:tr>
              <a:tr h="607976">
                <a:tc>
                  <a:txBody>
                    <a:bodyPr/>
                    <a:lstStyle/>
                    <a:p>
                      <a:pPr>
                        <a:lnSpc>
                          <a:spcPct val="115000"/>
                        </a:lnSpc>
                        <a:spcAft>
                          <a:spcPts val="1000"/>
                        </a:spcAft>
                        <a:tabLst>
                          <a:tab pos="1533525" algn="l"/>
                        </a:tabLst>
                      </a:pPr>
                      <a:r>
                        <a:rPr lang="en-US" sz="1800" b="1" dirty="0">
                          <a:effectLst/>
                          <a:latin typeface="Times New Roman" panose="02020603050405020304" pitchFamily="18" charset="0"/>
                          <a:cs typeface="Times New Roman" panose="02020603050405020304" pitchFamily="18" charset="0"/>
                        </a:rPr>
                        <a:t>UNIT-V</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gridSpan="2">
                  <a:txBody>
                    <a:bodyPr/>
                    <a:lstStyle/>
                    <a:p>
                      <a:pPr>
                        <a:lnSpc>
                          <a:spcPct val="115000"/>
                        </a:lnSpc>
                        <a:spcAft>
                          <a:spcPts val="1000"/>
                        </a:spcAft>
                        <a:tabLst>
                          <a:tab pos="1533525" algn="l"/>
                        </a:tabLst>
                      </a:pPr>
                      <a:r>
                        <a:rPr lang="en-US" sz="1800" b="1" dirty="0">
                          <a:effectLst/>
                          <a:latin typeface="Times New Roman" panose="02020603050405020304" pitchFamily="18" charset="0"/>
                          <a:cs typeface="Times New Roman" panose="02020603050405020304" pitchFamily="18" charset="0"/>
                        </a:rPr>
                        <a:t>Leadership and Organisation Change.</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a:txBody>
                    <a:bodyPr/>
                    <a:lstStyle/>
                    <a:p>
                      <a:pPr>
                        <a:lnSpc>
                          <a:spcPct val="115000"/>
                        </a:lnSpc>
                        <a:spcAft>
                          <a:spcPts val="1000"/>
                        </a:spcAft>
                        <a:tabLst>
                          <a:tab pos="1533525" algn="l"/>
                        </a:tabLst>
                      </a:pPr>
                      <a:r>
                        <a:rPr lang="en-US" sz="1600" dirty="0">
                          <a:effectLst/>
                          <a:latin typeface="Times New Roman" panose="02020603050405020304" pitchFamily="18" charset="0"/>
                          <a:cs typeface="Times New Roman" panose="02020603050405020304" pitchFamily="18" charset="0"/>
                        </a:rPr>
                        <a:t>                        Hours-8</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287918626"/>
                  </a:ext>
                </a:extLst>
              </a:tr>
              <a:tr h="1519939">
                <a:tc gridSpan="4">
                  <a:txBody>
                    <a:bodyPr/>
                    <a:lstStyle/>
                    <a:p>
                      <a:pPr algn="just">
                        <a:lnSpc>
                          <a:spcPct val="115000"/>
                        </a:lnSpc>
                        <a:spcAft>
                          <a:spcPts val="1000"/>
                        </a:spcAft>
                        <a:tabLst>
                          <a:tab pos="1533525" algn="l"/>
                        </a:tabLst>
                      </a:pPr>
                      <a:r>
                        <a:rPr lang="en-US" sz="1800" dirty="0">
                          <a:effectLst/>
                          <a:latin typeface="Times New Roman" panose="02020603050405020304" pitchFamily="18" charset="0"/>
                          <a:cs typeface="Times New Roman" panose="02020603050405020304" pitchFamily="18" charset="0"/>
                        </a:rPr>
                        <a:t>High performance work practices , </a:t>
                      </a:r>
                      <a:r>
                        <a:rPr lang="en-US" sz="1800" dirty="0" err="1">
                          <a:effectLst/>
                          <a:latin typeface="Times New Roman" panose="02020603050405020304" pitchFamily="18" charset="0"/>
                          <a:cs typeface="Times New Roman" panose="02020603050405020304" pitchFamily="18" charset="0"/>
                        </a:rPr>
                        <a:t>Behavioural</a:t>
                      </a:r>
                      <a:r>
                        <a:rPr lang="en-US" sz="1800" dirty="0">
                          <a:effectLst/>
                          <a:latin typeface="Times New Roman" panose="02020603050405020304" pitchFamily="18" charset="0"/>
                          <a:cs typeface="Times New Roman" panose="02020603050405020304" pitchFamily="18" charset="0"/>
                        </a:rPr>
                        <a:t> performance management: reinforcement and punishment as principles of Learning –Process of </a:t>
                      </a:r>
                      <a:r>
                        <a:rPr lang="en-US" sz="1800" dirty="0" err="1">
                          <a:effectLst/>
                          <a:latin typeface="Times New Roman" panose="02020603050405020304" pitchFamily="18" charset="0"/>
                          <a:cs typeface="Times New Roman" panose="02020603050405020304" pitchFamily="18" charset="0"/>
                        </a:rPr>
                        <a:t>Behavioural</a:t>
                      </a:r>
                      <a:r>
                        <a:rPr lang="en-US" sz="1800" dirty="0">
                          <a:effectLst/>
                          <a:latin typeface="Times New Roman" panose="02020603050405020304" pitchFamily="18" charset="0"/>
                          <a:cs typeface="Times New Roman" panose="02020603050405020304" pitchFamily="18" charset="0"/>
                        </a:rPr>
                        <a:t> modification , Leadership theories , Styles, Activities and skills of Great leaders. Organizational change , meaning, factors in Organizational change, process of planned Change, Resistance to change.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5636219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Branch Wise Application</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457200" y="1197067"/>
            <a:ext cx="8458200" cy="5539187"/>
          </a:xfrm>
          <a:prstGeom prst="rect">
            <a:avLst/>
          </a:prstGeom>
        </p:spPr>
        <p:txBody>
          <a:bodyPr>
            <a:normAutofit/>
          </a:bodyPr>
          <a:lstStyle/>
          <a:p>
            <a:pPr marL="0" marR="0" lvl="0" indent="0" algn="just" defTabSz="914400" rtl="0" eaLnBrk="1" fontAlgn="auto" latinLnBrk="0" hangingPunct="1">
              <a:lnSpc>
                <a:spcPct val="160000"/>
              </a:lnSpc>
              <a:spcBef>
                <a:spcPct val="20000"/>
              </a:spcBef>
              <a:spcAft>
                <a:spcPts val="0"/>
              </a:spcAft>
              <a:buClrTx/>
              <a:buSzTx/>
              <a:buFont typeface="Arial" pitchFamily="34" charset="0"/>
              <a:buNone/>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This subject will help the students gain understanding of the functions and responsibilities of managers. It shall  provide students  the tools and techniques to be used in the performance of the managerial job. And will also  enable them to analyze and understand the complex human behaviour at organization.</a:t>
            </a: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Course Objective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graphicFrame>
        <p:nvGraphicFramePr>
          <p:cNvPr id="11" name="Content Placeholder 12">
            <a:extLst>
              <a:ext uri="{FF2B5EF4-FFF2-40B4-BE49-F238E27FC236}">
                <a16:creationId xmlns="" xmlns:a16="http://schemas.microsoft.com/office/drawing/2014/main" id="{1B244165-1B1E-D54B-B738-A12D0AE32982}"/>
              </a:ext>
            </a:extLst>
          </p:cNvPr>
          <p:cNvGraphicFramePr>
            <a:graphicFrameLocks/>
          </p:cNvGraphicFramePr>
          <p:nvPr/>
        </p:nvGraphicFramePr>
        <p:xfrm>
          <a:off x="762000" y="990600"/>
          <a:ext cx="7772400" cy="3742735"/>
        </p:xfrm>
        <a:graphic>
          <a:graphicData uri="http://schemas.openxmlformats.org/drawingml/2006/table">
            <a:tbl>
              <a:tblPr firstRow="1" firstCol="1" lastRow="1" lastCol="1" bandRow="1" bandCol="1"/>
              <a:tblGrid>
                <a:gridCol w="1071875">
                  <a:extLst>
                    <a:ext uri="{9D8B030D-6E8A-4147-A177-3AD203B41FA5}">
                      <a16:colId xmlns="" xmlns:a16="http://schemas.microsoft.com/office/drawing/2014/main" val="3849890507"/>
                    </a:ext>
                  </a:extLst>
                </a:gridCol>
                <a:gridCol w="6700525">
                  <a:extLst>
                    <a:ext uri="{9D8B030D-6E8A-4147-A177-3AD203B41FA5}">
                      <a16:colId xmlns="" xmlns:a16="http://schemas.microsoft.com/office/drawing/2014/main" val="3984734139"/>
                    </a:ext>
                  </a:extLst>
                </a:gridCol>
              </a:tblGrid>
              <a:tr h="894013">
                <a:tc>
                  <a:txBody>
                    <a:bodyPr/>
                    <a:lstStyle/>
                    <a:p>
                      <a:pPr marL="67945">
                        <a:lnSpc>
                          <a:spcPts val="1375"/>
                        </a:lnSpc>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375"/>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1000"/>
                        </a:spcAft>
                        <a:tabLst>
                          <a:tab pos="783590" algn="l"/>
                        </a:tabLst>
                      </a:pPr>
                      <a:r>
                        <a:rPr lang="en-US" sz="2000" dirty="0">
                          <a:effectLst/>
                          <a:latin typeface="Times New Roman" panose="02020603050405020304" pitchFamily="18" charset="0"/>
                          <a:cs typeface="Times New Roman" panose="02020603050405020304" pitchFamily="18" charset="0"/>
                        </a:rPr>
                        <a:t>Understand the various dimensions of Human psychology.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366653007"/>
                  </a:ext>
                </a:extLst>
              </a:tr>
              <a:tr h="885396">
                <a:tc>
                  <a:txBody>
                    <a:bodyPr/>
                    <a:lstStyle/>
                    <a:p>
                      <a:pPr marL="67945">
                        <a:lnSpc>
                          <a:spcPts val="1375"/>
                        </a:lnSpc>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375"/>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Bef>
                          <a:spcPts val="215"/>
                        </a:spcBef>
                        <a:spcAft>
                          <a:spcPts val="1000"/>
                        </a:spcAft>
                        <a:tabLst>
                          <a:tab pos="783590" algn="l"/>
                        </a:tabLst>
                      </a:pPr>
                      <a:r>
                        <a:rPr lang="en-US" sz="2000" dirty="0">
                          <a:effectLst/>
                          <a:latin typeface="Times New Roman" panose="02020603050405020304" pitchFamily="18" charset="0"/>
                          <a:cs typeface="Times New Roman" panose="02020603050405020304" pitchFamily="18" charset="0"/>
                        </a:rPr>
                        <a:t>Familiarize students with the concept of Organisation </a:t>
                      </a:r>
                      <a:r>
                        <a:rPr lang="en-US" sz="2000" dirty="0" err="1">
                          <a:effectLst/>
                          <a:latin typeface="Times New Roman" panose="02020603050405020304" pitchFamily="18" charset="0"/>
                          <a:cs typeface="Times New Roman" panose="02020603050405020304" pitchFamily="18" charset="0"/>
                        </a:rPr>
                        <a:t>Behaviour</a:t>
                      </a:r>
                      <a:r>
                        <a:rPr lang="en-US" sz="2000" dirty="0">
                          <a:effectLst/>
                          <a:latin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458396754"/>
                  </a:ext>
                </a:extLst>
              </a:tr>
              <a:tr h="981663">
                <a:tc>
                  <a:txBody>
                    <a:bodyPr/>
                    <a:lstStyle/>
                    <a:p>
                      <a:pPr marL="67945">
                        <a:lnSpc>
                          <a:spcPts val="1375"/>
                        </a:lnSpc>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375"/>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205"/>
                        </a:spcBef>
                        <a:spcAft>
                          <a:spcPts val="1000"/>
                        </a:spcAft>
                      </a:pPr>
                      <a:r>
                        <a:rPr lang="en-US" sz="2000" dirty="0">
                          <a:effectLst/>
                          <a:latin typeface="Times New Roman" panose="02020603050405020304" pitchFamily="18" charset="0"/>
                          <a:cs typeface="Times New Roman" panose="02020603050405020304" pitchFamily="18" charset="0"/>
                        </a:rPr>
                        <a:t>Enable students to describe how people behave under different conditions and understand why people behave as they do.</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70859945"/>
                  </a:ext>
                </a:extLst>
              </a:tr>
              <a:tr h="981663">
                <a:tc>
                  <a:txBody>
                    <a:bodyPr/>
                    <a:lstStyle/>
                    <a:p>
                      <a:pPr marL="67945">
                        <a:spcBef>
                          <a:spcPts val="5"/>
                        </a:spcBef>
                      </a:pPr>
                      <a:r>
                        <a:rPr lang="en-US" sz="200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197485" algn="l">
                        <a:lnSpc>
                          <a:spcPct val="105000"/>
                        </a:lnSpc>
                        <a:spcBef>
                          <a:spcPts val="715"/>
                        </a:spcBef>
                        <a:spcAft>
                          <a:spcPts val="0"/>
                        </a:spcAft>
                        <a:tabLst>
                          <a:tab pos="1533525" algn="l"/>
                        </a:tabLst>
                      </a:pPr>
                      <a:r>
                        <a:rPr lang="en-US" sz="2000" dirty="0">
                          <a:effectLst/>
                          <a:latin typeface="Times New Roman" panose="02020603050405020304" pitchFamily="18" charset="0"/>
                          <a:cs typeface="Times New Roman" panose="02020603050405020304" pitchFamily="18" charset="0"/>
                        </a:rPr>
                        <a:t>To introduce students to the concepts of Team and Organization change.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97594607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12"/>
          <p:cNvSpPr>
            <a:spLocks noGrp="1"/>
          </p:cNvSpPr>
          <p:nvPr>
            <p:ph type="ftr" sz="quarter" idx="11"/>
          </p:nvPr>
        </p:nvSpPr>
        <p:spPr>
          <a:xfrm>
            <a:off x="2286000" y="6376243"/>
            <a:ext cx="50292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Course Outcome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graphicFrame>
        <p:nvGraphicFramePr>
          <p:cNvPr id="11" name="Content Placeholder 10"/>
          <p:cNvGraphicFramePr>
            <a:graphicFrameLocks noGrp="1"/>
          </p:cNvGraphicFramePr>
          <p:nvPr>
            <p:ph idx="1"/>
          </p:nvPr>
        </p:nvGraphicFramePr>
        <p:xfrm>
          <a:off x="533400" y="914401"/>
          <a:ext cx="8153400" cy="5445783"/>
        </p:xfrm>
        <a:graphic>
          <a:graphicData uri="http://schemas.openxmlformats.org/drawingml/2006/table">
            <a:tbl>
              <a:tblPr firstRow="1" bandRow="1">
                <a:tableStyleId>{5C22544A-7EE6-4342-B048-85BDC9FD1C3A}</a:tableStyleId>
              </a:tblPr>
              <a:tblGrid>
                <a:gridCol w="4076700"/>
                <a:gridCol w="4076700"/>
              </a:tblGrid>
              <a:tr h="937092">
                <a:tc>
                  <a:txBody>
                    <a:bodyPr/>
                    <a:lstStyle/>
                    <a:p>
                      <a:pPr marL="457200">
                        <a:lnSpc>
                          <a:spcPct val="115000"/>
                        </a:lnSpc>
                        <a:spcBef>
                          <a:spcPts val="715"/>
                        </a:spcBef>
                        <a:spcAft>
                          <a:spcPts val="1000"/>
                        </a:spcAft>
                      </a:pPr>
                      <a:r>
                        <a:rPr lang="en-US" sz="1600" b="0" dirty="0" smtClean="0">
                          <a:solidFill>
                            <a:schemeClr val="tx1"/>
                          </a:solidFill>
                          <a:effectLst/>
                          <a:latin typeface="Times New Roman" panose="02020603050405020304" pitchFamily="18" charset="0"/>
                          <a:cs typeface="Times New Roman" panose="02020603050405020304" pitchFamily="18" charset="0"/>
                        </a:rPr>
                        <a:t>CO1-Understand </a:t>
                      </a:r>
                      <a:r>
                        <a:rPr lang="en-US" sz="1600" b="0" dirty="0">
                          <a:solidFill>
                            <a:schemeClr val="tx1"/>
                          </a:solidFill>
                          <a:effectLst/>
                          <a:latin typeface="Times New Roman" panose="02020603050405020304" pitchFamily="18" charset="0"/>
                          <a:cs typeface="Times New Roman" panose="02020603050405020304" pitchFamily="18" charset="0"/>
                        </a:rPr>
                        <a:t>the concept of Organization Behavior and human psychology in  terms of the key factors that influence organizational behavior.</a:t>
                      </a:r>
                      <a:endParaRPr lang="en-IN"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599" marR="62599" marT="0" marB="0">
                    <a:solidFill>
                      <a:srgbClr val="DF5556"/>
                    </a:solidFill>
                  </a:tcPr>
                </a:tc>
                <a:tc>
                  <a:txBody>
                    <a:bodyPr/>
                    <a:lstStyle/>
                    <a:p>
                      <a:pPr>
                        <a:lnSpc>
                          <a:spcPct val="107000"/>
                        </a:lnSpc>
                        <a:spcBef>
                          <a:spcPts val="715"/>
                        </a:spcBef>
                      </a:pPr>
                      <a:r>
                        <a:rPr lang="en-US" sz="1600" b="0" dirty="0">
                          <a:solidFill>
                            <a:schemeClr val="tx1"/>
                          </a:solidFill>
                          <a:effectLst/>
                          <a:latin typeface="Times New Roman" panose="02020603050405020304" pitchFamily="18" charset="0"/>
                          <a:cs typeface="Times New Roman" panose="02020603050405020304" pitchFamily="18" charset="0"/>
                        </a:rPr>
                        <a:t>Knowledge (K2), </a:t>
                      </a:r>
                    </a:p>
                    <a:p>
                      <a:pPr>
                        <a:lnSpc>
                          <a:spcPct val="107000"/>
                        </a:lnSpc>
                        <a:spcBef>
                          <a:spcPts val="715"/>
                        </a:spcBef>
                      </a:pPr>
                      <a:r>
                        <a:rPr lang="en-US" sz="1600" b="0" dirty="0">
                          <a:solidFill>
                            <a:schemeClr val="tx1"/>
                          </a:solidFill>
                          <a:effectLst/>
                          <a:latin typeface="Times New Roman" panose="02020603050405020304" pitchFamily="18" charset="0"/>
                          <a:cs typeface="Times New Roman" panose="02020603050405020304" pitchFamily="18" charset="0"/>
                        </a:rPr>
                        <a:t>Remembering (K1) </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599" marR="62599" marT="0" marB="0">
                    <a:solidFill>
                      <a:srgbClr val="DF5556"/>
                    </a:solidFill>
                  </a:tcPr>
                </a:tc>
              </a:tr>
              <a:tr h="966921">
                <a:tc>
                  <a:txBody>
                    <a:bodyPr/>
                    <a:lstStyle/>
                    <a:p>
                      <a:pPr marR="197485">
                        <a:lnSpc>
                          <a:spcPct val="105000"/>
                        </a:lnSpc>
                        <a:spcBef>
                          <a:spcPts val="715"/>
                        </a:spcBef>
                        <a:spcAft>
                          <a:spcPts val="0"/>
                        </a:spcAft>
                      </a:pPr>
                      <a:r>
                        <a:rPr lang="en-US" sz="1600" dirty="0">
                          <a:effectLst/>
                          <a:latin typeface="Times New Roman" panose="02020603050405020304" pitchFamily="18" charset="0"/>
                          <a:cs typeface="Times New Roman" panose="02020603050405020304" pitchFamily="18" charset="0"/>
                        </a:rPr>
                        <a:t> </a:t>
                      </a:r>
                      <a:r>
                        <a:rPr lang="en-US" sz="1600" dirty="0" smtClean="0">
                          <a:effectLst/>
                          <a:latin typeface="Times New Roman" panose="02020603050405020304" pitchFamily="18" charset="0"/>
                          <a:cs typeface="Times New Roman" panose="02020603050405020304" pitchFamily="18" charset="0"/>
                        </a:rPr>
                        <a:t>CO2-Analyze </a:t>
                      </a:r>
                      <a:r>
                        <a:rPr lang="en-US" sz="1600" dirty="0">
                          <a:effectLst/>
                          <a:latin typeface="Times New Roman" panose="02020603050405020304" pitchFamily="18" charset="0"/>
                          <a:cs typeface="Times New Roman" panose="02020603050405020304" pitchFamily="18" charset="0"/>
                        </a:rPr>
                        <a:t>and evaluate the behavior for        enhancing individual and group performance.</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599" marR="62599" marT="0" marB="0">
                    <a:solidFill>
                      <a:srgbClr val="FCB4B6"/>
                    </a:solidFill>
                  </a:tcPr>
                </a:tc>
                <a:tc>
                  <a:txBody>
                    <a:bodyPr/>
                    <a:lstStyle/>
                    <a:p>
                      <a:pPr>
                        <a:lnSpc>
                          <a:spcPct val="107000"/>
                        </a:lnSpc>
                        <a:spcBef>
                          <a:spcPts val="715"/>
                        </a:spcBef>
                      </a:pPr>
                      <a:r>
                        <a:rPr lang="en-US" sz="1600" dirty="0">
                          <a:effectLst/>
                          <a:latin typeface="Times New Roman" panose="02020603050405020304" pitchFamily="18" charset="0"/>
                          <a:cs typeface="Times New Roman" panose="02020603050405020304" pitchFamily="18" charset="0"/>
                        </a:rPr>
                        <a:t>Comprehending (K 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599" marR="62599" marT="0" marB="0">
                    <a:solidFill>
                      <a:srgbClr val="FCB4B6"/>
                    </a:solidFill>
                  </a:tcPr>
                </a:tc>
              </a:tr>
              <a:tr h="859136">
                <a:tc>
                  <a:txBody>
                    <a:bodyPr/>
                    <a:lstStyle/>
                    <a:p>
                      <a:pPr marR="197485" algn="just">
                        <a:lnSpc>
                          <a:spcPct val="105000"/>
                        </a:lnSpc>
                        <a:spcBef>
                          <a:spcPts val="715"/>
                        </a:spcBef>
                        <a:spcAft>
                          <a:spcPts val="0"/>
                        </a:spcAft>
                      </a:pPr>
                      <a:r>
                        <a:rPr lang="en-US" sz="1600" dirty="0" smtClean="0">
                          <a:effectLst/>
                          <a:latin typeface="Times New Roman" panose="02020603050405020304" pitchFamily="18" charset="0"/>
                          <a:cs typeface="Times New Roman" panose="02020603050405020304" pitchFamily="18" charset="0"/>
                        </a:rPr>
                        <a:t>CO3-Demonstrate </a:t>
                      </a:r>
                      <a:r>
                        <a:rPr lang="en-US" sz="1600" dirty="0">
                          <a:effectLst/>
                          <a:latin typeface="Times New Roman" panose="02020603050405020304" pitchFamily="18" charset="0"/>
                          <a:cs typeface="Times New Roman" panose="02020603050405020304" pitchFamily="18" charset="0"/>
                        </a:rPr>
                        <a:t>the applicability of analyzing the complexities associated with management of individual behavior in the organization.</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599" marR="62599" marT="0" marB="0">
                    <a:solidFill>
                      <a:srgbClr val="DF5556"/>
                    </a:solidFill>
                  </a:tcPr>
                </a:tc>
                <a:tc>
                  <a:txBody>
                    <a:bodyPr/>
                    <a:lstStyle/>
                    <a:p>
                      <a:pPr>
                        <a:lnSpc>
                          <a:spcPct val="107000"/>
                        </a:lnSpc>
                        <a:spcBef>
                          <a:spcPts val="715"/>
                        </a:spcBef>
                      </a:pPr>
                      <a:r>
                        <a:rPr lang="en-US" sz="1600" dirty="0">
                          <a:effectLst/>
                          <a:latin typeface="Times New Roman" panose="02020603050405020304" pitchFamily="18" charset="0"/>
                          <a:cs typeface="Times New Roman" panose="02020603050405020304" pitchFamily="18" charset="0"/>
                        </a:rPr>
                        <a:t>Knowledge (K2), </a:t>
                      </a:r>
                    </a:p>
                    <a:p>
                      <a:pPr>
                        <a:lnSpc>
                          <a:spcPct val="107000"/>
                        </a:lnSpc>
                        <a:spcBef>
                          <a:spcPts val="715"/>
                        </a:spcBef>
                      </a:pPr>
                      <a:r>
                        <a:rPr lang="en-US" sz="1600" dirty="0">
                          <a:effectLst/>
                          <a:latin typeface="Times New Roman" panose="02020603050405020304" pitchFamily="18" charset="0"/>
                          <a:cs typeface="Times New Roman" panose="02020603050405020304" pitchFamily="18" charset="0"/>
                        </a:rPr>
                        <a:t>Applying (K4)</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599" marR="62599" marT="0" marB="0">
                    <a:solidFill>
                      <a:srgbClr val="DF5556"/>
                    </a:solidFill>
                  </a:tcPr>
                </a:tc>
              </a:tr>
              <a:tr h="698028">
                <a:tc>
                  <a:txBody>
                    <a:bodyPr/>
                    <a:lstStyle/>
                    <a:p>
                      <a:pPr>
                        <a:lnSpc>
                          <a:spcPct val="115000"/>
                        </a:lnSpc>
                        <a:spcAft>
                          <a:spcPts val="1000"/>
                        </a:spcAft>
                      </a:pPr>
                      <a:r>
                        <a:rPr lang="en-US" sz="1600" dirty="0" smtClean="0">
                          <a:effectLst/>
                          <a:latin typeface="Times New Roman" panose="02020603050405020304" pitchFamily="18" charset="0"/>
                          <a:cs typeface="Times New Roman" panose="02020603050405020304" pitchFamily="18" charset="0"/>
                        </a:rPr>
                        <a:t>CO4-Analyze </a:t>
                      </a:r>
                      <a:r>
                        <a:rPr lang="en-US" sz="1600" dirty="0">
                          <a:effectLst/>
                          <a:latin typeface="Times New Roman" panose="02020603050405020304" pitchFamily="18" charset="0"/>
                          <a:cs typeface="Times New Roman" panose="02020603050405020304" pitchFamily="18" charset="0"/>
                        </a:rPr>
                        <a:t>the complexities associated with management of the group behavior in the organization.</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99" marR="62599" marT="0" marB="0">
                    <a:solidFill>
                      <a:srgbClr val="FCB4B6"/>
                    </a:solidFill>
                  </a:tcPr>
                </a:tc>
                <a:tc>
                  <a:txBody>
                    <a:bodyPr/>
                    <a:lstStyle/>
                    <a:p>
                      <a:pPr>
                        <a:lnSpc>
                          <a:spcPct val="107000"/>
                        </a:lnSpc>
                        <a:spcBef>
                          <a:spcPts val="715"/>
                        </a:spcBef>
                      </a:pPr>
                      <a:r>
                        <a:rPr lang="en-US" sz="1600" dirty="0">
                          <a:effectLst/>
                          <a:latin typeface="Times New Roman" panose="02020603050405020304" pitchFamily="18" charset="0"/>
                          <a:cs typeface="Times New Roman" panose="02020603050405020304" pitchFamily="18" charset="0"/>
                        </a:rPr>
                        <a:t>Knowledge (K2), </a:t>
                      </a:r>
                    </a:p>
                    <a:p>
                      <a:pPr>
                        <a:lnSpc>
                          <a:spcPct val="107000"/>
                        </a:lnSpc>
                        <a:spcBef>
                          <a:spcPts val="715"/>
                        </a:spcBef>
                      </a:pPr>
                      <a:r>
                        <a:rPr lang="en-US" sz="1600" dirty="0">
                          <a:effectLst/>
                          <a:latin typeface="Times New Roman" panose="02020603050405020304" pitchFamily="18" charset="0"/>
                          <a:cs typeface="Times New Roman" panose="02020603050405020304" pitchFamily="18" charset="0"/>
                        </a:rPr>
                        <a:t>Analyzing (K5)</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599" marR="62599" marT="0" marB="0">
                    <a:solidFill>
                      <a:srgbClr val="FCB4B6"/>
                    </a:solidFill>
                  </a:tcPr>
                </a:tc>
              </a:tr>
              <a:tr h="1491822">
                <a:tc>
                  <a:txBody>
                    <a:bodyPr/>
                    <a:lstStyle/>
                    <a:p>
                      <a:pPr marL="0" marR="0">
                        <a:lnSpc>
                          <a:spcPct val="115000"/>
                        </a:lnSpc>
                        <a:spcBef>
                          <a:spcPts val="200"/>
                        </a:spcBef>
                        <a:spcAft>
                          <a:spcPts val="0"/>
                        </a:spcAft>
                      </a:pPr>
                      <a:endParaRPr lang="en-IN" sz="2000" b="0" dirty="0">
                        <a:effectLst/>
                        <a:latin typeface="Times New Roman" panose="02020603050405020304" pitchFamily="18" charset="0"/>
                        <a:cs typeface="Times New Roman" panose="02020603050405020304" pitchFamily="18" charset="0"/>
                      </a:endParaRPr>
                    </a:p>
                    <a:p>
                      <a:pPr marL="457200">
                        <a:lnSpc>
                          <a:spcPct val="115000"/>
                        </a:lnSpc>
                        <a:spcBef>
                          <a:spcPts val="200"/>
                        </a:spcBef>
                        <a:spcAft>
                          <a:spcPts val="1000"/>
                        </a:spcAft>
                      </a:pPr>
                      <a:r>
                        <a:rPr lang="en-US" sz="1600" b="0" dirty="0" smtClean="0">
                          <a:effectLst/>
                          <a:latin typeface="Times New Roman" panose="02020603050405020304" pitchFamily="18" charset="0"/>
                          <a:cs typeface="Times New Roman" panose="02020603050405020304" pitchFamily="18" charset="0"/>
                        </a:rPr>
                        <a:t>CO5-</a:t>
                      </a:r>
                      <a:r>
                        <a:rPr lang="en-US" sz="1600" b="0" dirty="0">
                          <a:effectLst/>
                          <a:latin typeface="Times New Roman" panose="02020603050405020304" pitchFamily="18" charset="0"/>
                          <a:cs typeface="Times New Roman" panose="02020603050405020304" pitchFamily="18" charset="0"/>
                        </a:rPr>
                        <a:t> </a:t>
                      </a:r>
                      <a:r>
                        <a:rPr lang="en-US" sz="1600" dirty="0" smtClean="0">
                          <a:effectLst/>
                          <a:latin typeface="Times New Roman" panose="02020603050405020304" pitchFamily="18" charset="0"/>
                          <a:cs typeface="Times New Roman" panose="02020603050405020304" pitchFamily="18" charset="0"/>
                        </a:rPr>
                        <a:t>Create the conducive work environment encompassing the theories of leadership and change management.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DF5556"/>
                    </a:solidFill>
                  </a:tcPr>
                </a:tc>
                <a:tc>
                  <a:txBody>
                    <a:bodyPr/>
                    <a:lstStyle/>
                    <a:p>
                      <a:pPr>
                        <a:lnSpc>
                          <a:spcPct val="107000"/>
                        </a:lnSpc>
                        <a:spcBef>
                          <a:spcPts val="715"/>
                        </a:spcBef>
                      </a:pPr>
                      <a:r>
                        <a:rPr lang="en-US" sz="1600" dirty="0">
                          <a:effectLst/>
                          <a:latin typeface="Times New Roman" panose="02020603050405020304" pitchFamily="18" charset="0"/>
                          <a:cs typeface="Times New Roman" panose="02020603050405020304" pitchFamily="18" charset="0"/>
                        </a:rPr>
                        <a:t>Applying (K4)</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599" marR="62599" marT="0" marB="0">
                    <a:solidFill>
                      <a:srgbClr val="DF5556"/>
                    </a:solidFill>
                  </a:tcPr>
                </a:tc>
              </a:tr>
            </a:tbl>
          </a:graphicData>
        </a:graphic>
      </p:graphicFrame>
      <p:sp>
        <p:nvSpPr>
          <p:cNvPr id="9" name="Content Placeholder 2"/>
          <p:cNvSpPr txBox="1">
            <a:spLocks/>
          </p:cNvSpPr>
          <p:nvPr/>
        </p:nvSpPr>
        <p:spPr>
          <a:xfrm>
            <a:off x="685800" y="8382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Program Outcomes</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Content Placeholder 13"/>
          <p:cNvGraphicFramePr>
            <a:graphicFrameLocks/>
          </p:cNvGraphicFramePr>
          <p:nvPr>
            <p:extLst>
              <p:ext uri="{D42A27DB-BD31-4B8C-83A1-F6EECF244321}">
                <p14:modId xmlns:p14="http://schemas.microsoft.com/office/powerpoint/2010/main" xmlns="" val="3055180162"/>
              </p:ext>
            </p:extLst>
          </p:nvPr>
        </p:nvGraphicFramePr>
        <p:xfrm>
          <a:off x="762000" y="990601"/>
          <a:ext cx="7696200" cy="5589981"/>
        </p:xfrm>
        <a:graphic>
          <a:graphicData uri="http://schemas.openxmlformats.org/drawingml/2006/table">
            <a:tbl>
              <a:tblPr bandRow="1">
                <a:tableStyleId>{5C22544A-7EE6-4342-B048-85BDC9FD1C3A}</a:tableStyleId>
              </a:tblPr>
              <a:tblGrid>
                <a:gridCol w="7696200">
                  <a:extLst>
                    <a:ext uri="{9D8B030D-6E8A-4147-A177-3AD203B41FA5}">
                      <a16:colId xmlns:a16="http://schemas.microsoft.com/office/drawing/2014/main" xmlns="" val="20000"/>
                    </a:ext>
                  </a:extLst>
                </a:gridCol>
              </a:tblGrid>
              <a:tr h="12218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a:t>1. </a:t>
                      </a:r>
                      <a:r>
                        <a:rPr lang="en-US" sz="1800" b="0" i="0" dirty="0" smtClean="0">
                          <a:solidFill>
                            <a:srgbClr val="000000"/>
                          </a:solidFill>
                          <a:effectLst/>
                          <a:latin typeface="Times New Roman" panose="02020603050405020304" pitchFamily="18" charset="0"/>
                        </a:rPr>
                        <a:t>PO1 Engineering knowledge - Apply the knowledge of mathematics, science, engineering fundamentals, and an engineering specialization to the solution of complex engineering problems</a:t>
                      </a:r>
                    </a:p>
                    <a:p>
                      <a:endParaRPr lang="en-US" sz="1900" dirty="0"/>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extLst>
                  <a:ext uri="{0D108BD9-81ED-4DB2-BD59-A6C34878D82A}">
                    <a16:rowId xmlns:a16="http://schemas.microsoft.com/office/drawing/2014/main" xmlns="" val="10000"/>
                  </a:ext>
                </a:extLst>
              </a:tr>
              <a:tr h="12860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a:t>2. </a:t>
                      </a:r>
                      <a:r>
                        <a:rPr lang="en-US" sz="1800" b="0" i="0" dirty="0" smtClean="0">
                          <a:solidFill>
                            <a:srgbClr val="000000"/>
                          </a:solidFill>
                          <a:effectLst/>
                          <a:latin typeface="Times New Roman" panose="02020603050405020304" pitchFamily="18" charset="0"/>
                        </a:rPr>
                        <a:t>PO2 Problem analysis - Identify, formulate, review research literature, and analyze complex engineering problems reaching substantiated conclusions using first principles of mathematics, natural sciences, and engineering sciences</a:t>
                      </a:r>
                    </a:p>
                    <a:p>
                      <a:endParaRPr lang="en-US" sz="1900" dirty="0"/>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extLst>
                  <a:ext uri="{0D108BD9-81ED-4DB2-BD59-A6C34878D82A}">
                    <a16:rowId xmlns:a16="http://schemas.microsoft.com/office/drawing/2014/main" xmlns="" val="10001"/>
                  </a:ext>
                </a:extLst>
              </a:tr>
              <a:tr h="158846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a:t>3. </a:t>
                      </a:r>
                      <a:r>
                        <a:rPr lang="en-US" sz="1800" b="0" i="0" dirty="0" smtClean="0">
                          <a:solidFill>
                            <a:srgbClr val="000000"/>
                          </a:solidFill>
                          <a:effectLst/>
                          <a:latin typeface="Times New Roman" panose="02020603050405020304" pitchFamily="18" charset="0"/>
                        </a:rPr>
                        <a:t>PO3 Design/development of solutions - Design solutions for complex engineering problems and design system components or processes that meet the specified needs with appropriate consideration for the public health and safety, and the cultural, societal, and environmental considerations</a:t>
                      </a:r>
                    </a:p>
                    <a:p>
                      <a:endParaRPr lang="en-US" sz="1900" dirty="0"/>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extLst>
                  <a:ext uri="{0D108BD9-81ED-4DB2-BD59-A6C34878D82A}">
                    <a16:rowId xmlns:a16="http://schemas.microsoft.com/office/drawing/2014/main" xmlns="" val="10002"/>
                  </a:ext>
                </a:extLst>
              </a:tr>
              <a:tr h="12860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a:t>4. </a:t>
                      </a:r>
                      <a:r>
                        <a:rPr lang="en-US" sz="1800" b="0" i="0" dirty="0" smtClean="0">
                          <a:solidFill>
                            <a:srgbClr val="000000"/>
                          </a:solidFill>
                          <a:effectLst/>
                          <a:latin typeface="Times New Roman" panose="02020603050405020304" pitchFamily="18" charset="0"/>
                        </a:rPr>
                        <a:t>PO4 Conduct investigations of complex problems - Use research-based knowledge and research methods including design of experiments, analysis and interpretation of data, and synthesis of the information to provide valid conclusions</a:t>
                      </a:r>
                    </a:p>
                    <a:p>
                      <a:endParaRPr lang="en-US" sz="1900" dirty="0"/>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extLst>
                  <a:ext uri="{0D108BD9-81ED-4DB2-BD59-A6C34878D82A}">
                    <a16:rowId xmlns:a16="http://schemas.microsoft.com/office/drawing/2014/main" xmlns=""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Program Outcomes</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1" name="Table 10"/>
          <p:cNvGraphicFramePr>
            <a:graphicFrameLocks noGrp="1"/>
          </p:cNvGraphicFramePr>
          <p:nvPr/>
        </p:nvGraphicFramePr>
        <p:xfrm>
          <a:off x="685800" y="896461"/>
          <a:ext cx="8001000" cy="5455920"/>
        </p:xfrm>
        <a:graphic>
          <a:graphicData uri="http://schemas.openxmlformats.org/drawingml/2006/table">
            <a:tbl>
              <a:tblPr bandRow="1">
                <a:tableStyleId>{5C22544A-7EE6-4342-B048-85BDC9FD1C3A}</a:tableStyleId>
              </a:tblPr>
              <a:tblGrid>
                <a:gridCol w="8001000"/>
              </a:tblGrid>
              <a:tr h="10847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smtClean="0"/>
                        <a:t>5. </a:t>
                      </a:r>
                      <a:r>
                        <a:rPr lang="en-US" sz="1800" b="0" i="0" dirty="0" smtClean="0">
                          <a:solidFill>
                            <a:srgbClr val="000000"/>
                          </a:solidFill>
                          <a:effectLst/>
                          <a:latin typeface="Times New Roman" panose="02020603050405020304" pitchFamily="18" charset="0"/>
                        </a:rPr>
                        <a:t>PO5 Modern tool usage - Create, select, and apply appropriate techniques, resources, and modern engineering &amp; IT tools including prediction and modeling to complex engineering activities with an understanding of the limitations.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i="0" dirty="0" smtClean="0">
                        <a:solidFill>
                          <a:srgbClr val="000000"/>
                        </a:solidFill>
                        <a:effectLst/>
                        <a:latin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tr>
              <a:tr h="911701">
                <a:tc>
                  <a:txBody>
                    <a:bodyPr/>
                    <a:lstStyle/>
                    <a:p>
                      <a:pPr algn="l"/>
                      <a:r>
                        <a:rPr lang="en-US" sz="1900" b="1" dirty="0" smtClean="0"/>
                        <a:t>6. </a:t>
                      </a:r>
                      <a:r>
                        <a:rPr lang="en-US" sz="1800" b="0" i="0" dirty="0" smtClean="0">
                          <a:solidFill>
                            <a:srgbClr val="000000"/>
                          </a:solidFill>
                          <a:effectLst/>
                          <a:latin typeface="Times New Roman" panose="02020603050405020304" pitchFamily="18" charset="0"/>
                        </a:rPr>
                        <a:t>PO6 The engineer and society - Apply reasoning informed by the contextual knowledge to assess societal, health, safety, legal and cultural issues and the consequent responsibilities relevant to the professional engineering practice.</a:t>
                      </a:r>
                      <a:endParaRPr lang="en-US" sz="1800" b="0" i="0" dirty="0">
                        <a:solidFill>
                          <a:srgbClr val="000000"/>
                        </a:solidFill>
                        <a:effectLst/>
                        <a:latin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tr>
              <a:tr h="990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smtClean="0"/>
                        <a:t>7. </a:t>
                      </a:r>
                      <a:r>
                        <a:rPr lang="en-US" sz="1800" b="0" i="0" dirty="0" smtClean="0">
                          <a:solidFill>
                            <a:srgbClr val="000000"/>
                          </a:solidFill>
                          <a:effectLst/>
                          <a:latin typeface="Times New Roman" panose="02020603050405020304" pitchFamily="18" charset="0"/>
                        </a:rPr>
                        <a:t>PO7 Environment and sustainability - Understand the impact of professional engineering solutions in societal and environmental contexts, and demonstrate the knowledge of, and need for sustainable development.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i="0" dirty="0" smtClean="0">
                        <a:solidFill>
                          <a:srgbClr val="000000"/>
                        </a:solidFill>
                        <a:effectLst/>
                        <a:latin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tr>
              <a:tr h="9296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smtClean="0"/>
                        <a:t>8. </a:t>
                      </a:r>
                      <a:r>
                        <a:rPr lang="en-US" sz="1800" b="0" i="0" dirty="0" smtClean="0">
                          <a:solidFill>
                            <a:srgbClr val="000000"/>
                          </a:solidFill>
                          <a:effectLst/>
                          <a:latin typeface="Times New Roman" panose="02020603050405020304" pitchFamily="18" charset="0"/>
                        </a:rPr>
                        <a:t>PO8 Ethics - Apply ethical principles and commit to professional ethics and responsibilities and norms of the engineering practice.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i="0" dirty="0" smtClean="0">
                        <a:solidFill>
                          <a:srgbClr val="000000"/>
                        </a:solidFill>
                        <a:effectLst/>
                        <a:latin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i="0" dirty="0" smtClean="0">
                        <a:solidFill>
                          <a:srgbClr val="000000"/>
                        </a:solidFill>
                        <a:effectLst/>
                        <a:latin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tr>
              <a:tr h="91170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i="0" dirty="0" smtClean="0">
                          <a:solidFill>
                            <a:srgbClr val="000000"/>
                          </a:solidFill>
                          <a:effectLst/>
                          <a:latin typeface="Times New Roman" panose="02020603050405020304" pitchFamily="18" charset="0"/>
                        </a:rPr>
                        <a:t>9. </a:t>
                      </a:r>
                      <a:r>
                        <a:rPr lang="en-US" sz="1800" b="0" i="0" dirty="0" smtClean="0">
                          <a:solidFill>
                            <a:srgbClr val="000000"/>
                          </a:solidFill>
                          <a:effectLst/>
                          <a:latin typeface="Times New Roman" panose="02020603050405020304" pitchFamily="18" charset="0"/>
                        </a:rPr>
                        <a:t>PO9 Individual and team work - Function effectively as an individual, and as a member or leader in diverse teams, and in multidisciplinary settings.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dirty="0" smtClean="0">
                        <a:solidFill>
                          <a:srgbClr val="000000"/>
                        </a:solidFill>
                        <a:effectLst/>
                        <a:latin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Program Outcomes</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0" name="Table 9"/>
          <p:cNvGraphicFramePr>
            <a:graphicFrameLocks noGrp="1"/>
          </p:cNvGraphicFramePr>
          <p:nvPr/>
        </p:nvGraphicFramePr>
        <p:xfrm>
          <a:off x="685800" y="896461"/>
          <a:ext cx="8001000" cy="4709160"/>
        </p:xfrm>
        <a:graphic>
          <a:graphicData uri="http://schemas.openxmlformats.org/drawingml/2006/table">
            <a:tbl>
              <a:tblPr bandRow="1">
                <a:tableStyleId>{5C22544A-7EE6-4342-B048-85BDC9FD1C3A}</a:tableStyleId>
              </a:tblPr>
              <a:tblGrid>
                <a:gridCol w="8001000"/>
              </a:tblGrid>
              <a:tr h="10847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smtClean="0"/>
                        <a:t>10. </a:t>
                      </a:r>
                      <a:r>
                        <a:rPr lang="en-US" sz="1800" b="0" i="0" dirty="0" smtClean="0">
                          <a:solidFill>
                            <a:srgbClr val="000000"/>
                          </a:solidFill>
                          <a:effectLst/>
                          <a:latin typeface="Times New Roman" panose="02020603050405020304" pitchFamily="18" charset="0"/>
                        </a:rPr>
                        <a:t>PO10 Communication -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i="0" dirty="0" smtClean="0">
                        <a:solidFill>
                          <a:srgbClr val="000000"/>
                        </a:solidFill>
                        <a:effectLst/>
                        <a:latin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i="0" dirty="0" smtClean="0">
                        <a:solidFill>
                          <a:srgbClr val="000000"/>
                        </a:solidFill>
                        <a:effectLst/>
                        <a:latin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tr>
              <a:tr h="91170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smtClean="0"/>
                        <a:t>11. </a:t>
                      </a:r>
                      <a:r>
                        <a:rPr lang="en-US" sz="1800" b="0" i="0" dirty="0" smtClean="0">
                          <a:solidFill>
                            <a:srgbClr val="000000"/>
                          </a:solidFill>
                          <a:effectLst/>
                          <a:latin typeface="Times New Roman" panose="02020603050405020304" pitchFamily="18" charset="0"/>
                        </a:rPr>
                        <a:t>PO11 Project management and finance - Demonstrate knowledge and understanding of the engineering and management principles and apply these to one’s own work, as a member and leader in a team, to manage projects and in multidisciplinary environments.</a:t>
                      </a:r>
                    </a:p>
                    <a:p>
                      <a:pPr algn="l"/>
                      <a:endParaRPr lang="en-US" sz="1800" b="0" i="0" dirty="0">
                        <a:solidFill>
                          <a:srgbClr val="000000"/>
                        </a:solidFill>
                        <a:effectLst/>
                        <a:latin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tr>
              <a:tr h="990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1" dirty="0" smtClean="0"/>
                        <a:t>12. </a:t>
                      </a:r>
                      <a:r>
                        <a:rPr lang="en-US" sz="1800" b="0" i="0" dirty="0" smtClean="0">
                          <a:solidFill>
                            <a:srgbClr val="000000"/>
                          </a:solidFill>
                          <a:effectLst/>
                          <a:latin typeface="Times New Roman" panose="02020603050405020304" pitchFamily="18" charset="0"/>
                        </a:rPr>
                        <a:t>PO12 Life-long learning - Recognize the need for, and have the preparation and ability to engage in independent and life-long learning in the broadest context of technological change.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i="0" dirty="0" smtClean="0">
                        <a:solidFill>
                          <a:srgbClr val="000000"/>
                        </a:solidFill>
                        <a:effectLst/>
                        <a:latin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i="0" dirty="0" smtClean="0">
                        <a:solidFill>
                          <a:srgbClr val="000000"/>
                        </a:solidFill>
                        <a:effectLst/>
                        <a:latin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DF5556">
                        <a:alpha val="25000"/>
                      </a:srgbClr>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CO-PO Mapping</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0" name="Content Placeholder 8"/>
          <p:cNvGraphicFramePr>
            <a:graphicFrameLocks/>
          </p:cNvGraphicFramePr>
          <p:nvPr>
            <p:extLst>
              <p:ext uri="{D42A27DB-BD31-4B8C-83A1-F6EECF244321}">
                <p14:modId xmlns:p14="http://schemas.microsoft.com/office/powerpoint/2010/main" xmlns="" val="3879271966"/>
              </p:ext>
            </p:extLst>
          </p:nvPr>
        </p:nvGraphicFramePr>
        <p:xfrm>
          <a:off x="457199" y="914399"/>
          <a:ext cx="8077199" cy="5510072"/>
        </p:xfrm>
        <a:graphic>
          <a:graphicData uri="http://schemas.openxmlformats.org/drawingml/2006/table">
            <a:tbl>
              <a:tblPr firstRow="1" bandRow="1">
                <a:tableStyleId>{22838BEF-8BB2-4498-84A7-C5851F593DF1}</a:tableStyleId>
              </a:tblPr>
              <a:tblGrid>
                <a:gridCol w="1524001">
                  <a:extLst>
                    <a:ext uri="{9D8B030D-6E8A-4147-A177-3AD203B41FA5}">
                      <a16:colId xmlns:a16="http://schemas.microsoft.com/office/drawing/2014/main" xmlns="" val="20000"/>
                    </a:ext>
                  </a:extLst>
                </a:gridCol>
                <a:gridCol w="490038">
                  <a:extLst>
                    <a:ext uri="{9D8B030D-6E8A-4147-A177-3AD203B41FA5}">
                      <a16:colId xmlns:a16="http://schemas.microsoft.com/office/drawing/2014/main" xmlns="" val="20001"/>
                    </a:ext>
                  </a:extLst>
                </a:gridCol>
                <a:gridCol w="446897">
                  <a:extLst>
                    <a:ext uri="{9D8B030D-6E8A-4147-A177-3AD203B41FA5}">
                      <a16:colId xmlns:a16="http://schemas.microsoft.com/office/drawing/2014/main" xmlns="" val="20002"/>
                    </a:ext>
                  </a:extLst>
                </a:gridCol>
                <a:gridCol w="604211">
                  <a:extLst>
                    <a:ext uri="{9D8B030D-6E8A-4147-A177-3AD203B41FA5}">
                      <a16:colId xmlns:a16="http://schemas.microsoft.com/office/drawing/2014/main" xmlns="" val="20003"/>
                    </a:ext>
                  </a:extLst>
                </a:gridCol>
                <a:gridCol w="537077">
                  <a:extLst>
                    <a:ext uri="{9D8B030D-6E8A-4147-A177-3AD203B41FA5}">
                      <a16:colId xmlns:a16="http://schemas.microsoft.com/office/drawing/2014/main" xmlns="" val="20004"/>
                    </a:ext>
                  </a:extLst>
                </a:gridCol>
                <a:gridCol w="537077">
                  <a:extLst>
                    <a:ext uri="{9D8B030D-6E8A-4147-A177-3AD203B41FA5}">
                      <a16:colId xmlns:a16="http://schemas.microsoft.com/office/drawing/2014/main" xmlns="" val="20005"/>
                    </a:ext>
                  </a:extLst>
                </a:gridCol>
                <a:gridCol w="446897">
                  <a:extLst>
                    <a:ext uri="{9D8B030D-6E8A-4147-A177-3AD203B41FA5}">
                      <a16:colId xmlns:a16="http://schemas.microsoft.com/office/drawing/2014/main" xmlns="" val="20006"/>
                    </a:ext>
                  </a:extLst>
                </a:gridCol>
                <a:gridCol w="537077">
                  <a:extLst>
                    <a:ext uri="{9D8B030D-6E8A-4147-A177-3AD203B41FA5}">
                      <a16:colId xmlns:a16="http://schemas.microsoft.com/office/drawing/2014/main" xmlns="" val="20007"/>
                    </a:ext>
                  </a:extLst>
                </a:gridCol>
                <a:gridCol w="604211">
                  <a:extLst>
                    <a:ext uri="{9D8B030D-6E8A-4147-A177-3AD203B41FA5}">
                      <a16:colId xmlns:a16="http://schemas.microsoft.com/office/drawing/2014/main" xmlns="" val="20008"/>
                    </a:ext>
                  </a:extLst>
                </a:gridCol>
                <a:gridCol w="537077">
                  <a:extLst>
                    <a:ext uri="{9D8B030D-6E8A-4147-A177-3AD203B41FA5}">
                      <a16:colId xmlns:a16="http://schemas.microsoft.com/office/drawing/2014/main" xmlns="" val="20009"/>
                    </a:ext>
                  </a:extLst>
                </a:gridCol>
                <a:gridCol w="671347">
                  <a:extLst>
                    <a:ext uri="{9D8B030D-6E8A-4147-A177-3AD203B41FA5}">
                      <a16:colId xmlns:a16="http://schemas.microsoft.com/office/drawing/2014/main" xmlns="" val="20010"/>
                    </a:ext>
                  </a:extLst>
                </a:gridCol>
                <a:gridCol w="537077">
                  <a:extLst>
                    <a:ext uri="{9D8B030D-6E8A-4147-A177-3AD203B41FA5}">
                      <a16:colId xmlns:a16="http://schemas.microsoft.com/office/drawing/2014/main" xmlns="" val="20011"/>
                    </a:ext>
                  </a:extLst>
                </a:gridCol>
                <a:gridCol w="604212">
                  <a:extLst>
                    <a:ext uri="{9D8B030D-6E8A-4147-A177-3AD203B41FA5}">
                      <a16:colId xmlns:a16="http://schemas.microsoft.com/office/drawing/2014/main" xmlns="" val="20012"/>
                    </a:ext>
                  </a:extLst>
                </a:gridCol>
              </a:tblGrid>
              <a:tr h="1296487">
                <a:tc gridSpan="13">
                  <a:txBody>
                    <a:bodyPr/>
                    <a:lstStyle/>
                    <a:p>
                      <a:pPr algn="ctr">
                        <a:lnSpc>
                          <a:spcPct val="115000"/>
                        </a:lnSpc>
                        <a:spcAft>
                          <a:spcPts val="0"/>
                        </a:spcAft>
                      </a:pPr>
                      <a:r>
                        <a:rPr lang="en-US" sz="2400" baseline="0" dirty="0" smtClean="0"/>
                        <a:t>Human Psychology &amp; Organization </a:t>
                      </a:r>
                      <a:r>
                        <a:rPr lang="en-US" sz="2400" baseline="0" dirty="0" err="1" smtClean="0"/>
                        <a:t>Behaviour</a:t>
                      </a:r>
                      <a:endParaRPr lang="en-US" sz="2400" baseline="0" dirty="0"/>
                    </a:p>
                    <a:p>
                      <a:pPr algn="ctr">
                        <a:lnSpc>
                          <a:spcPct val="115000"/>
                        </a:lnSpc>
                        <a:spcAft>
                          <a:spcPts val="0"/>
                        </a:spcAft>
                      </a:pPr>
                      <a:r>
                        <a:rPr lang="en-US" sz="2400" dirty="0"/>
                        <a:t>(</a:t>
                      </a:r>
                      <a:r>
                        <a:rPr lang="en-US" sz="2400" dirty="0" smtClean="0"/>
                        <a:t>AOE0765</a:t>
                      </a:r>
                      <a:r>
                        <a:rPr lang="en-US" sz="2400" baseline="0" dirty="0" smtClean="0"/>
                        <a:t> </a:t>
                      </a:r>
                      <a:r>
                        <a:rPr lang="en-US" sz="2400" dirty="0"/>
                        <a:t>)</a:t>
                      </a:r>
                      <a:endParaRPr lang="en-IN" sz="2400" dirty="0">
                        <a:latin typeface="+mn-lt"/>
                        <a:ea typeface="Times New Roman"/>
                        <a:cs typeface="Times New Roman"/>
                      </a:endParaRPr>
                    </a:p>
                  </a:txBody>
                  <a:tcPr marL="51435" marR="51435" marT="0" marB="0" anchor="b">
                    <a:solidFill>
                      <a:srgbClr val="DF5556"/>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10000"/>
                  </a:ext>
                </a:extLst>
              </a:tr>
              <a:tr h="740850">
                <a:tc>
                  <a:txBody>
                    <a:bodyPr/>
                    <a:lstStyle/>
                    <a:p>
                      <a:pPr algn="ctr">
                        <a:lnSpc>
                          <a:spcPct val="115000"/>
                        </a:lnSpc>
                        <a:spcAft>
                          <a:spcPts val="1000"/>
                        </a:spcAft>
                      </a:pPr>
                      <a:r>
                        <a:rPr lang="en-US" sz="1400" dirty="0" smtClean="0"/>
                        <a:t>CO/PO</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PO1</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PO2</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PO3</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PO4</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PO5</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PO6</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PO7</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PO8</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PO9</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PO10</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PO11</a:t>
                      </a:r>
                      <a:endParaRPr lang="en-IN" sz="1400" b="1" dirty="0">
                        <a:latin typeface="+mn-lt"/>
                        <a:ea typeface="Times New Roman"/>
                        <a:cs typeface="Times New Roman"/>
                      </a:endParaRPr>
                    </a:p>
                  </a:txBody>
                  <a:tcPr marL="51435" marR="51435" marT="0" marB="0" anchor="ctr">
                    <a:solidFill>
                      <a:srgbClr val="FCB4B6"/>
                    </a:solidFill>
                  </a:tcPr>
                </a:tc>
                <a:tc>
                  <a:txBody>
                    <a:bodyPr/>
                    <a:lstStyle/>
                    <a:p>
                      <a:pPr algn="ctr">
                        <a:lnSpc>
                          <a:spcPct val="115000"/>
                        </a:lnSpc>
                        <a:spcAft>
                          <a:spcPts val="1000"/>
                        </a:spcAft>
                      </a:pPr>
                      <a:r>
                        <a:rPr lang="en-US" sz="1400" dirty="0"/>
                        <a:t>PO12</a:t>
                      </a:r>
                      <a:endParaRPr lang="en-IN" sz="1400" b="1" dirty="0">
                        <a:latin typeface="+mn-lt"/>
                        <a:ea typeface="Times New Roman"/>
                        <a:cs typeface="Times New Roman"/>
                      </a:endParaRPr>
                    </a:p>
                  </a:txBody>
                  <a:tcPr marL="51435" marR="51435" marT="0" marB="0" anchor="ctr">
                    <a:solidFill>
                      <a:srgbClr val="FCB4B6"/>
                    </a:solidFill>
                  </a:tcPr>
                </a:tc>
                <a:extLst>
                  <a:ext uri="{0D108BD9-81ED-4DB2-BD59-A6C34878D82A}">
                    <a16:rowId xmlns:a16="http://schemas.microsoft.com/office/drawing/2014/main" xmlns="" val="10001"/>
                  </a:ext>
                </a:extLst>
              </a:tr>
              <a:tr h="694547">
                <a:tc>
                  <a:txBody>
                    <a:bodyPr/>
                    <a:lstStyle/>
                    <a:p>
                      <a:pPr algn="ctr">
                        <a:lnSpc>
                          <a:spcPct val="115000"/>
                        </a:lnSpc>
                        <a:spcAft>
                          <a:spcPts val="1000"/>
                        </a:spcAft>
                      </a:pPr>
                      <a:r>
                        <a:rPr lang="en-US" sz="2000" dirty="0" smtClean="0"/>
                        <a:t>CO1</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1</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1" dirty="0" smtClean="0">
                          <a:latin typeface="+mn-lt"/>
                          <a:ea typeface="Times New Roman"/>
                          <a:cs typeface="Times New Roman"/>
                        </a:rPr>
                        <a:t>-</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1" dirty="0" smtClean="0">
                          <a:latin typeface="+mn-lt"/>
                          <a:ea typeface="Times New Roman"/>
                          <a:cs typeface="Times New Roman"/>
                        </a:rPr>
                        <a:t>-</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1" dirty="0" smtClean="0">
                          <a:latin typeface="+mn-lt"/>
                          <a:ea typeface="Times New Roman"/>
                          <a:cs typeface="Times New Roman"/>
                        </a:rPr>
                        <a:t>-</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1</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2</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1" dirty="0" smtClean="0">
                          <a:latin typeface="+mn-lt"/>
                          <a:ea typeface="Times New Roman"/>
                          <a:cs typeface="Times New Roman"/>
                        </a:rPr>
                        <a:t>-</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1" dirty="0" smtClean="0">
                          <a:latin typeface="+mn-lt"/>
                          <a:ea typeface="Times New Roman"/>
                          <a:cs typeface="Times New Roman"/>
                        </a:rPr>
                        <a:t>-</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1</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b="0" dirty="0">
                          <a:latin typeface="+mn-lt"/>
                          <a:ea typeface="+mn-ea"/>
                          <a:cs typeface="+mn-cs"/>
                        </a:rPr>
                        <a:t>-</a:t>
                      </a:r>
                      <a:endParaRPr lang="en-IN" sz="2000" b="1"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1" dirty="0" smtClean="0">
                          <a:latin typeface="+mn-lt"/>
                          <a:ea typeface="Times New Roman"/>
                          <a:cs typeface="Times New Roman"/>
                        </a:rPr>
                        <a:t>-</a:t>
                      </a:r>
                      <a:endParaRPr lang="en-IN" sz="2000" b="1" dirty="0">
                        <a:latin typeface="+mn-lt"/>
                        <a:ea typeface="Times New Roman"/>
                        <a:cs typeface="Times New Roman"/>
                      </a:endParaRPr>
                    </a:p>
                  </a:txBody>
                  <a:tcPr marL="51435" marR="51435" marT="0" marB="0">
                    <a:solidFill>
                      <a:srgbClr val="DF5556"/>
                    </a:solidFill>
                  </a:tcPr>
                </a:tc>
                <a:extLst>
                  <a:ext uri="{0D108BD9-81ED-4DB2-BD59-A6C34878D82A}">
                    <a16:rowId xmlns:a16="http://schemas.microsoft.com/office/drawing/2014/main" xmlns="" val="10002"/>
                  </a:ext>
                </a:extLst>
              </a:tr>
              <a:tr h="694547">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kumimoji="0" lang="en-US" sz="2000" u="none" strike="noStrike" kern="1200" cap="none" spc="0" normalizeH="0" baseline="0" noProof="0" dirty="0" smtClean="0">
                          <a:ln>
                            <a:noFill/>
                          </a:ln>
                          <a:effectLst/>
                          <a:uLnTx/>
                          <a:uFillTx/>
                        </a:rPr>
                        <a:t>CO2</a:t>
                      </a:r>
                      <a:endParaRPr kumimoji="0" lang="en-IN" sz="2000" b="0" i="0" u="none" strike="noStrike" kern="1200" cap="none" spc="0" normalizeH="0" baseline="0" noProof="0" dirty="0">
                        <a:ln>
                          <a:noFill/>
                        </a:ln>
                        <a:solidFill>
                          <a:prstClr val="black"/>
                        </a:solidFill>
                        <a:effectLst/>
                        <a:uLnTx/>
                        <a:uFillTx/>
                        <a:latin typeface="Calibri"/>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smtClean="0"/>
                        <a:t>2</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a:t>2</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a:t>2</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a:t>- </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a:latin typeface="+mn-lt"/>
                          <a:ea typeface="+mn-ea"/>
                          <a:cs typeface="+mn-cs"/>
                        </a:rPr>
                        <a:t>1</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extLst>
                  <a:ext uri="{0D108BD9-81ED-4DB2-BD59-A6C34878D82A}">
                    <a16:rowId xmlns:a16="http://schemas.microsoft.com/office/drawing/2014/main" xmlns="" val="10003"/>
                  </a:ext>
                </a:extLst>
              </a:tr>
              <a:tr h="694547">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kumimoji="0" lang="en-US" sz="2000" u="none" strike="noStrike" kern="1200" cap="none" spc="0" normalizeH="0" baseline="0" noProof="0" dirty="0" smtClean="0">
                          <a:ln>
                            <a:noFill/>
                          </a:ln>
                          <a:effectLst/>
                          <a:uLnTx/>
                          <a:uFillTx/>
                        </a:rPr>
                        <a:t>CO3</a:t>
                      </a:r>
                      <a:endParaRPr kumimoji="0" lang="en-IN" sz="2000" b="0" i="0" u="none" strike="noStrike" kern="1200" cap="none" spc="0" normalizeH="0" baseline="0" noProof="0" dirty="0">
                        <a:ln>
                          <a:noFill/>
                        </a:ln>
                        <a:solidFill>
                          <a:prstClr val="black"/>
                        </a:solidFill>
                        <a:effectLst/>
                        <a:uLnTx/>
                        <a:uFillTx/>
                        <a:latin typeface="Calibri"/>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2</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2</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3</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a:t>2</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a:latin typeface="+mn-lt"/>
                          <a:ea typeface="+mn-ea"/>
                          <a:cs typeface="+mn-cs"/>
                        </a:rPr>
                        <a:t>-</a:t>
                      </a:r>
                      <a:endParaRPr lang="en-IN" sz="200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DF5556"/>
                    </a:solidFill>
                  </a:tcPr>
                </a:tc>
                <a:extLst>
                  <a:ext uri="{0D108BD9-81ED-4DB2-BD59-A6C34878D82A}">
                    <a16:rowId xmlns:a16="http://schemas.microsoft.com/office/drawing/2014/main" xmlns="" val="10004"/>
                  </a:ext>
                </a:extLst>
              </a:tr>
              <a:tr h="694547">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kumimoji="0" lang="en-US" sz="2000" u="none" strike="noStrike" kern="1200" cap="none" spc="0" normalizeH="0" baseline="0" noProof="0" dirty="0" smtClean="0">
                          <a:ln>
                            <a:noFill/>
                          </a:ln>
                          <a:effectLst/>
                          <a:uLnTx/>
                          <a:uFillTx/>
                        </a:rPr>
                        <a:t>CO4</a:t>
                      </a:r>
                      <a:endParaRPr kumimoji="0" lang="en-IN" sz="2000" b="0" i="0" u="none" strike="noStrike" kern="1200" cap="none" spc="0" normalizeH="0" baseline="0" noProof="0" dirty="0">
                        <a:ln>
                          <a:noFill/>
                        </a:ln>
                        <a:solidFill>
                          <a:prstClr val="black"/>
                        </a:solidFill>
                        <a:effectLst/>
                        <a:uLnTx/>
                        <a:uFillTx/>
                        <a:latin typeface="Calibri"/>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a:t>3</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smtClean="0"/>
                        <a:t>1</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a:t>2</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IN" sz="2000" dirty="0" smtClean="0">
                          <a:latin typeface="+mn-lt"/>
                          <a:ea typeface="Times New Roman"/>
                          <a:cs typeface="Times New Roman"/>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a:t>- </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smtClean="0"/>
                        <a:t>1</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a:t>- </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a:latin typeface="+mn-lt"/>
                          <a:ea typeface="+mn-ea"/>
                          <a:cs typeface="+mn-cs"/>
                        </a:rPr>
                        <a:t>-</a:t>
                      </a:r>
                      <a:endParaRPr lang="en-IN" sz="2000" dirty="0">
                        <a:latin typeface="+mn-lt"/>
                        <a:ea typeface="Times New Roman"/>
                        <a:cs typeface="Times New Roman"/>
                      </a:endParaRPr>
                    </a:p>
                  </a:txBody>
                  <a:tcPr marL="51435" marR="51435" marT="0" marB="0">
                    <a:solidFill>
                      <a:srgbClr val="FCB4B6"/>
                    </a:solidFill>
                  </a:tcPr>
                </a:tc>
                <a:tc>
                  <a:txBody>
                    <a:bodyPr/>
                    <a:lstStyle/>
                    <a:p>
                      <a:pPr algn="ctr">
                        <a:lnSpc>
                          <a:spcPct val="115000"/>
                        </a:lnSpc>
                        <a:spcAft>
                          <a:spcPts val="1000"/>
                        </a:spcAft>
                      </a:pPr>
                      <a:r>
                        <a:rPr lang="en-US" sz="2000" dirty="0" smtClean="0"/>
                        <a:t>1</a:t>
                      </a:r>
                      <a:endParaRPr lang="en-IN" sz="2000" dirty="0">
                        <a:latin typeface="+mn-lt"/>
                        <a:ea typeface="Times New Roman"/>
                        <a:cs typeface="Times New Roman"/>
                      </a:endParaRPr>
                    </a:p>
                  </a:txBody>
                  <a:tcPr marL="51435" marR="51435" marT="0" marB="0">
                    <a:solidFill>
                      <a:srgbClr val="FCB4B6"/>
                    </a:solidFill>
                  </a:tcPr>
                </a:tc>
                <a:extLst>
                  <a:ext uri="{0D108BD9-81ED-4DB2-BD59-A6C34878D82A}">
                    <a16:rowId xmlns:a16="http://schemas.microsoft.com/office/drawing/2014/main" xmlns="" val="10005"/>
                  </a:ext>
                </a:extLst>
              </a:tr>
              <a:tr h="694547">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kumimoji="0" lang="en-US" sz="2000" u="none" strike="noStrike" kern="1200" cap="none" spc="0" normalizeH="0" baseline="0" noProof="0" dirty="0" smtClean="0">
                          <a:ln>
                            <a:noFill/>
                          </a:ln>
                          <a:effectLst/>
                          <a:uLnTx/>
                          <a:uFillTx/>
                        </a:rPr>
                        <a:t>CO5</a:t>
                      </a:r>
                      <a:endParaRPr kumimoji="0" lang="en-IN" sz="2000" b="0" i="0" u="none" strike="noStrike" kern="1200" cap="none" spc="0" normalizeH="0" baseline="0" noProof="0" dirty="0">
                        <a:ln>
                          <a:noFill/>
                        </a:ln>
                        <a:solidFill>
                          <a:prstClr val="black"/>
                        </a:solidFill>
                        <a:effectLst/>
                        <a:uLnTx/>
                        <a:uFillTx/>
                        <a:latin typeface="Calibri"/>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2</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0" dirty="0" smtClean="0">
                          <a:latin typeface="+mn-lt"/>
                          <a:ea typeface="Times New Roman"/>
                          <a:cs typeface="Times New Roman"/>
                        </a:rPr>
                        <a:t>-</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1</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0" dirty="0" smtClean="0">
                          <a:latin typeface="+mn-lt"/>
                          <a:ea typeface="Times New Roman"/>
                          <a:cs typeface="Times New Roman"/>
                        </a:rPr>
                        <a:t>-</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0" dirty="0" smtClean="0">
                          <a:latin typeface="+mn-lt"/>
                          <a:ea typeface="Times New Roman"/>
                          <a:cs typeface="Times New Roman"/>
                        </a:rPr>
                        <a:t>-</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0" dirty="0" smtClean="0">
                          <a:latin typeface="+mn-lt"/>
                          <a:ea typeface="Times New Roman"/>
                          <a:cs typeface="Times New Roman"/>
                        </a:rPr>
                        <a:t>-</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smtClean="0"/>
                        <a:t>3 </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dirty="0"/>
                        <a:t>- </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0" dirty="0" smtClean="0">
                          <a:latin typeface="+mn-lt"/>
                          <a:ea typeface="Times New Roman"/>
                          <a:cs typeface="Times New Roman"/>
                        </a:rPr>
                        <a:t>-</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0" dirty="0" smtClean="0">
                          <a:latin typeface="+mn-lt"/>
                          <a:ea typeface="Times New Roman"/>
                          <a:cs typeface="Times New Roman"/>
                        </a:rPr>
                        <a:t>-</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US" sz="2000" b="0" dirty="0">
                          <a:latin typeface="+mn-lt"/>
                          <a:ea typeface="+mn-ea"/>
                          <a:cs typeface="+mn-cs"/>
                        </a:rPr>
                        <a:t>-</a:t>
                      </a:r>
                      <a:endParaRPr lang="en-IN" sz="2000" b="0" dirty="0">
                        <a:latin typeface="+mn-lt"/>
                        <a:ea typeface="Times New Roman"/>
                        <a:cs typeface="Times New Roman"/>
                      </a:endParaRPr>
                    </a:p>
                  </a:txBody>
                  <a:tcPr marL="51435" marR="51435" marT="0" marB="0">
                    <a:solidFill>
                      <a:srgbClr val="DF5556"/>
                    </a:solidFill>
                  </a:tcPr>
                </a:tc>
                <a:tc>
                  <a:txBody>
                    <a:bodyPr/>
                    <a:lstStyle/>
                    <a:p>
                      <a:pPr algn="ctr">
                        <a:lnSpc>
                          <a:spcPct val="115000"/>
                        </a:lnSpc>
                        <a:spcAft>
                          <a:spcPts val="1000"/>
                        </a:spcAft>
                      </a:pPr>
                      <a:r>
                        <a:rPr lang="en-IN" sz="2000" b="0" dirty="0" smtClean="0">
                          <a:latin typeface="+mn-lt"/>
                          <a:ea typeface="Times New Roman"/>
                          <a:cs typeface="Times New Roman"/>
                        </a:rPr>
                        <a:t>-</a:t>
                      </a:r>
                      <a:endParaRPr lang="en-IN" sz="2000" b="0" dirty="0">
                        <a:latin typeface="+mn-lt"/>
                        <a:ea typeface="Times New Roman"/>
                        <a:cs typeface="Times New Roman"/>
                      </a:endParaRPr>
                    </a:p>
                  </a:txBody>
                  <a:tcPr marL="51435" marR="51435" marT="0" marB="0">
                    <a:solidFill>
                      <a:srgbClr val="DF5556"/>
                    </a:solidFill>
                  </a:tcPr>
                </a:tc>
                <a:extLst>
                  <a:ext uri="{0D108BD9-81ED-4DB2-BD59-A6C34878D82A}">
                    <a16:rowId xmlns:a16="http://schemas.microsoft.com/office/drawing/2014/main" xmlns=""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Program Specific Outcomes</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2" name="TextBox 11">
            <a:extLst>
              <a:ext uri="{FF2B5EF4-FFF2-40B4-BE49-F238E27FC236}">
                <a16:creationId xmlns:a16="http://schemas.microsoft.com/office/drawing/2014/main" xmlns="" id="{58C4CD0A-0EFD-3F48-8DAC-1086050CBA9E}"/>
              </a:ext>
            </a:extLst>
          </p:cNvPr>
          <p:cNvSpPr txBox="1"/>
          <p:nvPr/>
        </p:nvSpPr>
        <p:spPr>
          <a:xfrm>
            <a:off x="342900" y="1371600"/>
            <a:ext cx="8458200" cy="3256276"/>
          </a:xfrm>
          <a:prstGeom prst="rect">
            <a:avLst/>
          </a:prstGeom>
          <a:noFill/>
        </p:spPr>
        <p:txBody>
          <a:bodyPr wrap="square">
            <a:spAutoFit/>
          </a:bodyPr>
          <a:lstStyle/>
          <a:p>
            <a:pPr algn="just" fontAlgn="base">
              <a:lnSpc>
                <a:spcPts val="2100"/>
              </a:lnSpc>
              <a:spcAft>
                <a:spcPts val="1125"/>
              </a:spcAft>
            </a:pPr>
            <a:r>
              <a:rPr lang="en-IN" sz="2400" dirty="0">
                <a:solidFill>
                  <a:srgbClr val="212121"/>
                </a:solidFill>
                <a:effectLst/>
                <a:latin typeface="Times New Roman" pitchFamily="18" charset="0"/>
                <a:ea typeface="Times New Roman" panose="02020603050405020304" pitchFamily="18" charset="0"/>
                <a:cs typeface="Times New Roman" pitchFamily="18" charset="0"/>
              </a:rPr>
              <a:t>Our graduates will be able to</a:t>
            </a:r>
            <a:endParaRPr lang="en-IN" sz="2400" dirty="0">
              <a:effectLst/>
              <a:latin typeface="Times New Roman" pitchFamily="18" charset="0"/>
              <a:ea typeface="Calibri" panose="020F0502020204030204" pitchFamily="34" charset="0"/>
              <a:cs typeface="Times New Roman" pitchFamily="18" charset="0"/>
            </a:endParaRPr>
          </a:p>
          <a:p>
            <a:pPr marL="342900" lvl="0" indent="-342900" algn="just" fontAlgn="base">
              <a:lnSpc>
                <a:spcPct val="115000"/>
              </a:lnSpc>
              <a:spcAft>
                <a:spcPts val="750"/>
              </a:spcAft>
              <a:buSzPts val="1000"/>
              <a:buFont typeface="Symbol" panose="05050102010706020507" pitchFamily="18" charset="2"/>
              <a:buChar char=""/>
              <a:tabLst>
                <a:tab pos="457200" algn="l"/>
              </a:tabLst>
            </a:pPr>
            <a:r>
              <a:rPr lang="en-IN" sz="2400" dirty="0" smtClean="0">
                <a:solidFill>
                  <a:srgbClr val="212121"/>
                </a:solidFill>
                <a:effectLst/>
                <a:latin typeface="Times New Roman" pitchFamily="18" charset="0"/>
                <a:ea typeface="Times New Roman" panose="02020603050405020304" pitchFamily="18" charset="0"/>
                <a:cs typeface="Times New Roman" pitchFamily="18" charset="0"/>
              </a:rPr>
              <a:t>PSO1: Apply </a:t>
            </a:r>
            <a:r>
              <a:rPr lang="en-IN" sz="2400" dirty="0">
                <a:solidFill>
                  <a:srgbClr val="212121"/>
                </a:solidFill>
                <a:effectLst/>
                <a:latin typeface="Times New Roman" pitchFamily="18" charset="0"/>
                <a:ea typeface="Times New Roman" panose="02020603050405020304" pitchFamily="18" charset="0"/>
                <a:cs typeface="Times New Roman" pitchFamily="18" charset="0"/>
              </a:rPr>
              <a:t>suitable techniques, modern tools to solve complex engineering problems in the field of computer science.</a:t>
            </a:r>
            <a:endParaRPr lang="en-IN" sz="2400" dirty="0">
              <a:solidFill>
                <a:srgbClr val="212121"/>
              </a:solidFill>
              <a:effectLst/>
              <a:latin typeface="Times New Roman" pitchFamily="18" charset="0"/>
              <a:ea typeface="Calibri" panose="020F0502020204030204" pitchFamily="34" charset="0"/>
              <a:cs typeface="Times New Roman" pitchFamily="18" charset="0"/>
            </a:endParaRPr>
          </a:p>
          <a:p>
            <a:pPr marL="342900" lvl="0" indent="-342900" algn="just" fontAlgn="base">
              <a:lnSpc>
                <a:spcPct val="115000"/>
              </a:lnSpc>
              <a:spcAft>
                <a:spcPts val="750"/>
              </a:spcAft>
              <a:buSzPts val="1000"/>
              <a:buFont typeface="Symbol" panose="05050102010706020507" pitchFamily="18" charset="2"/>
              <a:buChar char=""/>
              <a:tabLst>
                <a:tab pos="457200" algn="l"/>
              </a:tabLst>
            </a:pPr>
            <a:r>
              <a:rPr lang="en-IN" sz="2400" dirty="0" smtClean="0">
                <a:solidFill>
                  <a:srgbClr val="212121"/>
                </a:solidFill>
                <a:effectLst/>
                <a:latin typeface="Times New Roman" pitchFamily="18" charset="0"/>
                <a:ea typeface="Times New Roman" panose="02020603050405020304" pitchFamily="18" charset="0"/>
                <a:cs typeface="Times New Roman" pitchFamily="18" charset="0"/>
              </a:rPr>
              <a:t>PSO2: Design </a:t>
            </a:r>
            <a:r>
              <a:rPr lang="en-IN" sz="2400" dirty="0">
                <a:solidFill>
                  <a:srgbClr val="212121"/>
                </a:solidFill>
                <a:effectLst/>
                <a:latin typeface="Times New Roman" pitchFamily="18" charset="0"/>
                <a:ea typeface="Times New Roman" panose="02020603050405020304" pitchFamily="18" charset="0"/>
                <a:cs typeface="Times New Roman" pitchFamily="18" charset="0"/>
              </a:rPr>
              <a:t>and optimize, ethical and innovative solutions for the betterment of the society.</a:t>
            </a:r>
            <a:endParaRPr lang="en-IN" sz="2400" dirty="0">
              <a:solidFill>
                <a:srgbClr val="212121"/>
              </a:solidFill>
              <a:effectLst/>
              <a:latin typeface="Times New Roman" pitchFamily="18" charset="0"/>
              <a:ea typeface="Calibri" panose="020F0502020204030204" pitchFamily="34" charset="0"/>
              <a:cs typeface="Times New Roman" pitchFamily="18" charset="0"/>
            </a:endParaRPr>
          </a:p>
          <a:p>
            <a:pPr marL="342900" lvl="0" indent="-342900" algn="just" fontAlgn="base">
              <a:lnSpc>
                <a:spcPct val="115000"/>
              </a:lnSpc>
              <a:spcAft>
                <a:spcPts val="750"/>
              </a:spcAft>
              <a:buSzPts val="1000"/>
              <a:buFont typeface="Symbol" panose="05050102010706020507" pitchFamily="18" charset="2"/>
              <a:buChar char=""/>
              <a:tabLst>
                <a:tab pos="457200" algn="l"/>
              </a:tabLst>
            </a:pPr>
            <a:r>
              <a:rPr lang="en-IN" sz="2400" dirty="0" smtClean="0">
                <a:solidFill>
                  <a:srgbClr val="212121"/>
                </a:solidFill>
                <a:effectLst/>
                <a:latin typeface="Times New Roman" pitchFamily="18" charset="0"/>
                <a:ea typeface="Times New Roman" panose="02020603050405020304" pitchFamily="18" charset="0"/>
                <a:cs typeface="Times New Roman" pitchFamily="18" charset="0"/>
              </a:rPr>
              <a:t>PSO3: Work </a:t>
            </a:r>
            <a:r>
              <a:rPr lang="en-IN" sz="2400" dirty="0">
                <a:solidFill>
                  <a:srgbClr val="212121"/>
                </a:solidFill>
                <a:effectLst/>
                <a:latin typeface="Times New Roman" pitchFamily="18" charset="0"/>
                <a:ea typeface="Times New Roman" panose="02020603050405020304" pitchFamily="18" charset="0"/>
                <a:cs typeface="Times New Roman" pitchFamily="18" charset="0"/>
              </a:rPr>
              <a:t>as an individual or lead in a team with good communication and engage in life-long learning.</a:t>
            </a:r>
            <a:endParaRPr lang="en-IN" sz="2400" dirty="0">
              <a:solidFill>
                <a:srgbClr val="212121"/>
              </a:solidFill>
              <a:effectLst/>
              <a:latin typeface="Times New Roman" pitchFamily="18" charset="0"/>
              <a:ea typeface="Calibri" panose="020F0502020204030204" pitchFamily="34"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Program Educational Objectives</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10"/>
          <p:cNvSpPr/>
          <p:nvPr/>
        </p:nvSpPr>
        <p:spPr>
          <a:xfrm>
            <a:off x="685800" y="1305342"/>
            <a:ext cx="8134672" cy="3816429"/>
          </a:xfrm>
          <a:prstGeom prst="rect">
            <a:avLst/>
          </a:prstGeom>
        </p:spPr>
        <p:txBody>
          <a:bodyPr wrap="square">
            <a:spAutoFit/>
          </a:bodyPr>
          <a:lstStyle/>
          <a:p>
            <a:pPr algn="just">
              <a:buNone/>
            </a:pPr>
            <a:r>
              <a:rPr lang="en-US" sz="2200" dirty="0">
                <a:latin typeface="Times New Roman" panose="02020603050405020304" pitchFamily="18" charset="0"/>
                <a:cs typeface="Times New Roman" panose="02020603050405020304" pitchFamily="18" charset="0"/>
              </a:rPr>
              <a:t>PEO1:  	Conceptual Knowledge to adapt in rapidly changing environment 	and 	learn new skills and demonstrate application of management principles in professional work   setting.</a:t>
            </a:r>
          </a:p>
          <a:p>
            <a:pPr algn="just">
              <a:buNone/>
            </a:pPr>
            <a:r>
              <a:rPr lang="en-US" sz="2200" dirty="0">
                <a:latin typeface="Times New Roman" panose="02020603050405020304" pitchFamily="18" charset="0"/>
                <a:cs typeface="Times New Roman" panose="02020603050405020304" pitchFamily="18" charset="0"/>
              </a:rPr>
              <a:t>	</a:t>
            </a:r>
          </a:p>
          <a:p>
            <a:pPr algn="just">
              <a:buNone/>
            </a:pPr>
            <a:r>
              <a:rPr lang="en-US" sz="2200" dirty="0">
                <a:latin typeface="Times New Roman" panose="02020603050405020304" pitchFamily="18" charset="0"/>
                <a:cs typeface="Times New Roman" panose="02020603050405020304" pitchFamily="18" charset="0"/>
              </a:rPr>
              <a:t>PEO2:  Apply appropriate tools for decision making for solving complex managerial problems in local or global 	context.</a:t>
            </a:r>
          </a:p>
          <a:p>
            <a:pPr algn="just">
              <a:buNone/>
            </a:pPr>
            <a:r>
              <a:rPr lang="en-US" sz="2200" dirty="0">
                <a:latin typeface="Times New Roman" panose="02020603050405020304" pitchFamily="18" charset="0"/>
                <a:cs typeface="Times New Roman" panose="02020603050405020304" pitchFamily="18" charset="0"/>
              </a:rPr>
              <a:t> 		</a:t>
            </a:r>
          </a:p>
          <a:p>
            <a:pPr algn="just">
              <a:buNone/>
            </a:pPr>
            <a:r>
              <a:rPr lang="en-US" sz="2200" dirty="0">
                <a:latin typeface="Times New Roman" panose="02020603050405020304" pitchFamily="18" charset="0"/>
                <a:cs typeface="Times New Roman" panose="02020603050405020304" pitchFamily="18" charset="0"/>
              </a:rPr>
              <a:t>PEO3:  	Exhibit Integrity, social responsibility and teamwork.</a:t>
            </a:r>
          </a:p>
          <a:p>
            <a:pPr algn="just">
              <a:buNone/>
            </a:pPr>
            <a:r>
              <a:rPr lang="en-US" sz="2200" dirty="0">
                <a:latin typeface="Times New Roman" panose="02020603050405020304" pitchFamily="18" charset="0"/>
                <a:cs typeface="Times New Roman" panose="02020603050405020304" pitchFamily="18" charset="0"/>
              </a:rPr>
              <a:t>		</a:t>
            </a:r>
          </a:p>
          <a:p>
            <a:pPr algn="just">
              <a:buNone/>
            </a:pPr>
            <a:r>
              <a:rPr lang="en-US" sz="2200" dirty="0">
                <a:latin typeface="Times New Roman" panose="02020603050405020304" pitchFamily="18" charset="0"/>
                <a:cs typeface="Times New Roman" panose="02020603050405020304" pitchFamily="18" charset="0"/>
              </a:rPr>
              <a:t>PEO4: 	Exhibit ethics, communication skills, leadership qualities and entrepreneurial mindset.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Result Analysis</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1" name="Table 10">
            <a:extLst>
              <a:ext uri="{FF2B5EF4-FFF2-40B4-BE49-F238E27FC236}">
                <a16:creationId xmlns:a16="http://schemas.microsoft.com/office/drawing/2014/main" xmlns="" id="{FB2C7E3F-AA35-151B-3050-AF9FDA52FB24}"/>
              </a:ext>
            </a:extLst>
          </p:cNvPr>
          <p:cNvGraphicFramePr>
            <a:graphicFrameLocks noGrp="1"/>
          </p:cNvGraphicFramePr>
          <p:nvPr>
            <p:extLst>
              <p:ext uri="{D42A27DB-BD31-4B8C-83A1-F6EECF244321}">
                <p14:modId xmlns:p14="http://schemas.microsoft.com/office/powerpoint/2010/main" xmlns="" val="2806854219"/>
              </p:ext>
            </p:extLst>
          </p:nvPr>
        </p:nvGraphicFramePr>
        <p:xfrm>
          <a:off x="304799" y="1236663"/>
          <a:ext cx="8382002" cy="2503487"/>
        </p:xfrm>
        <a:graphic>
          <a:graphicData uri="http://schemas.openxmlformats.org/drawingml/2006/table">
            <a:tbl>
              <a:tblPr firstRow="1" firstCol="1" bandRow="1">
                <a:tableStyleId>{5C22544A-7EE6-4342-B048-85BDC9FD1C3A}</a:tableStyleId>
              </a:tblPr>
              <a:tblGrid>
                <a:gridCol w="846667">
                  <a:extLst>
                    <a:ext uri="{9D8B030D-6E8A-4147-A177-3AD203B41FA5}">
                      <a16:colId xmlns:a16="http://schemas.microsoft.com/office/drawing/2014/main" xmlns="" val="20000"/>
                    </a:ext>
                  </a:extLst>
                </a:gridCol>
                <a:gridCol w="601134">
                  <a:extLst>
                    <a:ext uri="{9D8B030D-6E8A-4147-A177-3AD203B41FA5}">
                      <a16:colId xmlns:a16="http://schemas.microsoft.com/office/drawing/2014/main" xmlns="" val="20001"/>
                    </a:ext>
                  </a:extLst>
                </a:gridCol>
                <a:gridCol w="1037605">
                  <a:extLst>
                    <a:ext uri="{9D8B030D-6E8A-4147-A177-3AD203B41FA5}">
                      <a16:colId xmlns:a16="http://schemas.microsoft.com/office/drawing/2014/main" xmlns="" val="20002"/>
                    </a:ext>
                  </a:extLst>
                </a:gridCol>
                <a:gridCol w="620008">
                  <a:extLst>
                    <a:ext uri="{9D8B030D-6E8A-4147-A177-3AD203B41FA5}">
                      <a16:colId xmlns:a16="http://schemas.microsoft.com/office/drawing/2014/main" xmlns="" val="20003"/>
                    </a:ext>
                  </a:extLst>
                </a:gridCol>
                <a:gridCol w="606946">
                  <a:extLst>
                    <a:ext uri="{9D8B030D-6E8A-4147-A177-3AD203B41FA5}">
                      <a16:colId xmlns:a16="http://schemas.microsoft.com/office/drawing/2014/main" xmlns="" val="20004"/>
                    </a:ext>
                  </a:extLst>
                </a:gridCol>
                <a:gridCol w="674554">
                  <a:extLst>
                    <a:ext uri="{9D8B030D-6E8A-4147-A177-3AD203B41FA5}">
                      <a16:colId xmlns:a16="http://schemas.microsoft.com/office/drawing/2014/main" xmlns="" val="20005"/>
                    </a:ext>
                  </a:extLst>
                </a:gridCol>
                <a:gridCol w="742164">
                  <a:extLst>
                    <a:ext uri="{9D8B030D-6E8A-4147-A177-3AD203B41FA5}">
                      <a16:colId xmlns:a16="http://schemas.microsoft.com/office/drawing/2014/main" xmlns="" val="20006"/>
                    </a:ext>
                  </a:extLst>
                </a:gridCol>
                <a:gridCol w="606946">
                  <a:extLst>
                    <a:ext uri="{9D8B030D-6E8A-4147-A177-3AD203B41FA5}">
                      <a16:colId xmlns:a16="http://schemas.microsoft.com/office/drawing/2014/main" xmlns="" val="20007"/>
                    </a:ext>
                  </a:extLst>
                </a:gridCol>
                <a:gridCol w="674554">
                  <a:extLst>
                    <a:ext uri="{9D8B030D-6E8A-4147-A177-3AD203B41FA5}">
                      <a16:colId xmlns:a16="http://schemas.microsoft.com/office/drawing/2014/main" xmlns="" val="20008"/>
                    </a:ext>
                  </a:extLst>
                </a:gridCol>
                <a:gridCol w="404887">
                  <a:extLst>
                    <a:ext uri="{9D8B030D-6E8A-4147-A177-3AD203B41FA5}">
                      <a16:colId xmlns:a16="http://schemas.microsoft.com/office/drawing/2014/main" xmlns="" val="20009"/>
                    </a:ext>
                  </a:extLst>
                </a:gridCol>
                <a:gridCol w="337278">
                  <a:extLst>
                    <a:ext uri="{9D8B030D-6E8A-4147-A177-3AD203B41FA5}">
                      <a16:colId xmlns:a16="http://schemas.microsoft.com/office/drawing/2014/main" xmlns="" val="20010"/>
                    </a:ext>
                  </a:extLst>
                </a:gridCol>
                <a:gridCol w="337278">
                  <a:extLst>
                    <a:ext uri="{9D8B030D-6E8A-4147-A177-3AD203B41FA5}">
                      <a16:colId xmlns:a16="http://schemas.microsoft.com/office/drawing/2014/main" xmlns="" val="20011"/>
                    </a:ext>
                  </a:extLst>
                </a:gridCol>
                <a:gridCol w="414107">
                  <a:extLst>
                    <a:ext uri="{9D8B030D-6E8A-4147-A177-3AD203B41FA5}">
                      <a16:colId xmlns:a16="http://schemas.microsoft.com/office/drawing/2014/main" xmlns="" val="20012"/>
                    </a:ext>
                  </a:extLst>
                </a:gridCol>
                <a:gridCol w="477874">
                  <a:extLst>
                    <a:ext uri="{9D8B030D-6E8A-4147-A177-3AD203B41FA5}">
                      <a16:colId xmlns:a16="http://schemas.microsoft.com/office/drawing/2014/main" xmlns="" val="20013"/>
                    </a:ext>
                  </a:extLst>
                </a:gridCol>
              </a:tblGrid>
              <a:tr h="400452">
                <a:tc>
                  <a:txBody>
                    <a:bodyPr/>
                    <a:lstStyle/>
                    <a:p>
                      <a:pPr algn="ctr">
                        <a:lnSpc>
                          <a:spcPct val="115000"/>
                        </a:lnSpc>
                        <a:spcAft>
                          <a:spcPts val="1000"/>
                        </a:spcAft>
                      </a:pPr>
                      <a:r>
                        <a:rPr lang="en-US"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gridSpan="5">
                  <a:txBody>
                    <a:bodyPr/>
                    <a:lstStyle/>
                    <a:p>
                      <a:pPr algn="ctr">
                        <a:lnSpc>
                          <a:spcPct val="115000"/>
                        </a:lnSpc>
                        <a:spcAft>
                          <a:spcPts val="1000"/>
                        </a:spcAft>
                      </a:pPr>
                      <a:r>
                        <a:rPr lang="en-US" sz="1100" dirty="0">
                          <a:effectLst/>
                        </a:rPr>
                        <a:t>No. of students  in Marks Range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1146730">
                <a:tc>
                  <a:txBody>
                    <a:bodyPr/>
                    <a:lstStyle/>
                    <a:p>
                      <a:pPr algn="ctr">
                        <a:lnSpc>
                          <a:spcPct val="115000"/>
                        </a:lnSpc>
                        <a:spcAft>
                          <a:spcPts val="1000"/>
                        </a:spcAft>
                      </a:pPr>
                      <a:r>
                        <a:rPr lang="en-US" sz="1000" dirty="0">
                          <a:effectLst/>
                        </a:rPr>
                        <a:t>Subject Name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000">
                          <a:effectLst/>
                        </a:rPr>
                        <a:t>Section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Faculty Name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Total Students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Pass Students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 Section wise Result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Overall % Result of Subject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Highest Marks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Average Marks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40</a:t>
                      </a:r>
                      <a:endParaRPr lang="en-IN" sz="1100" dirty="0">
                        <a:effectLst/>
                      </a:endParaRPr>
                    </a:p>
                    <a:p>
                      <a:pPr algn="ctr">
                        <a:lnSpc>
                          <a:spcPct val="115000"/>
                        </a:lnSpc>
                        <a:spcAft>
                          <a:spcPts val="1000"/>
                        </a:spcAft>
                      </a:pPr>
                      <a:r>
                        <a:rPr lang="en-US" sz="1000" dirty="0">
                          <a:effectLst/>
                        </a:rPr>
                        <a:t>-</a:t>
                      </a:r>
                      <a:endParaRPr lang="en-IN" sz="1100" dirty="0">
                        <a:effectLst/>
                      </a:endParaRPr>
                    </a:p>
                    <a:p>
                      <a:pPr algn="ctr">
                        <a:lnSpc>
                          <a:spcPct val="115000"/>
                        </a:lnSpc>
                        <a:spcAft>
                          <a:spcPts val="1000"/>
                        </a:spcAft>
                      </a:pPr>
                      <a:r>
                        <a:rPr lang="en-US" sz="1000" dirty="0">
                          <a:effectLst/>
                        </a:rPr>
                        <a:t>50</a:t>
                      </a:r>
                      <a:endParaRPr lang="en-IN" sz="1100" dirty="0">
                        <a:effectLst/>
                      </a:endParaRPr>
                    </a:p>
                    <a:p>
                      <a:pPr algn="ctr">
                        <a:lnSpc>
                          <a:spcPct val="115000"/>
                        </a:lnSpc>
                        <a:spcAft>
                          <a:spcPts val="1000"/>
                        </a:spcAft>
                      </a:pPr>
                      <a:r>
                        <a:rPr lang="en-US" sz="10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51-60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61-70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dirty="0">
                          <a:effectLst/>
                        </a:rPr>
                        <a:t>71</a:t>
                      </a:r>
                      <a:endParaRPr lang="en-IN" sz="1100" dirty="0">
                        <a:effectLst/>
                      </a:endParaRPr>
                    </a:p>
                    <a:p>
                      <a:pPr algn="ctr">
                        <a:lnSpc>
                          <a:spcPct val="115000"/>
                        </a:lnSpc>
                        <a:spcAft>
                          <a:spcPts val="1000"/>
                        </a:spcAft>
                      </a:pPr>
                      <a:r>
                        <a:rPr lang="en-US" sz="1000" dirty="0">
                          <a:effectLst/>
                        </a:rPr>
                        <a:t>-</a:t>
                      </a:r>
                      <a:endParaRPr lang="en-IN" sz="1100" dirty="0">
                        <a:effectLst/>
                      </a:endParaRPr>
                    </a:p>
                    <a:p>
                      <a:pPr algn="ctr">
                        <a:lnSpc>
                          <a:spcPct val="115000"/>
                        </a:lnSpc>
                        <a:spcAft>
                          <a:spcPts val="1000"/>
                        </a:spcAft>
                      </a:pPr>
                      <a:r>
                        <a:rPr lang="en-US" sz="1000" dirty="0">
                          <a:effectLst/>
                        </a:rPr>
                        <a:t>80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r>
                        <a:rPr lang="en-US" sz="1000">
                          <a:effectLst/>
                        </a:rPr>
                        <a:t>&gt;81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extLst>
                  <a:ext uri="{0D108BD9-81ED-4DB2-BD59-A6C34878D82A}">
                    <a16:rowId xmlns:a16="http://schemas.microsoft.com/office/drawing/2014/main" xmlns="" val="10001"/>
                  </a:ext>
                </a:extLst>
              </a:tr>
              <a:tr h="956305">
                <a:tc>
                  <a:txBody>
                    <a:bodyPr/>
                    <a:lstStyle/>
                    <a:p>
                      <a:pPr>
                        <a:lnSpc>
                          <a:spcPct val="115000"/>
                        </a:lnSpc>
                        <a:spcAft>
                          <a:spcPts val="1000"/>
                        </a:spcAft>
                      </a:pPr>
                      <a:r>
                        <a:rPr lang="en-US" sz="1200" dirty="0" smtClean="0">
                          <a:effectLst/>
                        </a:rPr>
                        <a:t>Digital Marketing</a:t>
                      </a:r>
                      <a:endParaRPr lang="en-IN" sz="1100" dirty="0">
                        <a:effectLst/>
                      </a:endParaRPr>
                    </a:p>
                    <a:p>
                      <a:pPr algn="ctr">
                        <a:lnSpc>
                          <a:spcPct val="115000"/>
                        </a:lnSpc>
                        <a:spcAft>
                          <a:spcPts val="1000"/>
                        </a:spcAft>
                      </a:pPr>
                      <a:r>
                        <a:rPr lang="en-US" sz="12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algn="ctr">
                        <a:lnSpc>
                          <a:spcPct val="115000"/>
                        </a:lnSpc>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tc>
                  <a:txBody>
                    <a:bodyPr/>
                    <a:lstStyle/>
                    <a:p>
                      <a:pPr algn="ctr">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tcPr>
                </a:tc>
                <a:extLst>
                  <a:ext uri="{0D108BD9-81ED-4DB2-BD59-A6C34878D82A}">
                    <a16:rowId xmlns:a16="http://schemas.microsoft.com/office/drawing/2014/main" xmlns=""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End Semester Question Paper Template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1" name="Picture 10"/>
          <p:cNvPicPr>
            <a:picLocks noChangeAspect="1"/>
          </p:cNvPicPr>
          <p:nvPr/>
        </p:nvPicPr>
        <p:blipFill>
          <a:blip r:embed="rId3"/>
          <a:stretch>
            <a:fillRect/>
          </a:stretch>
        </p:blipFill>
        <p:spPr>
          <a:xfrm>
            <a:off x="725090" y="819686"/>
            <a:ext cx="7693819" cy="521862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End Semester Question Paper Template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462940" y="859313"/>
            <a:ext cx="8218120" cy="51393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End Semester Question Paper Template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1" name="Picture 10"/>
          <p:cNvPicPr>
            <a:picLocks noChangeAspect="1"/>
          </p:cNvPicPr>
          <p:nvPr/>
        </p:nvPicPr>
        <p:blipFill>
          <a:blip r:embed="rId3"/>
          <a:stretch>
            <a:fillRect/>
          </a:stretch>
        </p:blipFill>
        <p:spPr>
          <a:xfrm>
            <a:off x="381000" y="752624"/>
            <a:ext cx="8381999" cy="535275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Prerequisite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3" name="Content Placeholder 2"/>
          <p:cNvSpPr txBox="1">
            <a:spLocks/>
          </p:cNvSpPr>
          <p:nvPr/>
        </p:nvSpPr>
        <p:spPr>
          <a:xfrm>
            <a:off x="533400" y="1143000"/>
            <a:ext cx="82296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Student should have a primary understanding of management thought.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Students should be having preliminary knowledge of planning.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Brief Introduction about the Subject</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9" name="Content Placeholder 2"/>
          <p:cNvSpPr txBox="1">
            <a:spLocks/>
          </p:cNvSpPr>
          <p:nvPr/>
        </p:nvSpPr>
        <p:spPr>
          <a:xfrm>
            <a:off x="533400" y="1143000"/>
            <a:ext cx="8229600" cy="4525963"/>
          </a:xfrm>
          <a:prstGeom prst="rect">
            <a:avLst/>
          </a:prstGeom>
        </p:spPr>
        <p:txBody>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 Management comprises planning, organizing, staffing, leading or directing, and controlling an organization to accomplish a goal. It also includes resourcing that encompasses the deployment and manipulation of human resources, financial resources, technological resources, and natural resources. Organizational Behavior (OB) can be defined as the understanding, prediction and management of human behavior both individually or in a group that occur within an organization. Internal and external perspectives are the two theories of how organizational behavior can be viewed from an organization's point of view.</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Unit Objectives</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Content Placeholder 2"/>
          <p:cNvSpPr txBox="1">
            <a:spLocks/>
          </p:cNvSpPr>
          <p:nvPr/>
        </p:nvSpPr>
        <p:spPr>
          <a:xfrm>
            <a:off x="533400" y="1143000"/>
            <a:ext cx="8229600" cy="4525963"/>
          </a:xfrm>
          <a:prstGeom prst="rect">
            <a:avLst/>
          </a:prstGeom>
        </p:spPr>
        <p:txBody>
          <a:bodyPr>
            <a:normAutofit/>
          </a:bodyPr>
          <a:lstStyle/>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 objectives of this unit are: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To understand the concept, nature and scope of Organizational behaviour</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To understand i</a:t>
            </a: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mportance of OB in understanding Human behaviour</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To gain an understanding of  the cognitive processes</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To learn about different attribution errors.</a:t>
            </a: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Topic Objective/ Topic Outcome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533400" y="1066800"/>
            <a:ext cx="82296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Content Placeholder 8">
            <a:extLst>
              <a:ext uri="{FF2B5EF4-FFF2-40B4-BE49-F238E27FC236}">
                <a16:creationId xmlns="" xmlns:a16="http://schemas.microsoft.com/office/drawing/2014/main" id="{B48416E4-E089-4F59-9BEB-F5821EF943BD}"/>
              </a:ext>
            </a:extLst>
          </p:cNvPr>
          <p:cNvGraphicFramePr>
            <a:graphicFrameLocks/>
          </p:cNvGraphicFramePr>
          <p:nvPr>
            <p:extLst>
              <p:ext uri="{D42A27DB-BD31-4B8C-83A1-F6EECF244321}">
                <p14:modId xmlns="" xmlns:p14="http://schemas.microsoft.com/office/powerpoint/2010/main" val="729673794"/>
              </p:ext>
            </p:extLst>
          </p:nvPr>
        </p:nvGraphicFramePr>
        <p:xfrm>
          <a:off x="152401" y="1143000"/>
          <a:ext cx="8839199" cy="4655684"/>
        </p:xfrm>
        <a:graphic>
          <a:graphicData uri="http://schemas.openxmlformats.org/drawingml/2006/table">
            <a:tbl>
              <a:tblPr firstRow="1" bandRow="1">
                <a:tableStyleId>{5C22544A-7EE6-4342-B048-85BDC9FD1C3A}</a:tableStyleId>
              </a:tblPr>
              <a:tblGrid>
                <a:gridCol w="3886199">
                  <a:extLst>
                    <a:ext uri="{9D8B030D-6E8A-4147-A177-3AD203B41FA5}">
                      <a16:colId xmlns="" xmlns:a16="http://schemas.microsoft.com/office/drawing/2014/main" val="20000"/>
                    </a:ext>
                  </a:extLst>
                </a:gridCol>
                <a:gridCol w="3305014">
                  <a:extLst>
                    <a:ext uri="{9D8B030D-6E8A-4147-A177-3AD203B41FA5}">
                      <a16:colId xmlns="" xmlns:a16="http://schemas.microsoft.com/office/drawing/2014/main" val="20001"/>
                    </a:ext>
                  </a:extLst>
                </a:gridCol>
                <a:gridCol w="1647986">
                  <a:extLst>
                    <a:ext uri="{9D8B030D-6E8A-4147-A177-3AD203B41FA5}">
                      <a16:colId xmlns="" xmlns:a16="http://schemas.microsoft.com/office/drawing/2014/main" val="20002"/>
                    </a:ext>
                  </a:extLst>
                </a:gridCol>
              </a:tblGrid>
              <a:tr h="385093">
                <a:tc>
                  <a:txBody>
                    <a:bodyPr/>
                    <a:lstStyle/>
                    <a:p>
                      <a:pPr algn="ctr"/>
                      <a:r>
                        <a:rPr lang="en-US" sz="2000" dirty="0">
                          <a:solidFill>
                            <a:schemeClr val="tx1"/>
                          </a:solidFill>
                          <a:latin typeface="Times New Roman" pitchFamily="18" charset="0"/>
                          <a:cs typeface="Times New Roman" pitchFamily="18" charset="0"/>
                        </a:rPr>
                        <a:t>Name of Topic</a:t>
                      </a:r>
                    </a:p>
                  </a:txBody>
                  <a:tcPr marL="118872" marR="118872" marT="45696" marB="45696" anchor="ctr">
                    <a:solidFill>
                      <a:srgbClr val="DF5556"/>
                    </a:solidFill>
                  </a:tcPr>
                </a:tc>
                <a:tc>
                  <a:txBody>
                    <a:bodyPr/>
                    <a:lstStyle/>
                    <a:p>
                      <a:pPr algn="ctr"/>
                      <a:r>
                        <a:rPr lang="en-US" sz="2000" dirty="0">
                          <a:solidFill>
                            <a:schemeClr val="tx1"/>
                          </a:solidFill>
                          <a:latin typeface="Times New Roman" pitchFamily="18" charset="0"/>
                          <a:cs typeface="Times New Roman" pitchFamily="18" charset="0"/>
                        </a:rPr>
                        <a:t>Objective</a:t>
                      </a:r>
                      <a:r>
                        <a:rPr lang="en-US" sz="2000" baseline="0" dirty="0">
                          <a:solidFill>
                            <a:schemeClr val="tx1"/>
                          </a:solidFill>
                          <a:latin typeface="Times New Roman" pitchFamily="18" charset="0"/>
                          <a:cs typeface="Times New Roman" pitchFamily="18" charset="0"/>
                        </a:rPr>
                        <a:t> of Topic</a:t>
                      </a:r>
                      <a:endParaRPr lang="en-US" sz="2000" dirty="0">
                        <a:solidFill>
                          <a:schemeClr val="tx1"/>
                        </a:solidFill>
                        <a:latin typeface="Times New Roman" pitchFamily="18" charset="0"/>
                        <a:cs typeface="Times New Roman" pitchFamily="18" charset="0"/>
                      </a:endParaRPr>
                    </a:p>
                  </a:txBody>
                  <a:tcPr marL="118872" marR="118872" marT="45696" marB="45696" anchor="ctr">
                    <a:solidFill>
                      <a:srgbClr val="DF5556"/>
                    </a:solidFill>
                  </a:tcPr>
                </a:tc>
                <a:tc>
                  <a:txBody>
                    <a:bodyPr/>
                    <a:lstStyle/>
                    <a:p>
                      <a:pPr algn="ctr"/>
                      <a:r>
                        <a:rPr lang="en-US" sz="2000" dirty="0">
                          <a:solidFill>
                            <a:schemeClr val="tx1"/>
                          </a:solidFill>
                          <a:latin typeface="Times New Roman" pitchFamily="18" charset="0"/>
                          <a:cs typeface="Times New Roman" pitchFamily="18" charset="0"/>
                        </a:rPr>
                        <a:t>Mapping with CO</a:t>
                      </a:r>
                    </a:p>
                  </a:txBody>
                  <a:tcPr marL="118872" marR="118872" marT="45696" marB="45696" anchor="ctr">
                    <a:solidFill>
                      <a:srgbClr val="DF5556"/>
                    </a:solidFill>
                  </a:tcPr>
                </a:tc>
                <a:extLst>
                  <a:ext uri="{0D108BD9-81ED-4DB2-BD59-A6C34878D82A}">
                    <a16:rowId xmlns="" xmlns:a16="http://schemas.microsoft.com/office/drawing/2014/main" val="10000"/>
                  </a:ext>
                </a:extLst>
              </a:tr>
              <a:tr h="1273250">
                <a:tc>
                  <a:txBody>
                    <a:bodyPr/>
                    <a:lstStyle/>
                    <a:p>
                      <a:pPr algn="just">
                        <a:lnSpc>
                          <a:spcPct val="160000"/>
                        </a:lnSpc>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Introduction to OB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18872" marR="118872" marT="45696" marB="45696">
                    <a:solidFill>
                      <a:srgbClr val="FCB4B6"/>
                    </a:solidFill>
                  </a:tcPr>
                </a:tc>
                <a:tc>
                  <a:txBody>
                    <a:bodyPr/>
                    <a:lstStyle/>
                    <a:p>
                      <a:pPr>
                        <a:defRPr/>
                      </a:pPr>
                      <a:r>
                        <a:rPr lang="en-US" sz="2000" dirty="0" smtClean="0">
                          <a:latin typeface="Times New Roman" panose="02020603050405020304" pitchFamily="18" charset="0"/>
                          <a:cs typeface="Times New Roman" panose="02020603050405020304" pitchFamily="18" charset="0"/>
                        </a:rPr>
                        <a:t>To understand the Organization</a:t>
                      </a:r>
                      <a:endParaRPr lang="en-US" sz="2000" dirty="0">
                        <a:latin typeface="Times New Roman" panose="02020603050405020304" pitchFamily="18" charset="0"/>
                        <a:cs typeface="Times New Roman" panose="02020603050405020304" pitchFamily="18" charset="0"/>
                      </a:endParaRPr>
                    </a:p>
                  </a:txBody>
                  <a:tcPr>
                    <a:solidFill>
                      <a:srgbClr val="FCB4B6"/>
                    </a:solidFill>
                  </a:tcPr>
                </a:tc>
                <a:tc>
                  <a:txBody>
                    <a:bodyPr/>
                    <a:lstStyle/>
                    <a:p>
                      <a:pPr algn="ctr"/>
                      <a:endParaRPr lang="en-US" sz="1900" b="0" dirty="0">
                        <a:latin typeface="Times New Roman" pitchFamily="18" charset="0"/>
                        <a:cs typeface="Times New Roman" pitchFamily="18" charset="0"/>
                      </a:endParaRPr>
                    </a:p>
                    <a:p>
                      <a:pPr algn="ctr"/>
                      <a:endParaRPr lang="en-US" sz="1100" b="0" dirty="0">
                        <a:latin typeface="Times New Roman" pitchFamily="18" charset="0"/>
                        <a:cs typeface="Times New Roman" pitchFamily="18" charset="0"/>
                      </a:endParaRPr>
                    </a:p>
                    <a:p>
                      <a:pPr algn="ctr"/>
                      <a:r>
                        <a:rPr lang="en-US" sz="2000" b="0" dirty="0" smtClean="0">
                          <a:latin typeface="Times New Roman" pitchFamily="18" charset="0"/>
                          <a:cs typeface="Times New Roman" pitchFamily="18" charset="0"/>
                        </a:rPr>
                        <a:t>CO1</a:t>
                      </a:r>
                      <a:endParaRPr lang="en-US" sz="2000" b="0" dirty="0">
                        <a:latin typeface="Times New Roman" pitchFamily="18" charset="0"/>
                        <a:cs typeface="Times New Roman" pitchFamily="18" charset="0"/>
                      </a:endParaRPr>
                    </a:p>
                  </a:txBody>
                  <a:tcPr marL="118872" marR="118872" marT="45696" marB="45696">
                    <a:solidFill>
                      <a:srgbClr val="FCB4B6"/>
                    </a:solidFill>
                  </a:tcPr>
                </a:tc>
                <a:extLst>
                  <a:ext uri="{0D108BD9-81ED-4DB2-BD59-A6C34878D82A}">
                    <a16:rowId xmlns="" xmlns:a16="http://schemas.microsoft.com/office/drawing/2014/main" val="10001"/>
                  </a:ext>
                </a:extLst>
              </a:tr>
              <a:tr h="1273250">
                <a:tc>
                  <a:txBody>
                    <a:bodyPr/>
                    <a:lstStyle/>
                    <a:p>
                      <a:pPr algn="just">
                        <a:lnSpc>
                          <a:spcPct val="160000"/>
                        </a:lnSpc>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Definition, Nature and scope</a:t>
                      </a:r>
                    </a:p>
                    <a:p>
                      <a:pPr marL="0" marR="0" lvl="0" indent="0" algn="ctr" defTabSz="914400" rtl="0" eaLnBrk="1" fontAlgn="auto" latinLnBrk="0" hangingPunct="1">
                        <a:lnSpc>
                          <a:spcPct val="150000"/>
                        </a:lnSpc>
                        <a:spcBef>
                          <a:spcPts val="0"/>
                        </a:spcBef>
                        <a:spcAft>
                          <a:spcPts val="0"/>
                        </a:spcAft>
                        <a:buClrTx/>
                        <a:buSzTx/>
                        <a:buFontTx/>
                        <a:buNone/>
                        <a:tabLst/>
                        <a:defRPr/>
                      </a:pPr>
                      <a:endParaRPr lang="en-US" sz="2000" b="0" dirty="0">
                        <a:latin typeface="Times New Roman" pitchFamily="18" charset="0"/>
                        <a:cs typeface="Times New Roman" pitchFamily="18" charset="0"/>
                      </a:endParaRPr>
                    </a:p>
                  </a:txBody>
                  <a:tcPr marL="118872" marR="118872" marT="45696" marB="45696">
                    <a:solidFill>
                      <a:srgbClr val="DF5556"/>
                    </a:solidFill>
                  </a:tcPr>
                </a:tc>
                <a:tc>
                  <a:txBody>
                    <a:bodyPr/>
                    <a:lstStyle/>
                    <a:p>
                      <a:pPr>
                        <a:defRPr/>
                      </a:pPr>
                      <a:r>
                        <a:rPr kumimoji="0" 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To understand the </a:t>
                      </a:r>
                      <a:r>
                        <a:rPr lang="en-US" sz="2000" dirty="0" smtClean="0">
                          <a:latin typeface="Times New Roman" panose="02020603050405020304" pitchFamily="18" charset="0"/>
                          <a:cs typeface="Times New Roman" panose="02020603050405020304" pitchFamily="18" charset="0"/>
                        </a:rPr>
                        <a:t>concept of OB</a:t>
                      </a:r>
                      <a:endParaRPr kumimoji="0" 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solidFill>
                      <a:srgbClr val="DF5556"/>
                    </a:solidFill>
                  </a:tcPr>
                </a:tc>
                <a:tc>
                  <a:txBody>
                    <a:bodyPr/>
                    <a:lstStyle/>
                    <a:p>
                      <a:pPr algn="ctr"/>
                      <a:r>
                        <a:rPr lang="en-US" sz="2000" b="0" dirty="0" smtClean="0">
                          <a:latin typeface="Times New Roman" pitchFamily="18" charset="0"/>
                          <a:cs typeface="Times New Roman" pitchFamily="18" charset="0"/>
                        </a:rPr>
                        <a:t>CO1</a:t>
                      </a:r>
                      <a:endParaRPr lang="en-US" sz="2000" b="0" dirty="0">
                        <a:latin typeface="Times New Roman" pitchFamily="18" charset="0"/>
                        <a:cs typeface="Times New Roman" pitchFamily="18" charset="0"/>
                      </a:endParaRPr>
                    </a:p>
                  </a:txBody>
                  <a:tcPr marL="118872" marR="118872" marT="45696" marB="45696">
                    <a:solidFill>
                      <a:srgbClr val="DF5556"/>
                    </a:solidFill>
                  </a:tcPr>
                </a:tc>
              </a:tr>
              <a:tr h="1273250">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Scope – Environmental and organizational context </a:t>
                      </a:r>
                      <a:endParaRPr lang="en-US" sz="2000" dirty="0" smtClean="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endParaRPr lang="en-US" sz="2000" b="0" dirty="0">
                        <a:latin typeface="Times New Roman" pitchFamily="18" charset="0"/>
                        <a:cs typeface="Times New Roman" pitchFamily="18" charset="0"/>
                      </a:endParaRPr>
                    </a:p>
                  </a:txBody>
                  <a:tcPr marL="118872" marR="118872" marT="45696" marB="45696">
                    <a:solidFill>
                      <a:srgbClr val="DF5556"/>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To understand the </a:t>
                      </a:r>
                      <a:r>
                        <a:rPr lang="en-US" sz="2000" dirty="0" smtClean="0">
                          <a:latin typeface="Times New Roman" panose="02020603050405020304" pitchFamily="18" charset="0"/>
                          <a:cs typeface="Times New Roman" panose="02020603050405020304" pitchFamily="18" charset="0"/>
                        </a:rPr>
                        <a:t>concept of OB in organizational context</a:t>
                      </a:r>
                      <a:endParaRPr kumimoji="0" 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defRPr/>
                      </a:pPr>
                      <a:endParaRPr kumimoji="0" 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solidFill>
                      <a:srgbClr val="DF5556"/>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smtClean="0">
                          <a:latin typeface="Times New Roman" pitchFamily="18" charset="0"/>
                          <a:cs typeface="Times New Roman" pitchFamily="18" charset="0"/>
                        </a:rPr>
                        <a:t>CO1</a:t>
                      </a:r>
                    </a:p>
                    <a:p>
                      <a:pPr algn="ctr"/>
                      <a:endParaRPr lang="en-US" sz="2000" b="0" dirty="0">
                        <a:latin typeface="Times New Roman" pitchFamily="18" charset="0"/>
                        <a:cs typeface="Times New Roman" pitchFamily="18" charset="0"/>
                      </a:endParaRPr>
                    </a:p>
                  </a:txBody>
                  <a:tcPr marL="118872" marR="118872" marT="45696" marB="45696">
                    <a:solidFill>
                      <a:srgbClr val="DF5556"/>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Meaning of Organization </a:t>
            </a:r>
            <a:r>
              <a:rPr lang="en-US" sz="2400" b="1" dirty="0" err="1" smtClean="0">
                <a:solidFill>
                  <a:prstClr val="black"/>
                </a:solidFill>
                <a:latin typeface="Times New Roman" panose="02020603050405020304" pitchFamily="18" charset="0"/>
                <a:cs typeface="Times New Roman" panose="02020603050405020304" pitchFamily="18" charset="0"/>
              </a:rPr>
              <a:t>Behaviour</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9" name="Content Placeholder 2"/>
          <p:cNvSpPr txBox="1">
            <a:spLocks/>
          </p:cNvSpPr>
          <p:nvPr/>
        </p:nvSpPr>
        <p:spPr>
          <a:xfrm>
            <a:off x="381000" y="914400"/>
            <a:ext cx="8382000" cy="5158186"/>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 name="Content Placeholder 2"/>
          <p:cNvSpPr txBox="1">
            <a:spLocks/>
          </p:cNvSpPr>
          <p:nvPr/>
        </p:nvSpPr>
        <p:spPr>
          <a:xfrm>
            <a:off x="685800" y="1268760"/>
            <a:ext cx="3310136" cy="4400203"/>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smtClean="0">
                <a:ln>
                  <a:noFill/>
                </a:ln>
                <a:solidFill>
                  <a:srgbClr val="111111"/>
                </a:solidFill>
                <a:effectLst/>
                <a:uLnTx/>
                <a:uFillTx/>
                <a:latin typeface="Times New Roman" panose="02020603050405020304" pitchFamily="18" charset="0"/>
                <a:ea typeface="+mn-ea"/>
                <a:cs typeface="Times New Roman" panose="02020603050405020304" pitchFamily="18" charset="0"/>
              </a:rPr>
              <a:t>Organizational behavior is the study of human behavior in an organizational setting.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smtClean="0">
                <a:ln>
                  <a:noFill/>
                </a:ln>
                <a:solidFill>
                  <a:srgbClr val="111111"/>
                </a:solidFill>
                <a:effectLst/>
                <a:uLnTx/>
                <a:uFillTx/>
                <a:latin typeface="Times New Roman" panose="02020603050405020304" pitchFamily="18" charset="0"/>
                <a:ea typeface="+mn-ea"/>
                <a:cs typeface="Times New Roman" panose="02020603050405020304" pitchFamily="18" charset="0"/>
              </a:rPr>
              <a:t>This includes how individuals interact with each other in addition to how individuals interact with the organization itself.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smtClean="0">
                <a:ln>
                  <a:noFill/>
                </a:ln>
                <a:solidFill>
                  <a:srgbClr val="111111"/>
                </a:solidFill>
                <a:effectLst/>
                <a:uLnTx/>
                <a:uFillTx/>
                <a:latin typeface="Times New Roman" panose="02020603050405020304" pitchFamily="18" charset="0"/>
                <a:ea typeface="+mn-ea"/>
                <a:cs typeface="Times New Roman" panose="02020603050405020304" pitchFamily="18" charset="0"/>
              </a:rPr>
              <a:t>Organizational behavior is a critical part of human resources, though it is embedded across a company.</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 descr="Organizational Behavior">
            <a:extLst>
              <a:ext uri="{FF2B5EF4-FFF2-40B4-BE49-F238E27FC236}">
                <a16:creationId xmlns:a16="http://schemas.microsoft.com/office/drawing/2014/main" xmlns="" id="{28E5B9D0-D893-3AB2-C503-BECC119ABE11}"/>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122248" y="1495126"/>
            <a:ext cx="3122160" cy="3915074"/>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Organization </a:t>
            </a:r>
            <a:r>
              <a:rPr lang="en-US" sz="2400" b="1" dirty="0" err="1" smtClean="0">
                <a:solidFill>
                  <a:prstClr val="black"/>
                </a:solidFill>
                <a:latin typeface="Times New Roman" panose="02020603050405020304" pitchFamily="18" charset="0"/>
                <a:cs typeface="Times New Roman" panose="02020603050405020304" pitchFamily="18" charset="0"/>
              </a:rPr>
              <a:t>Behaviour</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9" name="TextBox 8">
            <a:extLst>
              <a:ext uri="{FF2B5EF4-FFF2-40B4-BE49-F238E27FC236}">
                <a16:creationId xmlns:a16="http://schemas.microsoft.com/office/drawing/2014/main" xmlns="" id="{0B72660C-BF56-DE22-FF5A-2C1CE5CF8776}"/>
              </a:ext>
            </a:extLst>
          </p:cNvPr>
          <p:cNvSpPr txBox="1"/>
          <p:nvPr/>
        </p:nvSpPr>
        <p:spPr>
          <a:xfrm>
            <a:off x="780094" y="1556792"/>
            <a:ext cx="7906706" cy="3046988"/>
          </a:xfrm>
          <a:prstGeom prst="rect">
            <a:avLst/>
          </a:prstGeom>
          <a:noFill/>
        </p:spPr>
        <p:txBody>
          <a:bodyPr wrap="square">
            <a:spAutoFit/>
          </a:bodyPr>
          <a:lstStyle/>
          <a:p>
            <a:pPr algn="just">
              <a:buFont typeface="Arial" panose="020B0604020202020204"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Organizational behavior is the academic study of how people interact within groups and its principles are applied primarily in attempts to make businesses operate more effectively.</a:t>
            </a:r>
          </a:p>
          <a:p>
            <a:pPr algn="just"/>
            <a:endParaRPr lang="en-US" sz="2400" b="0" i="0" dirty="0">
              <a:solidFill>
                <a:srgbClr val="111111"/>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The study of organizational behavior includes areas of research dedicated to improving job performance, increasing job satisfaction, promoting innovation, and encouraging leadership and is a foundation of corporate human resources</a:t>
            </a:r>
            <a:r>
              <a:rPr lang="en-US" sz="2400" b="0" i="0" dirty="0">
                <a:solidFill>
                  <a:srgbClr val="111111"/>
                </a:solidFill>
                <a:effectLst/>
                <a:latin typeface="SourceSansPro"/>
              </a:rPr>
              <a: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Definitions of Organization </a:t>
            </a:r>
            <a:r>
              <a:rPr lang="en-US" sz="2400" b="1" dirty="0" err="1" smtClean="0">
                <a:solidFill>
                  <a:prstClr val="black"/>
                </a:solidFill>
                <a:latin typeface="Times New Roman" panose="02020603050405020304" pitchFamily="18" charset="0"/>
                <a:cs typeface="Times New Roman" panose="02020603050405020304" pitchFamily="18" charset="0"/>
              </a:rPr>
              <a:t>Behaviour</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2" name="Rectangle 3"/>
          <p:cNvSpPr txBox="1">
            <a:spLocks noChangeArrowheads="1"/>
          </p:cNvSpPr>
          <p:nvPr/>
        </p:nvSpPr>
        <p:spPr>
          <a:xfrm>
            <a:off x="457200" y="1609725"/>
            <a:ext cx="7239000" cy="4846638"/>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Rectangle 3"/>
          <p:cNvSpPr txBox="1">
            <a:spLocks noChangeArrowheads="1"/>
          </p:cNvSpPr>
          <p:nvPr/>
        </p:nvSpPr>
        <p:spPr>
          <a:xfrm>
            <a:off x="457200" y="914400"/>
            <a:ext cx="8305800" cy="41910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r"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TextBox 12">
            <a:extLst>
              <a:ext uri="{FF2B5EF4-FFF2-40B4-BE49-F238E27FC236}">
                <a16:creationId xmlns:a16="http://schemas.microsoft.com/office/drawing/2014/main" xmlns="" id="{8FA03744-1FD5-A08B-3E50-A0FFBB7F98EF}"/>
              </a:ext>
            </a:extLst>
          </p:cNvPr>
          <p:cNvSpPr txBox="1"/>
          <p:nvPr/>
        </p:nvSpPr>
        <p:spPr>
          <a:xfrm>
            <a:off x="251520" y="972894"/>
            <a:ext cx="5760640" cy="2462213"/>
          </a:xfrm>
          <a:prstGeom prst="rect">
            <a:avLst/>
          </a:prstGeom>
          <a:noFill/>
        </p:spPr>
        <p:txBody>
          <a:bodyPr wrap="square">
            <a:spAutoFit/>
          </a:bodyPr>
          <a:lstStyle/>
          <a:p>
            <a:pPr algn="just" rtl="0"/>
            <a:r>
              <a:rPr lang="en-US" sz="2200" dirty="0">
                <a:latin typeface="Times New Roman" panose="02020603050405020304" pitchFamily="18" charset="0"/>
                <a:cs typeface="Times New Roman" panose="02020603050405020304" pitchFamily="18" charset="0"/>
              </a:rPr>
              <a:t>According to Stephen P Robbins - “</a:t>
            </a:r>
            <a:r>
              <a:rPr lang="en-US" sz="2200" dirty="0" err="1">
                <a:latin typeface="Times New Roman" panose="02020603050405020304" pitchFamily="18" charset="0"/>
                <a:cs typeface="Times New Roman" panose="02020603050405020304" pitchFamily="18" charset="0"/>
              </a:rPr>
              <a:t>Organisational</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behaviour</a:t>
            </a:r>
            <a:r>
              <a:rPr lang="en-US" sz="2200" dirty="0">
                <a:latin typeface="Times New Roman" panose="02020603050405020304" pitchFamily="18" charset="0"/>
                <a:cs typeface="Times New Roman" panose="02020603050405020304" pitchFamily="18" charset="0"/>
              </a:rPr>
              <a:t> is a field of study that investigates the impact that individuals, groups and structure have on </a:t>
            </a:r>
            <a:r>
              <a:rPr lang="en-US" sz="2200" dirty="0" err="1">
                <a:latin typeface="Times New Roman" panose="02020603050405020304" pitchFamily="18" charset="0"/>
                <a:cs typeface="Times New Roman" panose="02020603050405020304" pitchFamily="18" charset="0"/>
              </a:rPr>
              <a:t>behaviours</a:t>
            </a:r>
            <a:r>
              <a:rPr lang="en-US" sz="2200" dirty="0">
                <a:latin typeface="Times New Roman" panose="02020603050405020304" pitchFamily="18" charset="0"/>
                <a:cs typeface="Times New Roman" panose="02020603050405020304" pitchFamily="18" charset="0"/>
              </a:rPr>
              <a:t> within the organizations for the purpose of applying such knowledge towards improving an organizations effectiveness”</a:t>
            </a:r>
            <a:endParaRPr lang="en-US" sz="2200" b="0" i="0" dirty="0">
              <a:solidFill>
                <a:srgbClr val="212121"/>
              </a:solidFill>
              <a:effectLst/>
              <a:latin typeface="Times New Roman" panose="02020603050405020304" pitchFamily="18" charset="0"/>
              <a:cs typeface="Times New Roman" panose="02020603050405020304" pitchFamily="18" charset="0"/>
            </a:endParaRPr>
          </a:p>
        </p:txBody>
      </p:sp>
      <p:pic>
        <p:nvPicPr>
          <p:cNvPr id="15" name="Picture 4" descr="Stephen P. Robbins | InformIT">
            <a:extLst>
              <a:ext uri="{FF2B5EF4-FFF2-40B4-BE49-F238E27FC236}">
                <a16:creationId xmlns:a16="http://schemas.microsoft.com/office/drawing/2014/main" xmlns="" id="{9B7832CE-968E-7E2D-3EBD-E7A1BDCC509A}"/>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324906" y="1052737"/>
            <a:ext cx="1991510" cy="2165026"/>
          </a:xfrm>
          <a:prstGeom prst="rect">
            <a:avLst/>
          </a:prstGeom>
          <a:noFill/>
          <a:extLst>
            <a:ext uri="{909E8E84-426E-40DD-AFC4-6F175D3DCCD1}">
              <a14:hiddenFill xmlns:a14="http://schemas.microsoft.com/office/drawing/2010/main" xmlns="">
                <a:solidFill>
                  <a:srgbClr val="FFFFFF"/>
                </a:solidFill>
              </a14:hiddenFill>
            </a:ext>
          </a:extLst>
        </p:spPr>
      </p:pic>
      <p:sp>
        <p:nvSpPr>
          <p:cNvPr id="16" name="TextBox 15">
            <a:extLst>
              <a:ext uri="{FF2B5EF4-FFF2-40B4-BE49-F238E27FC236}">
                <a16:creationId xmlns:a16="http://schemas.microsoft.com/office/drawing/2014/main" xmlns="" id="{216F7BDA-67B1-74E6-60AA-FCF3D94E329B}"/>
              </a:ext>
            </a:extLst>
          </p:cNvPr>
          <p:cNvSpPr txBox="1"/>
          <p:nvPr/>
        </p:nvSpPr>
        <p:spPr>
          <a:xfrm>
            <a:off x="2728732" y="4191000"/>
            <a:ext cx="5587684" cy="1569660"/>
          </a:xfrm>
          <a:prstGeom prst="rect">
            <a:avLst/>
          </a:prstGeom>
          <a:noFill/>
        </p:spPr>
        <p:txBody>
          <a:bodyPr wrap="square">
            <a:spAutoFit/>
          </a:bodyPr>
          <a:lstStyle/>
          <a:p>
            <a:pPr algn="just"/>
            <a:r>
              <a:rPr lang="en-US" sz="2200" dirty="0">
                <a:latin typeface="Times New Roman" panose="02020603050405020304" pitchFamily="18" charset="0"/>
                <a:cs typeface="Times New Roman" panose="02020603050405020304" pitchFamily="18" charset="0"/>
              </a:rPr>
              <a:t>According</a:t>
            </a:r>
            <a:r>
              <a:rPr lang="en-US" sz="2400" dirty="0">
                <a:latin typeface="Times New Roman" panose="02020603050405020304" pitchFamily="18" charset="0"/>
                <a:cs typeface="Times New Roman" panose="02020603050405020304" pitchFamily="18" charset="0"/>
              </a:rPr>
              <a:t> to Fred Luthans - “</a:t>
            </a:r>
            <a:r>
              <a:rPr lang="en-US" sz="2400" dirty="0" err="1">
                <a:latin typeface="Times New Roman" panose="02020603050405020304" pitchFamily="18" charset="0"/>
                <a:cs typeface="Times New Roman" panose="02020603050405020304" pitchFamily="18" charset="0"/>
              </a:rPr>
              <a:t>Organisational</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is directly concerned with the understanding production and control of human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in organization”</a:t>
            </a:r>
            <a:endParaRPr lang="en-IN" sz="2400" dirty="0">
              <a:latin typeface="Times New Roman" panose="02020603050405020304" pitchFamily="18" charset="0"/>
              <a:cs typeface="Times New Roman" panose="02020603050405020304" pitchFamily="18" charset="0"/>
            </a:endParaRPr>
          </a:p>
        </p:txBody>
      </p:sp>
      <p:pic>
        <p:nvPicPr>
          <p:cNvPr id="17" name="Picture 8" descr="Member Spotlight: Fred Luthans, recipient of the 2021 Distinguished  Scholarly Contributions to Management Award">
            <a:extLst>
              <a:ext uri="{FF2B5EF4-FFF2-40B4-BE49-F238E27FC236}">
                <a16:creationId xmlns:a16="http://schemas.microsoft.com/office/drawing/2014/main" xmlns="" id="{A79F6308-1966-FE1E-2547-B3A9D66E3EA8}"/>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457200" y="4114800"/>
            <a:ext cx="1810543" cy="2201896"/>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nodePh="1">
                                  <p:stCondLst>
                                    <p:cond delay="0"/>
                                  </p:stCondLst>
                                  <p:endCondLst>
                                    <p:cond evt="begin" delay="0">
                                      <p:tn val="5"/>
                                    </p:cond>
                                  </p:end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circle(out)">
                                      <p:cBhvr>
                                        <p:cTn id="7" dur="10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checkerboard(across)">
                                      <p:cBhvr>
                                        <p:cTn id="12"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Definitions of OB</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3" name="Rectangle 3"/>
          <p:cNvSpPr txBox="1">
            <a:spLocks noChangeArrowheads="1"/>
          </p:cNvSpPr>
          <p:nvPr/>
        </p:nvSpPr>
        <p:spPr>
          <a:xfrm>
            <a:off x="304800" y="1295400"/>
            <a:ext cx="83820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
        <p:nvSpPr>
          <p:cNvPr id="12" name="TextBox 11">
            <a:extLst>
              <a:ext uri="{FF2B5EF4-FFF2-40B4-BE49-F238E27FC236}">
                <a16:creationId xmlns:a16="http://schemas.microsoft.com/office/drawing/2014/main" xmlns="" id="{CF497E4B-D841-B8F2-E0EA-EF4E9A58FC76}"/>
              </a:ext>
            </a:extLst>
          </p:cNvPr>
          <p:cNvSpPr txBox="1"/>
          <p:nvPr/>
        </p:nvSpPr>
        <p:spPr>
          <a:xfrm>
            <a:off x="609600" y="1628800"/>
            <a:ext cx="5175708" cy="2677656"/>
          </a:xfrm>
          <a:prstGeom prst="rect">
            <a:avLst/>
          </a:prstGeom>
          <a:noFill/>
        </p:spPr>
        <p:txBody>
          <a:bodyPr wrap="square">
            <a:spAutoFit/>
          </a:bodyPr>
          <a:lstStyle/>
          <a:p>
            <a:pPr algn="just" rtl="0"/>
            <a:r>
              <a:rPr lang="en-US" sz="2400" dirty="0">
                <a:latin typeface="Times New Roman" panose="02020603050405020304" pitchFamily="18" charset="0"/>
                <a:cs typeface="Times New Roman" panose="02020603050405020304" pitchFamily="18" charset="0"/>
              </a:rPr>
              <a:t>Organizational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can be defined as – “the study and application of knowledge about human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related to other elements of an organization such as structure, technology and social systems (LM Prasad). </a:t>
            </a:r>
            <a:endParaRPr lang="en-US" sz="2400" b="0" i="0" dirty="0">
              <a:solidFill>
                <a:srgbClr val="212121"/>
              </a:solidFill>
              <a:effectLst/>
              <a:latin typeface="Times New Roman" panose="02020603050405020304" pitchFamily="18" charset="0"/>
              <a:cs typeface="Times New Roman" panose="02020603050405020304" pitchFamily="18" charset="0"/>
            </a:endParaRPr>
          </a:p>
        </p:txBody>
      </p:sp>
      <p:pic>
        <p:nvPicPr>
          <p:cNvPr id="14" name="Picture 2" descr="Sultan Chand &amp; Sons | Buy Books Online at Best Prices in India">
            <a:extLst>
              <a:ext uri="{FF2B5EF4-FFF2-40B4-BE49-F238E27FC236}">
                <a16:creationId xmlns:a16="http://schemas.microsoft.com/office/drawing/2014/main" xmlns="" id="{809101B2-0790-6E1B-637B-9E11755A494B}"/>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084168" y="1772816"/>
            <a:ext cx="2088232" cy="223224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slide(fromBottom)">
                                      <p:cBhvr>
                                        <p:cTn id="7"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Foundations of OB</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9" name="Rectangle 3"/>
          <p:cNvSpPr txBox="1">
            <a:spLocks noChangeArrowheads="1"/>
          </p:cNvSpPr>
          <p:nvPr/>
        </p:nvSpPr>
        <p:spPr>
          <a:xfrm>
            <a:off x="609600" y="12954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143001"/>
            <a:ext cx="7958137" cy="3505199"/>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13" name="Picture 12">
            <a:extLst>
              <a:ext uri="{FF2B5EF4-FFF2-40B4-BE49-F238E27FC236}">
                <a16:creationId xmlns:a16="http://schemas.microsoft.com/office/drawing/2014/main" xmlns="" id="{7D60B865-BBDC-5F26-8E4F-ABC1E0D7BAD1}"/>
              </a:ext>
            </a:extLst>
          </p:cNvPr>
          <p:cNvPicPr>
            <a:picLocks noChangeAspect="1"/>
          </p:cNvPicPr>
          <p:nvPr/>
        </p:nvPicPr>
        <p:blipFill>
          <a:blip r:embed="rId3"/>
          <a:stretch>
            <a:fillRect/>
          </a:stretch>
        </p:blipFill>
        <p:spPr>
          <a:xfrm>
            <a:off x="557212" y="900112"/>
            <a:ext cx="8029575" cy="5057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slide(fromBottom)">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slide(fromBottom)">
                                      <p:cBhvr>
                                        <p:cTn id="12"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Contributing Disciplines of OB</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9" name="Rectangle 3"/>
          <p:cNvSpPr txBox="1">
            <a:spLocks noChangeArrowheads="1"/>
          </p:cNvSpPr>
          <p:nvPr/>
        </p:nvSpPr>
        <p:spPr>
          <a:xfrm>
            <a:off x="609600" y="12954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Content Placeholder 2">
            <a:extLst>
              <a:ext uri="{FF2B5EF4-FFF2-40B4-BE49-F238E27FC236}">
                <a16:creationId xmlns:a16="http://schemas.microsoft.com/office/drawing/2014/main" xmlns="" id="{E9FB3C99-3100-7F3F-F2EF-67537DC3B62A}"/>
              </a:ext>
            </a:extLst>
          </p:cNvPr>
          <p:cNvSpPr txBox="1">
            <a:spLocks/>
          </p:cNvSpPr>
          <p:nvPr/>
        </p:nvSpPr>
        <p:spPr>
          <a:xfrm>
            <a:off x="457200" y="1600200"/>
            <a:ext cx="82296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Psychology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Sociology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Anthropology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Political science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slide(fromBottom)">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slide(fromBottom)">
                                      <p:cBhvr>
                                        <p:cTn id="12"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Nature of OB</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Rectangle 3"/>
          <p:cNvSpPr txBox="1">
            <a:spLocks noChangeArrowheads="1"/>
          </p:cNvSpPr>
          <p:nvPr/>
        </p:nvSpPr>
        <p:spPr>
          <a:xfrm>
            <a:off x="457200" y="1219200"/>
            <a:ext cx="7239000" cy="4846638"/>
          </a:xfrm>
          <a:prstGeom prst="rect">
            <a:avLst/>
          </a:prstGeom>
        </p:spPr>
        <p:txBody>
          <a:bodyPr/>
          <a:lstStyle/>
          <a:p>
            <a:pPr marL="342900" marR="0" lvl="0" indent="-342900" algn="l" defTabSz="914400" rtl="0" eaLnBrk="1" fontAlgn="auto" latinLnBrk="0" hangingPunct="1">
              <a:lnSpc>
                <a:spcPct val="90000"/>
              </a:lnSpc>
              <a:spcBef>
                <a:spcPct val="20000"/>
              </a:spcBef>
              <a:spcAft>
                <a:spcPts val="0"/>
              </a:spcAft>
              <a:buClrTx/>
              <a:buSzTx/>
              <a:buFontTx/>
              <a:buNone/>
              <a:tabLst/>
              <a:defRPr/>
            </a:pPr>
            <a:endParaRPr kumimoji="0" lang="en-US" altLang="en-US" sz="2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Content Placeholder 2">
            <a:extLst>
              <a:ext uri="{FF2B5EF4-FFF2-40B4-BE49-F238E27FC236}">
                <a16:creationId xmlns:a16="http://schemas.microsoft.com/office/drawing/2014/main" xmlns="" id="{E9FB3C99-3100-7F3F-F2EF-67537DC3B62A}"/>
              </a:ext>
            </a:extLst>
          </p:cNvPr>
          <p:cNvSpPr txBox="1">
            <a:spLocks/>
          </p:cNvSpPr>
          <p:nvPr/>
        </p:nvSpPr>
        <p:spPr>
          <a:xfrm>
            <a:off x="457200" y="1600200"/>
            <a:ext cx="8229600" cy="4525963"/>
          </a:xfrm>
          <a:prstGeom prst="rect">
            <a:avLst/>
          </a:prstGeom>
        </p:spPr>
        <p:txBody>
          <a:bodyPr>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1. A Separate Field of Study and Not a Discipline Only</a:t>
            </a:r>
            <a:endPar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2. An Interdisciplinary Approach</a:t>
            </a:r>
            <a:endParaRPr kumimoji="0" lang="en-IN"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3. An Applied Science</a:t>
            </a:r>
            <a:endParaRPr kumimoji="0" lang="en-IN"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4. A Normative Science</a:t>
            </a:r>
            <a:endParaRPr kumimoji="0" lang="en-IN"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5. A Humanistic and Optimistic Approach</a:t>
            </a:r>
            <a:endPar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6.</a:t>
            </a:r>
            <a:r>
              <a:rPr kumimoji="0" lang="en-US"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A Total System Approach</a:t>
            </a:r>
            <a:endPar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nodePh="1">
                                  <p:stCondLst>
                                    <p:cond delay="0"/>
                                  </p:stCondLst>
                                  <p:endCondLst>
                                    <p:cond evt="begin" delay="0">
                                      <p:tn val="15"/>
                                    </p:cond>
                                  </p:end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slide(fromLeft)">
                                      <p:cBhvr>
                                        <p:cTn id="17"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Scope of OB</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Rectangle 3"/>
          <p:cNvSpPr txBox="1">
            <a:spLocks noChangeArrowheads="1"/>
          </p:cNvSpPr>
          <p:nvPr/>
        </p:nvSpPr>
        <p:spPr>
          <a:xfrm>
            <a:off x="457200" y="1219200"/>
            <a:ext cx="8229600" cy="4846637"/>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533400" y="11430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Impact of Personality on performance</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Employee motivation</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Leadership</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Perception</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Individual behavior</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Attitude</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Management of Change</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Management of Stress and Conflict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Organizational development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nodeType="clickEffect" nodePh="1">
                                  <p:stCondLst>
                                    <p:cond delay="0"/>
                                  </p:stCondLst>
                                  <p:endCondLst>
                                    <p:cond evt="begin" delay="0">
                                      <p:tn val="15"/>
                                    </p:cond>
                                  </p:end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slide(fromRight)">
                                      <p:cBhvr>
                                        <p:cTn id="1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Applications of OB in Management</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Content Placeholder 2"/>
          <p:cNvSpPr txBox="1">
            <a:spLocks/>
          </p:cNvSpPr>
          <p:nvPr/>
        </p:nvSpPr>
        <p:spPr>
          <a:xfrm>
            <a:off x="533400" y="11430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Responding to Globalization</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Managing workforce diversity</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Improving quality &amp; productivity</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Improving people skills</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Stimulating Innovation and Change</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Work-life balance</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itchFamily="18" charset="0"/>
            </a:endParaRPr>
          </a:p>
        </p:txBody>
      </p:sp>
      <p:pic>
        <p:nvPicPr>
          <p:cNvPr id="16" name="Picture 15">
            <a:extLst>
              <a:ext uri="{FF2B5EF4-FFF2-40B4-BE49-F238E27FC236}">
                <a16:creationId xmlns:a16="http://schemas.microsoft.com/office/drawing/2014/main" xmlns="" id="{AADE1F9B-951A-41C0-BCBA-C82B1123771A}"/>
              </a:ext>
            </a:extLst>
          </p:cNvPr>
          <p:cNvPicPr>
            <a:picLocks noChangeAspect="1"/>
          </p:cNvPicPr>
          <p:nvPr/>
        </p:nvPicPr>
        <p:blipFill>
          <a:blip r:embed="rId3" cstate="print"/>
          <a:stretch>
            <a:fillRect/>
          </a:stretch>
        </p:blipFill>
        <p:spPr>
          <a:xfrm>
            <a:off x="5467654" y="4093278"/>
            <a:ext cx="3657600" cy="20239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Recap</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Content Placeholder 3"/>
          <p:cNvSpPr txBox="1">
            <a:spLocks/>
          </p:cNvSpPr>
          <p:nvPr/>
        </p:nvSpPr>
        <p:spPr>
          <a:xfrm>
            <a:off x="457200" y="990600"/>
            <a:ext cx="8305800" cy="54102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4" name="Content Placeholder 2"/>
          <p:cNvSpPr txBox="1">
            <a:spLocks/>
          </p:cNvSpPr>
          <p:nvPr/>
        </p:nvSpPr>
        <p:spPr>
          <a:xfrm>
            <a:off x="381000" y="1143000"/>
            <a:ext cx="7620000" cy="4846638"/>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 this topic, We learned about Digital Transformation.</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We also learned about its features &amp; process.</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Daily Quiz</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Organisational behaviour is</a:t>
            </a: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_______</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a) A science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b) An art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c) A science as well as an art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d) None of the above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A study of the culture and practises in different societies is called</a:t>
            </a: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 _____</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a) Personality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b) Anthropology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c) Perception</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d) Attitudes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smtClean="0">
              <a:ln>
                <a:noFill/>
              </a:ln>
              <a:solidFill>
                <a:srgbClr val="202124"/>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Daily Quiz</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0" name="Content Placeholder 2"/>
          <p:cNvSpPr txBox="1">
            <a:spLocks/>
          </p:cNvSpPr>
          <p:nvPr/>
        </p:nvSpPr>
        <p:spPr>
          <a:xfrm>
            <a:off x="457200" y="811606"/>
            <a:ext cx="8229600" cy="5314558"/>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1066800"/>
            <a:ext cx="8686800" cy="5289550"/>
          </a:xfrm>
          <a:prstGeom prst="rect">
            <a:avLst/>
          </a:prstGeom>
        </p:spPr>
        <p:txBody>
          <a:bodyPr>
            <a:no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In present context, challenges for Organizational Behaviour are</a:t>
            </a: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 _____</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a) Employee expectation</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b) Workforce diversity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c) Globalization</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d) All of the above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The term ‘psychology’ is derived from the word ‘psyche’, which means ‘soul’ or ‘spirit’</a:t>
            </a: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_______</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a) Latin</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b) French</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c) Greek</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202124"/>
                </a:solidFill>
                <a:effectLst/>
                <a:uLnTx/>
                <a:uFillTx/>
                <a:latin typeface="Times New Roman" panose="02020603050405020304" pitchFamily="18" charset="0"/>
                <a:ea typeface="+mn-ea"/>
                <a:cs typeface="Times New Roman" panose="02020603050405020304" pitchFamily="18" charset="0"/>
              </a:rPr>
              <a:t>d) None of these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smtClean="0">
              <a:ln>
                <a:noFill/>
              </a:ln>
              <a:solidFill>
                <a:srgbClr val="202124"/>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err="1" smtClean="0"/>
              <a:t>Noida</a:t>
            </a:r>
            <a:r>
              <a:rPr lang="en-US" sz="2400" dirty="0" smtClean="0"/>
              <a:t> Institute of Engineering and Technology, Greater </a:t>
            </a:r>
            <a:r>
              <a:rPr lang="en-US" sz="2400" dirty="0" err="1" smtClean="0"/>
              <a:t>Noida</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Subtitle 2"/>
          <p:cNvSpPr txBox="1">
            <a:spLocks/>
          </p:cNvSpPr>
          <p:nvPr/>
        </p:nvSpPr>
        <p:spPr>
          <a:xfrm>
            <a:off x="762000" y="1371600"/>
            <a:ext cx="8153400" cy="990600"/>
          </a:xfrm>
          <a:prstGeom prst="rect">
            <a:avLst/>
          </a:prstGeom>
          <a:ln w="25400" cap="flat" cmpd="sng" algn="ctr">
            <a:solidFill>
              <a:schemeClr val="accent2"/>
            </a:solidFill>
            <a:prstDash val="solid"/>
          </a:ln>
        </p:spPr>
        <p:style>
          <a:lnRef idx="2">
            <a:schemeClr val="accent5"/>
          </a:lnRef>
          <a:fillRef idx="1">
            <a:schemeClr val="lt1"/>
          </a:fillRef>
          <a:effectRef idx="0">
            <a:schemeClr val="accent5"/>
          </a:effectRef>
          <a:fontRef idx="minor">
            <a:schemeClr val="dk1"/>
          </a:fontRef>
        </p:style>
        <p:txBody>
          <a:bodyPr>
            <a:no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Environmental &amp; Organizational Context</a:t>
            </a:r>
            <a:endParaRPr kumimoji="0" lang="en-US" sz="2800" b="1"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pic>
        <p:nvPicPr>
          <p:cNvPr id="16" name="Picture 4" descr="C:\Users\Manks\Downloads\speak.png"/>
          <p:cNvPicPr>
            <a:picLocks noChangeAspect="1" noChangeArrowheads="1"/>
          </p:cNvPicPr>
          <p:nvPr/>
        </p:nvPicPr>
        <p:blipFill>
          <a:blip r:embed="rId3" cstate="print"/>
          <a:srcRect/>
          <a:stretch>
            <a:fillRect/>
          </a:stretch>
        </p:blipFill>
        <p:spPr bwMode="auto">
          <a:xfrm>
            <a:off x="7162800" y="3505200"/>
            <a:ext cx="1295400" cy="1143000"/>
          </a:xfrm>
          <a:prstGeom prst="rect">
            <a:avLst/>
          </a:prstGeom>
          <a:noFill/>
        </p:spPr>
      </p:pic>
      <p:sp>
        <p:nvSpPr>
          <p:cNvPr id="21" name="Subtitle 2"/>
          <p:cNvSpPr txBox="1">
            <a:spLocks/>
          </p:cNvSpPr>
          <p:nvPr/>
        </p:nvSpPr>
        <p:spPr>
          <a:xfrm>
            <a:off x="381000" y="4038600"/>
            <a:ext cx="4849147" cy="62865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68580" tIns="34290" rIns="68580" bIns="34290" rtlCol="0">
            <a:normAutofit/>
          </a:bodyPr>
          <a:lstStyle/>
          <a:p>
            <a:pPr algn="ctr" eaLnBrk="1">
              <a:lnSpc>
                <a:spcPct val="150000"/>
              </a:lnSpc>
              <a:spcBef>
                <a:spcPts val="400"/>
              </a:spcBef>
            </a:pPr>
            <a:r>
              <a:rPr lang="en-US" altLang="en-US" sz="2000" b="1" dirty="0" smtClean="0">
                <a:latin typeface="Times New Roman" panose="02020603050405020304" pitchFamily="18" charset="0"/>
                <a:cs typeface="Times New Roman" panose="02020603050405020304" pitchFamily="18" charset="0"/>
                <a:sym typeface="Times New Roman" panose="02020603050405020304" pitchFamily="18" charset="0"/>
              </a:rPr>
              <a:t>Human Psychology &amp; OB (AOE0765)</a:t>
            </a:r>
            <a:endPar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2" name="Subtitle 2"/>
          <p:cNvSpPr txBox="1">
            <a:spLocks/>
          </p:cNvSpPr>
          <p:nvPr/>
        </p:nvSpPr>
        <p:spPr>
          <a:xfrm>
            <a:off x="1066800" y="3200400"/>
            <a:ext cx="2057400" cy="533400"/>
          </a:xfrm>
          <a:prstGeom prst="rect">
            <a:avLst/>
          </a:prstGeom>
          <a:noFill/>
          <a:ln>
            <a:solidFill>
              <a:srgbClr val="DF5556"/>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2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Topic </a:t>
            </a:r>
            <a:r>
              <a:rPr lang="en-US" sz="2500" b="1" dirty="0">
                <a:solidFill>
                  <a:prstClr val="black"/>
                </a:solidFill>
                <a:latin typeface="Times New Roman" panose="02020603050405020304" pitchFamily="18" charset="0"/>
                <a:cs typeface="Times New Roman" panose="02020603050405020304" pitchFamily="18" charset="0"/>
              </a:rPr>
              <a:t>2</a:t>
            </a:r>
            <a:endParaRPr kumimoji="0" lang="en-US" sz="2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Prerequisite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355725"/>
            <a:ext cx="8686800" cy="5365750"/>
          </a:xfrm>
          <a:prstGeom prst="rect">
            <a:avLst/>
          </a:prstGeom>
        </p:spPr>
        <p:txBody>
          <a:bodyPr>
            <a:no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Basic knowledge of Organization </a:t>
            </a:r>
            <a:r>
              <a:rPr kumimoji="0" lang="en-US" sz="2200" b="0" i="0" u="none" strike="noStrike" kern="120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Behaviour</a:t>
            </a: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Topic Objective &amp; Topic Outcome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371600"/>
            <a:ext cx="8077200" cy="40290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5" name="Content Placeholder 8">
            <a:extLst>
              <a:ext uri="{FF2B5EF4-FFF2-40B4-BE49-F238E27FC236}">
                <a16:creationId xmlns="" xmlns:a16="http://schemas.microsoft.com/office/drawing/2014/main" id="{B48416E4-E089-4F59-9BEB-F5821EF943BD}"/>
              </a:ext>
            </a:extLst>
          </p:cNvPr>
          <p:cNvGraphicFramePr>
            <a:graphicFrameLocks/>
          </p:cNvGraphicFramePr>
          <p:nvPr>
            <p:extLst>
              <p:ext uri="{D42A27DB-BD31-4B8C-83A1-F6EECF244321}">
                <p14:modId xmlns="" xmlns:p14="http://schemas.microsoft.com/office/powerpoint/2010/main" val="729673794"/>
              </p:ext>
            </p:extLst>
          </p:nvPr>
        </p:nvGraphicFramePr>
        <p:xfrm>
          <a:off x="152401" y="1143000"/>
          <a:ext cx="8839199" cy="3648312"/>
        </p:xfrm>
        <a:graphic>
          <a:graphicData uri="http://schemas.openxmlformats.org/drawingml/2006/table">
            <a:tbl>
              <a:tblPr firstRow="1" bandRow="1">
                <a:tableStyleId>{5C22544A-7EE6-4342-B048-85BDC9FD1C3A}</a:tableStyleId>
              </a:tblPr>
              <a:tblGrid>
                <a:gridCol w="3886199">
                  <a:extLst>
                    <a:ext uri="{9D8B030D-6E8A-4147-A177-3AD203B41FA5}">
                      <a16:colId xmlns="" xmlns:a16="http://schemas.microsoft.com/office/drawing/2014/main" val="20000"/>
                    </a:ext>
                  </a:extLst>
                </a:gridCol>
                <a:gridCol w="3305014">
                  <a:extLst>
                    <a:ext uri="{9D8B030D-6E8A-4147-A177-3AD203B41FA5}">
                      <a16:colId xmlns="" xmlns:a16="http://schemas.microsoft.com/office/drawing/2014/main" val="20001"/>
                    </a:ext>
                  </a:extLst>
                </a:gridCol>
                <a:gridCol w="1647986">
                  <a:extLst>
                    <a:ext uri="{9D8B030D-6E8A-4147-A177-3AD203B41FA5}">
                      <a16:colId xmlns="" xmlns:a16="http://schemas.microsoft.com/office/drawing/2014/main" val="20002"/>
                    </a:ext>
                  </a:extLst>
                </a:gridCol>
              </a:tblGrid>
              <a:tr h="385093">
                <a:tc>
                  <a:txBody>
                    <a:bodyPr/>
                    <a:lstStyle/>
                    <a:p>
                      <a:pPr algn="ctr"/>
                      <a:r>
                        <a:rPr lang="en-US" sz="2000" dirty="0">
                          <a:solidFill>
                            <a:schemeClr val="tx1"/>
                          </a:solidFill>
                          <a:latin typeface="Times New Roman" pitchFamily="18" charset="0"/>
                          <a:cs typeface="Times New Roman" pitchFamily="18" charset="0"/>
                        </a:rPr>
                        <a:t>Name of Topic</a:t>
                      </a:r>
                    </a:p>
                  </a:txBody>
                  <a:tcPr marL="118872" marR="118872" marT="45696" marB="45696" anchor="ctr">
                    <a:solidFill>
                      <a:srgbClr val="DF5556"/>
                    </a:solidFill>
                  </a:tcPr>
                </a:tc>
                <a:tc>
                  <a:txBody>
                    <a:bodyPr/>
                    <a:lstStyle/>
                    <a:p>
                      <a:pPr algn="ctr"/>
                      <a:r>
                        <a:rPr lang="en-US" sz="2000" dirty="0">
                          <a:solidFill>
                            <a:schemeClr val="tx1"/>
                          </a:solidFill>
                          <a:latin typeface="Times New Roman" pitchFamily="18" charset="0"/>
                          <a:cs typeface="Times New Roman" pitchFamily="18" charset="0"/>
                        </a:rPr>
                        <a:t>Objective</a:t>
                      </a:r>
                      <a:r>
                        <a:rPr lang="en-US" sz="2000" baseline="0" dirty="0">
                          <a:solidFill>
                            <a:schemeClr val="tx1"/>
                          </a:solidFill>
                          <a:latin typeface="Times New Roman" pitchFamily="18" charset="0"/>
                          <a:cs typeface="Times New Roman" pitchFamily="18" charset="0"/>
                        </a:rPr>
                        <a:t> of Topic</a:t>
                      </a:r>
                      <a:endParaRPr lang="en-US" sz="2000" dirty="0">
                        <a:solidFill>
                          <a:schemeClr val="tx1"/>
                        </a:solidFill>
                        <a:latin typeface="Times New Roman" pitchFamily="18" charset="0"/>
                        <a:cs typeface="Times New Roman" pitchFamily="18" charset="0"/>
                      </a:endParaRPr>
                    </a:p>
                  </a:txBody>
                  <a:tcPr marL="118872" marR="118872" marT="45696" marB="45696" anchor="ctr">
                    <a:solidFill>
                      <a:srgbClr val="DF5556"/>
                    </a:solidFill>
                  </a:tcPr>
                </a:tc>
                <a:tc>
                  <a:txBody>
                    <a:bodyPr/>
                    <a:lstStyle/>
                    <a:p>
                      <a:pPr algn="ctr"/>
                      <a:r>
                        <a:rPr lang="en-US" sz="2000" dirty="0">
                          <a:solidFill>
                            <a:schemeClr val="tx1"/>
                          </a:solidFill>
                          <a:latin typeface="Times New Roman" pitchFamily="18" charset="0"/>
                          <a:cs typeface="Times New Roman" pitchFamily="18" charset="0"/>
                        </a:rPr>
                        <a:t>Mapping with CO</a:t>
                      </a:r>
                    </a:p>
                  </a:txBody>
                  <a:tcPr marL="118872" marR="118872" marT="45696" marB="45696" anchor="ctr">
                    <a:solidFill>
                      <a:srgbClr val="DF5556"/>
                    </a:solidFill>
                  </a:tcPr>
                </a:tc>
                <a:extLst>
                  <a:ext uri="{0D108BD9-81ED-4DB2-BD59-A6C34878D82A}">
                    <a16:rowId xmlns="" xmlns:a16="http://schemas.microsoft.com/office/drawing/2014/main" val="10000"/>
                  </a:ext>
                </a:extLst>
              </a:tr>
              <a:tr h="1051608">
                <a:tc>
                  <a:txBody>
                    <a:bodyPr/>
                    <a:lstStyle/>
                    <a:p>
                      <a:pPr algn="just">
                        <a:lnSpc>
                          <a:spcPct val="160000"/>
                        </a:lnSpc>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Impact of  globalization, Diversity, Ethics, culture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18872" marR="118872" marT="45696" marB="45696">
                    <a:solidFill>
                      <a:srgbClr val="FCB4B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To </a:t>
                      </a:r>
                      <a:r>
                        <a:rPr kumimoji="0" lang="en-IN"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study</a:t>
                      </a:r>
                      <a:r>
                        <a:rPr lang="en-IN" sz="2200" dirty="0" smtClean="0">
                          <a:latin typeface="Times New Roman" panose="02020603050405020304" pitchFamily="18" charset="0"/>
                          <a:cs typeface="Times New Roman" panose="02020603050405020304" pitchFamily="18" charset="0"/>
                        </a:rPr>
                        <a:t> the meaning</a:t>
                      </a:r>
                      <a:r>
                        <a:rPr lang="en-IN" sz="2200" baseline="0" dirty="0" smtClean="0">
                          <a:latin typeface="Times New Roman" panose="02020603050405020304" pitchFamily="18" charset="0"/>
                          <a:cs typeface="Times New Roman" panose="02020603050405020304" pitchFamily="18" charset="0"/>
                        </a:rPr>
                        <a:t> of Ethics &amp; Culture</a:t>
                      </a:r>
                      <a:endParaRPr lang="en-IN" sz="2200" dirty="0" smtClean="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txBody>
                  <a:tcPr>
                    <a:solidFill>
                      <a:srgbClr val="FCB4B6"/>
                    </a:solidFill>
                  </a:tcPr>
                </a:tc>
                <a:tc>
                  <a:txBody>
                    <a:bodyPr/>
                    <a:lstStyle/>
                    <a:p>
                      <a:pPr algn="ctr"/>
                      <a:endParaRPr lang="en-US" sz="1900" b="0" dirty="0">
                        <a:latin typeface="Times New Roman" pitchFamily="18" charset="0"/>
                        <a:cs typeface="Times New Roman" pitchFamily="18" charset="0"/>
                      </a:endParaRPr>
                    </a:p>
                    <a:p>
                      <a:pPr algn="ctr"/>
                      <a:endParaRPr lang="en-US" sz="1100" b="0" dirty="0">
                        <a:latin typeface="Times New Roman" pitchFamily="18" charset="0"/>
                        <a:cs typeface="Times New Roman" pitchFamily="18" charset="0"/>
                      </a:endParaRPr>
                    </a:p>
                    <a:p>
                      <a:pPr algn="ctr"/>
                      <a:endParaRPr lang="en-US" sz="1900" b="0" dirty="0">
                        <a:latin typeface="Times New Roman" pitchFamily="18" charset="0"/>
                        <a:cs typeface="Times New Roman" pitchFamily="18" charset="0"/>
                      </a:endParaRPr>
                    </a:p>
                    <a:p>
                      <a:pPr algn="ctr"/>
                      <a:endParaRPr lang="en-US" sz="2000" b="0" dirty="0">
                        <a:latin typeface="Times New Roman" pitchFamily="18" charset="0"/>
                        <a:cs typeface="Times New Roman" pitchFamily="18" charset="0"/>
                      </a:endParaRPr>
                    </a:p>
                    <a:p>
                      <a:pPr algn="ctr"/>
                      <a:r>
                        <a:rPr lang="en-US" sz="2000" b="0" dirty="0" smtClean="0">
                          <a:latin typeface="Times New Roman" pitchFamily="18" charset="0"/>
                          <a:cs typeface="Times New Roman" pitchFamily="18" charset="0"/>
                        </a:rPr>
                        <a:t>CO1</a:t>
                      </a:r>
                      <a:endParaRPr lang="en-US" sz="2000" b="0" dirty="0">
                        <a:latin typeface="Times New Roman" pitchFamily="18" charset="0"/>
                        <a:cs typeface="Times New Roman" pitchFamily="18" charset="0"/>
                      </a:endParaRPr>
                    </a:p>
                  </a:txBody>
                  <a:tcPr marL="118872" marR="118872" marT="45696" marB="45696">
                    <a:solidFill>
                      <a:srgbClr val="FCB4B6"/>
                    </a:solidFill>
                  </a:tcPr>
                </a:tc>
                <a:extLst>
                  <a:ext uri="{0D108BD9-81ED-4DB2-BD59-A6C34878D82A}">
                    <a16:rowId xmlns="" xmlns:a16="http://schemas.microsoft.com/office/drawing/2014/main" val="10001"/>
                  </a:ext>
                </a:extLst>
              </a:tr>
              <a:tr h="1051608">
                <a:tc>
                  <a:txBody>
                    <a:bodyPr/>
                    <a:lstStyle/>
                    <a:p>
                      <a:pPr marL="0" marR="0" indent="0" algn="just" defTabSz="914400" rtl="0" eaLnBrk="1" fontAlgn="auto" latinLnBrk="0" hangingPunct="1">
                        <a:lnSpc>
                          <a:spcPct val="160000"/>
                        </a:lnSpc>
                        <a:spcBef>
                          <a:spcPts val="0"/>
                        </a:spcBef>
                        <a:spcAft>
                          <a:spcPts val="0"/>
                        </a:spcAft>
                        <a:buClrTx/>
                        <a:buSzTx/>
                        <a:buFontTx/>
                        <a:buNone/>
                        <a:tabLst/>
                        <a:defRPr/>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Importance of OB in understanding Human </a:t>
                      </a:r>
                      <a:r>
                        <a:rPr lang="en-US" sz="2000" dirty="0" err="1" smtClean="0">
                          <a:effectLst/>
                          <a:latin typeface="Calibri" panose="020F0502020204030204" pitchFamily="34" charset="0"/>
                          <a:ea typeface="Calibri" panose="020F0502020204030204" pitchFamily="34" charset="0"/>
                          <a:cs typeface="Times New Roman" panose="02020603050405020304" pitchFamily="18" charset="0"/>
                        </a:rPr>
                        <a:t>Behaviour</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60000"/>
                        </a:lnSpc>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18872" marR="118872" marT="45696" marB="45696">
                    <a:solidFill>
                      <a:srgbClr val="FCB4B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To </a:t>
                      </a:r>
                      <a:r>
                        <a:rPr kumimoji="0" lang="en-IN"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study</a:t>
                      </a:r>
                      <a:r>
                        <a:rPr lang="en-IN" sz="2200" dirty="0" smtClean="0">
                          <a:latin typeface="Times New Roman" panose="02020603050405020304" pitchFamily="18" charset="0"/>
                          <a:cs typeface="Times New Roman" panose="02020603050405020304" pitchFamily="18" charset="0"/>
                        </a:rPr>
                        <a:t> the importance of OB</a:t>
                      </a:r>
                    </a:p>
                    <a:p>
                      <a:pPr algn="just"/>
                      <a:endParaRPr lang="en-US" sz="2200" dirty="0">
                        <a:latin typeface="Times New Roman" panose="02020603050405020304" pitchFamily="18" charset="0"/>
                        <a:cs typeface="Times New Roman" panose="02020603050405020304" pitchFamily="18" charset="0"/>
                      </a:endParaRPr>
                    </a:p>
                  </a:txBody>
                  <a:tcPr>
                    <a:solidFill>
                      <a:srgbClr val="FCB4B6"/>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smtClean="0">
                          <a:latin typeface="Times New Roman" pitchFamily="18" charset="0"/>
                          <a:cs typeface="Times New Roman" pitchFamily="18" charset="0"/>
                        </a:rPr>
                        <a:t>CO1</a:t>
                      </a:r>
                    </a:p>
                    <a:p>
                      <a:pPr algn="ctr"/>
                      <a:endParaRPr lang="en-US" sz="2000" b="0" dirty="0">
                        <a:latin typeface="Times New Roman" pitchFamily="18" charset="0"/>
                        <a:cs typeface="Times New Roman" pitchFamily="18" charset="0"/>
                      </a:endParaRPr>
                    </a:p>
                  </a:txBody>
                  <a:tcPr marL="118872" marR="118872" marT="45696" marB="45696">
                    <a:solidFill>
                      <a:srgbClr val="FCB4B6"/>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Globalization</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7">
            <a:extLst>
              <a:ext uri="{FF2B5EF4-FFF2-40B4-BE49-F238E27FC236}">
                <a16:creationId xmlns:a16="http://schemas.microsoft.com/office/drawing/2014/main" xmlns="" id="{8E25FA72-E7F2-547A-BAFA-0027CAEC9418}"/>
              </a:ext>
            </a:extLst>
          </p:cNvPr>
          <p:cNvSpPr txBox="1">
            <a:spLocks/>
          </p:cNvSpPr>
          <p:nvPr/>
        </p:nvSpPr>
        <p:spPr>
          <a:xfrm>
            <a:off x="457200" y="16002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Globalization is the process that improves the interaction through integration of society, culture, politics and business across the world. Globalization is the integration of any market with the global economy.</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 short, Globalization refers to the complex economic networks of international competition, resource suppliers, and product markets.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Globalization</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7">
            <a:extLst>
              <a:ext uri="{FF2B5EF4-FFF2-40B4-BE49-F238E27FC236}">
                <a16:creationId xmlns:a16="http://schemas.microsoft.com/office/drawing/2014/main" xmlns="" id="{8E25FA72-E7F2-547A-BAFA-0027CAEC9418}"/>
              </a:ext>
            </a:extLst>
          </p:cNvPr>
          <p:cNvSpPr txBox="1">
            <a:spLocks/>
          </p:cNvSpPr>
          <p:nvPr/>
        </p:nvSpPr>
        <p:spPr>
          <a:xfrm>
            <a:off x="457200" y="16002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Before the globalization national borders were perfectly insulated and businesses were free from any foreign competition.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Today world is a global village where multinationals are spreading their business across the world.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the same time large pool of workforce are chasing down job opportunities across national borders.</a:t>
            </a:r>
            <a:endParaRPr kumimoji="0" lang="en-I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Culture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7">
            <a:extLst>
              <a:ext uri="{FF2B5EF4-FFF2-40B4-BE49-F238E27FC236}">
                <a16:creationId xmlns:a16="http://schemas.microsoft.com/office/drawing/2014/main" xmlns="" id="{8E25FA72-E7F2-547A-BAFA-0027CAEC9418}"/>
              </a:ext>
            </a:extLst>
          </p:cNvPr>
          <p:cNvSpPr txBox="1">
            <a:spLocks/>
          </p:cNvSpPr>
          <p:nvPr/>
        </p:nvSpPr>
        <p:spPr>
          <a:xfrm>
            <a:off x="457467" y="1250044"/>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Organizational culture can be defined as the group norms, values, beliefs and assumptions practiced in an organization. It brings stability and control within the firm. The organization is more stable and its objective can be understood more clearly.</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Organizational culture helps the group members to resolve their differences, overcome the barriers and also helps them in tackling risks.</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Elements of Organizational Culture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7">
            <a:extLst>
              <a:ext uri="{FF2B5EF4-FFF2-40B4-BE49-F238E27FC236}">
                <a16:creationId xmlns:a16="http://schemas.microsoft.com/office/drawing/2014/main" xmlns="" id="{8E25FA72-E7F2-547A-BAFA-0027CAEC9418}"/>
              </a:ext>
            </a:extLst>
          </p:cNvPr>
          <p:cNvSpPr txBox="1">
            <a:spLocks/>
          </p:cNvSpPr>
          <p:nvPr/>
        </p:nvSpPr>
        <p:spPr>
          <a:xfrm>
            <a:off x="457467" y="1250044"/>
            <a:ext cx="8229600" cy="4525963"/>
          </a:xfrm>
          <a:prstGeom prst="rect">
            <a:avLst/>
          </a:prstGeom>
        </p:spPr>
        <p:txBody>
          <a:bodyPr>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The two key elements seen in organizational culture are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Visible elements</a:t>
            </a: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 These elements are seen by the outer world. Example, dress code, activities, setup, etc.</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Invisible elements</a:t>
            </a: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 These inner elements of the group cannot be seen by people outside the group or firm. Example, values, norms, assumptions, etc. Now let us discuss some other elements of organizational culture. They are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Stories</a:t>
            </a: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 Stories regarding the history of the firm, or founder.</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Rituals</a:t>
            </a: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 Precise practices an organization follows as a habit.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Types of Organizational Culture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7">
            <a:extLst>
              <a:ext uri="{FF2B5EF4-FFF2-40B4-BE49-F238E27FC236}">
                <a16:creationId xmlns:a16="http://schemas.microsoft.com/office/drawing/2014/main" xmlns="" id="{8E25FA72-E7F2-547A-BAFA-0027CAEC9418}"/>
              </a:ext>
            </a:extLst>
          </p:cNvPr>
          <p:cNvSpPr txBox="1">
            <a:spLocks/>
          </p:cNvSpPr>
          <p:nvPr/>
        </p:nvSpPr>
        <p:spPr>
          <a:xfrm>
            <a:off x="457467" y="1250044"/>
            <a:ext cx="8229600" cy="4525963"/>
          </a:xfrm>
          <a:prstGeom prst="rect">
            <a:avLst/>
          </a:prstGeom>
        </p:spPr>
        <p:txBody>
          <a:bodyPr>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The culture a firm follows can be further classified into different types. They are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Mechanistic and Organic culture</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Authoritarian and Participative culture</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Subculture and Dominant culture</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Strong and Weak culture</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Entrepreneurial and Market culture</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Globalization &amp; Culture</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7">
            <a:extLst>
              <a:ext uri="{FF2B5EF4-FFF2-40B4-BE49-F238E27FC236}">
                <a16:creationId xmlns:a16="http://schemas.microsoft.com/office/drawing/2014/main" xmlns="" id="{8E25FA72-E7F2-547A-BAFA-0027CAEC9418}"/>
              </a:ext>
            </a:extLst>
          </p:cNvPr>
          <p:cNvSpPr txBox="1">
            <a:spLocks/>
          </p:cNvSpPr>
          <p:nvPr/>
        </p:nvSpPr>
        <p:spPr>
          <a:xfrm>
            <a:off x="457467" y="1250044"/>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As globalization has fostered the thought of multiculturalism, the relationship between culture and organizational behavior has become increasingly valued.</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7" name="Picture 5">
            <a:extLst>
              <a:ext uri="{FF2B5EF4-FFF2-40B4-BE49-F238E27FC236}">
                <a16:creationId xmlns:a16="http://schemas.microsoft.com/office/drawing/2014/main" xmlns="" id="{215E3F7E-5B7C-A058-F7D1-1B38C9F5EF38}"/>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187624" y="3513025"/>
            <a:ext cx="5616624" cy="2843325"/>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Diversity</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1">
            <a:extLst>
              <a:ext uri="{FF2B5EF4-FFF2-40B4-BE49-F238E27FC236}">
                <a16:creationId xmlns:a16="http://schemas.microsoft.com/office/drawing/2014/main" xmlns="" id="{F9DE2B12-DBEB-72B2-1125-24A33B2D530E}"/>
              </a:ext>
            </a:extLst>
          </p:cNvPr>
          <p:cNvSpPr txBox="1">
            <a:spLocks/>
          </p:cNvSpPr>
          <p:nvPr/>
        </p:nvSpPr>
        <p:spPr>
          <a:xfrm>
            <a:off x="457200" y="16002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Cultural diversity is geared toward having a deep respect and understanding of the various people in the organization.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This aspect of the organization is strengthened by having feedback, teamwork, team-building activities and interpersonal communication.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During such engagements, individuals are able to interact and appreciate each other’s culture; consequently, an accommodating culture and organizational behavior is established within the organization.</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Globalization &amp; Leadership</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1295400"/>
            <a:ext cx="8610600" cy="48006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xmlns="" id="{CB971B32-F9FA-56F4-D8B4-F593C8FBAE77}"/>
              </a:ext>
            </a:extLst>
          </p:cNvPr>
          <p:cNvSpPr txBox="1"/>
          <p:nvPr/>
        </p:nvSpPr>
        <p:spPr>
          <a:xfrm>
            <a:off x="323528" y="1103239"/>
            <a:ext cx="7992888" cy="4893647"/>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Leadership might be universal in terms of a kind of social process but that the content of leadership was affected by the culture. </a:t>
            </a:r>
          </a:p>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Different cultures would lead to different contents, styles and effectiveness of leadership. </a:t>
            </a:r>
          </a:p>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In most situations, leadership styles might not reveal leaders’ personal will, but reflect the culture and tradition of the societies they are in.  </a:t>
            </a:r>
          </a:p>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Moreover, the effectiveness of leadership would also be influenced by local social context. For example: Defining, measuring and rewarding performance in the same way does not work well across functions, business units and occupations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Globalization &amp; Leadership</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1295400"/>
            <a:ext cx="8610600" cy="48006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xmlns="" id="{E0EB11D9-D690-3ECF-552B-63B4F6A68A05}"/>
              </a:ext>
            </a:extLst>
          </p:cNvPr>
          <p:cNvSpPr txBox="1"/>
          <p:nvPr/>
        </p:nvSpPr>
        <p:spPr>
          <a:xfrm>
            <a:off x="457200" y="1340768"/>
            <a:ext cx="8077200" cy="2246769"/>
          </a:xfrm>
          <a:prstGeom prst="rect">
            <a:avLst/>
          </a:prstGeom>
          <a:noFill/>
        </p:spPr>
        <p:txBody>
          <a:bodyPr wrap="square">
            <a:spAutoFit/>
          </a:bodyPr>
          <a:lstStyle/>
          <a:p>
            <a:pPr algn="just"/>
            <a:r>
              <a:rPr lang="en-US" sz="2800" b="0" i="0" dirty="0">
                <a:effectLst/>
                <a:latin typeface="Times New Roman" panose="02020603050405020304" pitchFamily="18" charset="0"/>
                <a:cs typeface="Times New Roman" panose="02020603050405020304" pitchFamily="18" charset="0"/>
              </a:rPr>
              <a:t>Today in a globalized scenario cross-cultural management must give more emphasis on 3R rule-</a:t>
            </a:r>
          </a:p>
          <a:p>
            <a:pPr algn="just">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Recognize cultural difference</a:t>
            </a:r>
          </a:p>
          <a:p>
            <a:pPr algn="just">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Respect people’s right to differ</a:t>
            </a:r>
          </a:p>
          <a:p>
            <a:pPr algn="just">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Reconcile the issues differences create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Multi Cultural Team</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1295400"/>
            <a:ext cx="8610600" cy="48006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xmlns="" id="{E1ADC5DF-2A37-54B0-F0ED-ACDADA244A1E}"/>
              </a:ext>
            </a:extLst>
          </p:cNvPr>
          <p:cNvSpPr txBox="1"/>
          <p:nvPr/>
        </p:nvSpPr>
        <p:spPr>
          <a:xfrm>
            <a:off x="683568" y="1195273"/>
            <a:ext cx="7272091" cy="3046988"/>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Multicultural team can provide strategic advancement for an organization. </a:t>
            </a:r>
          </a:p>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However culturally diverse team, work as or more effectively as a homogeneous team when leadership helps to prevent communication breakdown. </a:t>
            </a:r>
          </a:p>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In fact global virtual teams are more effective when they impose formal temporal coordinating mechanism and develop norms for meaningful participation.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Advantages of Globalization</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1295400"/>
            <a:ext cx="8610600" cy="48006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xmlns="" id="{8697B9A4-FF8A-F1CF-28FC-0CBD718CB115}"/>
              </a:ext>
            </a:extLst>
          </p:cNvPr>
          <p:cNvSpPr txBox="1"/>
          <p:nvPr/>
        </p:nvSpPr>
        <p:spPr>
          <a:xfrm>
            <a:off x="533400" y="1295400"/>
            <a:ext cx="7391400" cy="1938992"/>
          </a:xfrm>
          <a:prstGeom prst="rect">
            <a:avLst/>
          </a:prstGeom>
          <a:noFill/>
        </p:spPr>
        <p:txBody>
          <a:bodyPr wrap="square" rtlCol="0">
            <a:spAutoFit/>
          </a:bodyPr>
          <a:lstStyle/>
          <a:p>
            <a:pPr marL="342900" indent="-342900">
              <a:buAutoNum type="arabicPeriod"/>
            </a:pPr>
            <a:r>
              <a:rPr lang="en-IN" sz="2400" dirty="0">
                <a:latin typeface="Times New Roman" panose="02020603050405020304" pitchFamily="18" charset="0"/>
                <a:cs typeface="Times New Roman" panose="02020603050405020304" pitchFamily="18" charset="0"/>
              </a:rPr>
              <a:t>Learning </a:t>
            </a:r>
          </a:p>
          <a:p>
            <a:pPr marL="342900" indent="-342900">
              <a:buAutoNum type="arabicPeriod"/>
            </a:pPr>
            <a:r>
              <a:rPr lang="en-IN" sz="2400" dirty="0">
                <a:latin typeface="Times New Roman" panose="02020603050405020304" pitchFamily="18" charset="0"/>
                <a:cs typeface="Times New Roman" panose="02020603050405020304" pitchFamily="18" charset="0"/>
              </a:rPr>
              <a:t>Experience and Knowledge</a:t>
            </a:r>
          </a:p>
          <a:p>
            <a:pPr marL="342900" indent="-342900">
              <a:buAutoNum type="arabicPeriod"/>
            </a:pPr>
            <a:r>
              <a:rPr lang="en-IN" sz="2400" dirty="0">
                <a:latin typeface="Times New Roman" panose="02020603050405020304" pitchFamily="18" charset="0"/>
                <a:cs typeface="Times New Roman" panose="02020603050405020304" pitchFamily="18" charset="0"/>
              </a:rPr>
              <a:t>International skills</a:t>
            </a:r>
          </a:p>
          <a:p>
            <a:pPr marL="342900" indent="-342900">
              <a:buAutoNum type="arabicPeriod"/>
            </a:pPr>
            <a:r>
              <a:rPr lang="en-IN" sz="2400" dirty="0">
                <a:latin typeface="Times New Roman" panose="02020603050405020304" pitchFamily="18" charset="0"/>
                <a:cs typeface="Times New Roman" panose="02020603050405020304" pitchFamily="18" charset="0"/>
              </a:rPr>
              <a:t>Reputation</a:t>
            </a:r>
          </a:p>
          <a:p>
            <a:pPr marL="342900" indent="-342900">
              <a:buAutoNum type="arabicPeriod"/>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Importance of OB in understanding Human </a:t>
            </a:r>
            <a:r>
              <a:rPr lang="en-US" sz="2400" b="1" dirty="0" err="1" smtClean="0">
                <a:solidFill>
                  <a:prstClr val="black"/>
                </a:solidFill>
                <a:latin typeface="Times New Roman" panose="02020603050405020304" pitchFamily="18" charset="0"/>
                <a:cs typeface="Times New Roman" panose="02020603050405020304" pitchFamily="18" charset="0"/>
              </a:rPr>
              <a:t>Behaviour</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1295400"/>
            <a:ext cx="8610600" cy="48006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xmlns="" id="{E04A3428-60C0-132B-9772-AEC3E77EC422}"/>
              </a:ext>
            </a:extLst>
          </p:cNvPr>
          <p:cNvSpPr txBox="1"/>
          <p:nvPr/>
        </p:nvSpPr>
        <p:spPr>
          <a:xfrm>
            <a:off x="539552" y="1219200"/>
            <a:ext cx="8363272" cy="3416320"/>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itchFamily="18" charset="0"/>
              </a:rPr>
              <a:t>Impact of Personality on performance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itchFamily="18" charset="0"/>
              </a:rPr>
              <a:t>Employee motivation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itchFamily="18" charset="0"/>
              </a:rPr>
              <a:t>Leadership</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itchFamily="18" charset="0"/>
              </a:rPr>
              <a:t>Perception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itchFamily="18" charset="0"/>
              </a:rPr>
              <a:t>Individual behavior</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itchFamily="18" charset="0"/>
              </a:rPr>
              <a:t>Attitude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itchFamily="18" charset="0"/>
              </a:rPr>
              <a:t>Management of Change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itchFamily="18" charset="0"/>
              </a:rPr>
              <a:t>Management of Stress and Conflict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itchFamily="18" charset="0"/>
              </a:rPr>
              <a:t>Organizational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Importance of OB</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1295400"/>
            <a:ext cx="8610600" cy="48006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xmlns="" id="{E04A3428-60C0-132B-9772-AEC3E77EC422}"/>
              </a:ext>
            </a:extLst>
          </p:cNvPr>
          <p:cNvSpPr txBox="1"/>
          <p:nvPr/>
        </p:nvSpPr>
        <p:spPr>
          <a:xfrm>
            <a:off x="539552" y="1696383"/>
            <a:ext cx="8363272" cy="2308324"/>
          </a:xfrm>
          <a:prstGeom prst="rect">
            <a:avLst/>
          </a:prstGeom>
          <a:noFill/>
        </p:spPr>
        <p:txBody>
          <a:bodyPr wrap="square">
            <a:spAutoFit/>
          </a:bodyPr>
          <a:lstStyle/>
          <a:p>
            <a:pPr marL="342900" indent="-342900" algn="just"/>
            <a:r>
              <a:rPr lang="en-IN" sz="2400" i="0" dirty="0">
                <a:solidFill>
                  <a:srgbClr val="2C2D4F"/>
                </a:solidFill>
                <a:effectLst/>
                <a:latin typeface="Times New Roman" panose="02020603050405020304" pitchFamily="18" charset="0"/>
                <a:cs typeface="Times New Roman" panose="02020603050405020304" pitchFamily="18" charset="0"/>
              </a:rPr>
              <a:t>1. Good Workplace Relationships</a:t>
            </a:r>
          </a:p>
          <a:p>
            <a:pPr marL="342900" indent="-342900" algn="just"/>
            <a:r>
              <a:rPr lang="en-IN" sz="2400" i="0" dirty="0">
                <a:solidFill>
                  <a:srgbClr val="2C2D4F"/>
                </a:solidFill>
                <a:effectLst/>
                <a:latin typeface="Times New Roman" panose="02020603050405020304" pitchFamily="18" charset="0"/>
                <a:cs typeface="Times New Roman" panose="02020603050405020304" pitchFamily="18" charset="0"/>
              </a:rPr>
              <a:t>2. Employee Motivation</a:t>
            </a:r>
          </a:p>
          <a:p>
            <a:pPr marL="342900" indent="-342900" algn="just"/>
            <a:r>
              <a:rPr lang="en-US" sz="2400" i="0" dirty="0">
                <a:solidFill>
                  <a:srgbClr val="2C2D4F"/>
                </a:solidFill>
                <a:effectLst/>
                <a:latin typeface="Times New Roman" panose="02020603050405020304" pitchFamily="18" charset="0"/>
                <a:cs typeface="Times New Roman" panose="02020603050405020304" pitchFamily="18" charset="0"/>
              </a:rPr>
              <a:t>3. Builds a Psychologically Safe Workplace</a:t>
            </a:r>
          </a:p>
          <a:p>
            <a:pPr marL="342900" indent="-342900" algn="just"/>
            <a:r>
              <a:rPr lang="en-IN" sz="2400" i="0" dirty="0">
                <a:solidFill>
                  <a:srgbClr val="2C2D4F"/>
                </a:solidFill>
                <a:effectLst/>
                <a:latin typeface="Times New Roman" panose="02020603050405020304" pitchFamily="18" charset="0"/>
                <a:cs typeface="Times New Roman" panose="02020603050405020304" pitchFamily="18" charset="0"/>
              </a:rPr>
              <a:t>4. Nature of Employees</a:t>
            </a:r>
            <a:endParaRPr lang="en-US" sz="2400" i="0" dirty="0">
              <a:solidFill>
                <a:srgbClr val="2C2D4F"/>
              </a:solidFill>
              <a:effectLst/>
              <a:latin typeface="Times New Roman" panose="02020603050405020304" pitchFamily="18" charset="0"/>
              <a:cs typeface="Times New Roman" panose="02020603050405020304" pitchFamily="18" charset="0"/>
            </a:endParaRPr>
          </a:p>
          <a:p>
            <a:pPr marL="342900" indent="-342900" algn="just"/>
            <a:r>
              <a:rPr lang="en-US" sz="2400" i="0" dirty="0">
                <a:solidFill>
                  <a:srgbClr val="2C2D4F"/>
                </a:solidFill>
                <a:effectLst/>
                <a:latin typeface="Times New Roman" panose="02020603050405020304" pitchFamily="18" charset="0"/>
                <a:cs typeface="Times New Roman" panose="02020603050405020304" pitchFamily="18" charset="0"/>
              </a:rPr>
              <a:t>5. Higher Efficiency in Teams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Recap</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1" name="Rectangle 3"/>
          <p:cNvSpPr txBox="1">
            <a:spLocks noChangeArrowheads="1"/>
          </p:cNvSpPr>
          <p:nvPr/>
        </p:nvSpPr>
        <p:spPr>
          <a:xfrm>
            <a:off x="762000" y="1066800"/>
            <a:ext cx="8077200" cy="43338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685800" y="1355725"/>
            <a:ext cx="8001000" cy="4511675"/>
          </a:xfrm>
          <a:prstGeom prst="rect">
            <a:avLst/>
          </a:prstGeom>
        </p:spPr>
        <p:txBody>
          <a:bodyPr>
            <a:no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 this topic, We learned about Digital Leadership &amp; its benefits.</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Also we learnt about Role of a Leader including Progressive Leadership.</a:t>
            </a:r>
          </a:p>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slide(fromBottom)">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heel(4)">
                                      <p:cBhvr>
                                        <p:cTn id="1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Daily Quiz</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304800" y="1066800"/>
            <a:ext cx="8686800" cy="528955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Define Globalization.</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Explain what is Diversity.</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Discuss the impact of Leadership on team behavior.</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Define ethics.</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err="1" smtClean="0">
                <a:solidFill>
                  <a:prstClr val="black"/>
                </a:solidFill>
                <a:latin typeface="Times New Roman" panose="02020603050405020304" pitchFamily="18" charset="0"/>
                <a:cs typeface="Times New Roman" panose="02020603050405020304" pitchFamily="18" charset="0"/>
              </a:rPr>
              <a:t>Noida</a:t>
            </a:r>
            <a:r>
              <a:rPr lang="en-US" sz="2400" dirty="0" smtClean="0">
                <a:solidFill>
                  <a:prstClr val="black"/>
                </a:solidFill>
                <a:latin typeface="Times New Roman" panose="02020603050405020304" pitchFamily="18" charset="0"/>
                <a:cs typeface="Times New Roman" panose="02020603050405020304" pitchFamily="18" charset="0"/>
              </a:rPr>
              <a:t> Institute of Engineering &amp; Technology, Greater </a:t>
            </a:r>
            <a:r>
              <a:rPr lang="en-US" sz="2400" dirty="0" err="1" smtClean="0">
                <a:solidFill>
                  <a:prstClr val="black"/>
                </a:solidFill>
                <a:latin typeface="Times New Roman" panose="02020603050405020304" pitchFamily="18" charset="0"/>
                <a:cs typeface="Times New Roman" panose="02020603050405020304" pitchFamily="18" charset="0"/>
              </a:rPr>
              <a:t>Noida</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Subtitle 2"/>
          <p:cNvSpPr txBox="1">
            <a:spLocks/>
          </p:cNvSpPr>
          <p:nvPr/>
        </p:nvSpPr>
        <p:spPr>
          <a:xfrm>
            <a:off x="1785079" y="1077067"/>
            <a:ext cx="6934200" cy="725591"/>
          </a:xfrm>
          <a:prstGeom prst="rect">
            <a:avLst/>
          </a:prstGeom>
          <a:ln>
            <a:solidFill>
              <a:srgbClr val="DF5556"/>
            </a:solidFill>
          </a:ln>
        </p:spPr>
        <p:style>
          <a:lnRef idx="2">
            <a:schemeClr val="accent5"/>
          </a:lnRef>
          <a:fillRef idx="1">
            <a:schemeClr val="lt1"/>
          </a:fillRef>
          <a:effectRef idx="0">
            <a:schemeClr val="accent5"/>
          </a:effectRef>
          <a:fontRef idx="minor">
            <a:schemeClr val="dk1"/>
          </a:fontRef>
        </p:style>
        <p:txBody>
          <a:bodyPr anchor="ctr">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Management Principles &amp; Organizational </a:t>
            </a:r>
            <a:r>
              <a:rPr kumimoji="0" lang="en-US" sz="2500" b="1" i="0" u="none" strike="noStrike" kern="120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Behaviour</a:t>
            </a:r>
            <a:endPar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1" name="Subtitle 2"/>
          <p:cNvSpPr txBox="1">
            <a:spLocks/>
          </p:cNvSpPr>
          <p:nvPr/>
        </p:nvSpPr>
        <p:spPr>
          <a:xfrm>
            <a:off x="190500" y="2667079"/>
            <a:ext cx="2057400" cy="533400"/>
          </a:xfrm>
          <a:prstGeom prst="rect">
            <a:avLst/>
          </a:prstGeom>
          <a:ln>
            <a:solidFill>
              <a:srgbClr val="DF5556"/>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2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Topic </a:t>
            </a:r>
            <a:r>
              <a:rPr lang="en-US" sz="2500" b="1" noProof="0" dirty="0">
                <a:solidFill>
                  <a:prstClr val="black"/>
                </a:solidFill>
                <a:latin typeface="Times New Roman" panose="02020603050405020304" pitchFamily="18" charset="0"/>
                <a:cs typeface="Times New Roman" panose="02020603050405020304" pitchFamily="18" charset="0"/>
              </a:rPr>
              <a:t>3</a:t>
            </a:r>
            <a:endParaRPr kumimoji="0" lang="en-US" sz="2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2" name="Subtitle 2"/>
          <p:cNvSpPr txBox="1">
            <a:spLocks/>
          </p:cNvSpPr>
          <p:nvPr/>
        </p:nvSpPr>
        <p:spPr>
          <a:xfrm>
            <a:off x="190500" y="3463927"/>
            <a:ext cx="5143500" cy="574673"/>
          </a:xfrm>
          <a:prstGeom prst="rect">
            <a:avLst/>
          </a:prstGeom>
          <a:ln>
            <a:solidFill>
              <a:srgbClr val="DF5556"/>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24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Human Psychology &amp; OB (AOE0765)</a:t>
            </a:r>
            <a:endPar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3" name="Picture 4" descr="C:\Users\Manks\Downloads\speak.png"/>
          <p:cNvPicPr>
            <a:picLocks noChangeAspect="1" noChangeArrowheads="1"/>
          </p:cNvPicPr>
          <p:nvPr/>
        </p:nvPicPr>
        <p:blipFill>
          <a:blip r:embed="rId3" cstate="print"/>
          <a:srcRect/>
          <a:stretch>
            <a:fillRect/>
          </a:stretch>
        </p:blipFill>
        <p:spPr bwMode="auto">
          <a:xfrm>
            <a:off x="6477000" y="2667000"/>
            <a:ext cx="1524000" cy="1524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err="1" smtClean="0">
                <a:solidFill>
                  <a:prstClr val="black"/>
                </a:solidFill>
                <a:latin typeface="Times New Roman" panose="02020603050405020304" pitchFamily="18" charset="0"/>
                <a:cs typeface="Times New Roman" panose="02020603050405020304" pitchFamily="18" charset="0"/>
              </a:rPr>
              <a:t>Prerequiste</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304800" y="1066800"/>
            <a:ext cx="8686800" cy="3368675"/>
          </a:xfrm>
          <a:prstGeom prst="rect">
            <a:avLst/>
          </a:prstGeom>
        </p:spPr>
        <p:txBody>
          <a:bodyPr>
            <a:no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Knowledge of Digital Transformation &amp; Digital Leadership including its- </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Features, Process &amp; Advantages</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Role of a Leader</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Progressive Leadership</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304800" y="1355725"/>
            <a:ext cx="8686800" cy="5365750"/>
          </a:xfrm>
          <a:prstGeom prst="rect">
            <a:avLst/>
          </a:prstGeom>
        </p:spPr>
        <p:txBody>
          <a:bodyPr>
            <a:no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Topic Objective/ Topic Outcome</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0" name="Content Placeholder 8">
            <a:extLst>
              <a:ext uri="{FF2B5EF4-FFF2-40B4-BE49-F238E27FC236}">
                <a16:creationId xmlns="" xmlns:a16="http://schemas.microsoft.com/office/drawing/2014/main" id="{B48416E4-E089-4F59-9BEB-F5821EF943BD}"/>
              </a:ext>
            </a:extLst>
          </p:cNvPr>
          <p:cNvGraphicFramePr>
            <a:graphicFrameLocks/>
          </p:cNvGraphicFramePr>
          <p:nvPr>
            <p:extLst>
              <p:ext uri="{D42A27DB-BD31-4B8C-83A1-F6EECF244321}">
                <p14:modId xmlns="" xmlns:p14="http://schemas.microsoft.com/office/powerpoint/2010/main" val="729673794"/>
              </p:ext>
            </p:extLst>
          </p:nvPr>
        </p:nvGraphicFramePr>
        <p:xfrm>
          <a:off x="152401" y="1143000"/>
          <a:ext cx="8839199" cy="3503596"/>
        </p:xfrm>
        <a:graphic>
          <a:graphicData uri="http://schemas.openxmlformats.org/drawingml/2006/table">
            <a:tbl>
              <a:tblPr firstRow="1" bandRow="1">
                <a:tableStyleId>{5C22544A-7EE6-4342-B048-85BDC9FD1C3A}</a:tableStyleId>
              </a:tblPr>
              <a:tblGrid>
                <a:gridCol w="3886199">
                  <a:extLst>
                    <a:ext uri="{9D8B030D-6E8A-4147-A177-3AD203B41FA5}">
                      <a16:colId xmlns="" xmlns:a16="http://schemas.microsoft.com/office/drawing/2014/main" val="20000"/>
                    </a:ext>
                  </a:extLst>
                </a:gridCol>
                <a:gridCol w="3305014">
                  <a:extLst>
                    <a:ext uri="{9D8B030D-6E8A-4147-A177-3AD203B41FA5}">
                      <a16:colId xmlns="" xmlns:a16="http://schemas.microsoft.com/office/drawing/2014/main" val="20001"/>
                    </a:ext>
                  </a:extLst>
                </a:gridCol>
                <a:gridCol w="1647986">
                  <a:extLst>
                    <a:ext uri="{9D8B030D-6E8A-4147-A177-3AD203B41FA5}">
                      <a16:colId xmlns="" xmlns:a16="http://schemas.microsoft.com/office/drawing/2014/main" val="20002"/>
                    </a:ext>
                  </a:extLst>
                </a:gridCol>
              </a:tblGrid>
              <a:tr h="385093">
                <a:tc>
                  <a:txBody>
                    <a:bodyPr/>
                    <a:lstStyle/>
                    <a:p>
                      <a:pPr algn="ctr"/>
                      <a:r>
                        <a:rPr lang="en-US" sz="2000" dirty="0">
                          <a:solidFill>
                            <a:schemeClr val="tx1"/>
                          </a:solidFill>
                          <a:latin typeface="Times New Roman" pitchFamily="18" charset="0"/>
                          <a:cs typeface="Times New Roman" pitchFamily="18" charset="0"/>
                        </a:rPr>
                        <a:t>Name of Topic</a:t>
                      </a:r>
                    </a:p>
                  </a:txBody>
                  <a:tcPr marL="118872" marR="118872" marT="45696" marB="45696" anchor="ctr">
                    <a:solidFill>
                      <a:srgbClr val="DF5556"/>
                    </a:solidFill>
                  </a:tcPr>
                </a:tc>
                <a:tc>
                  <a:txBody>
                    <a:bodyPr/>
                    <a:lstStyle/>
                    <a:p>
                      <a:pPr algn="ctr"/>
                      <a:r>
                        <a:rPr lang="en-US" sz="2000" dirty="0">
                          <a:solidFill>
                            <a:schemeClr val="tx1"/>
                          </a:solidFill>
                          <a:latin typeface="Times New Roman" pitchFamily="18" charset="0"/>
                          <a:cs typeface="Times New Roman" pitchFamily="18" charset="0"/>
                        </a:rPr>
                        <a:t>Objective</a:t>
                      </a:r>
                      <a:r>
                        <a:rPr lang="en-US" sz="2000" baseline="0" dirty="0">
                          <a:solidFill>
                            <a:schemeClr val="tx1"/>
                          </a:solidFill>
                          <a:latin typeface="Times New Roman" pitchFamily="18" charset="0"/>
                          <a:cs typeface="Times New Roman" pitchFamily="18" charset="0"/>
                        </a:rPr>
                        <a:t> of Topic</a:t>
                      </a:r>
                      <a:endParaRPr lang="en-US" sz="2000" dirty="0">
                        <a:solidFill>
                          <a:schemeClr val="tx1"/>
                        </a:solidFill>
                        <a:latin typeface="Times New Roman" pitchFamily="18" charset="0"/>
                        <a:cs typeface="Times New Roman" pitchFamily="18" charset="0"/>
                      </a:endParaRPr>
                    </a:p>
                  </a:txBody>
                  <a:tcPr marL="118872" marR="118872" marT="45696" marB="45696" anchor="ctr">
                    <a:solidFill>
                      <a:srgbClr val="DF5556"/>
                    </a:solidFill>
                  </a:tcPr>
                </a:tc>
                <a:tc>
                  <a:txBody>
                    <a:bodyPr/>
                    <a:lstStyle/>
                    <a:p>
                      <a:pPr algn="ctr"/>
                      <a:r>
                        <a:rPr lang="en-US" sz="2000" dirty="0">
                          <a:solidFill>
                            <a:schemeClr val="tx1"/>
                          </a:solidFill>
                          <a:latin typeface="Times New Roman" pitchFamily="18" charset="0"/>
                          <a:cs typeface="Times New Roman" pitchFamily="18" charset="0"/>
                        </a:rPr>
                        <a:t>Mapping with CO</a:t>
                      </a:r>
                    </a:p>
                  </a:txBody>
                  <a:tcPr marL="118872" marR="118872" marT="45696" marB="45696" anchor="ctr">
                    <a:solidFill>
                      <a:srgbClr val="DF5556"/>
                    </a:solidFill>
                  </a:tcPr>
                </a:tc>
                <a:extLst>
                  <a:ext uri="{0D108BD9-81ED-4DB2-BD59-A6C34878D82A}">
                    <a16:rowId xmlns="" xmlns:a16="http://schemas.microsoft.com/office/drawing/2014/main" val="10000"/>
                  </a:ext>
                </a:extLst>
              </a:tr>
              <a:tr h="1051608">
                <a:tc>
                  <a:txBody>
                    <a:bodyPr/>
                    <a:lstStyle/>
                    <a:p>
                      <a:pPr algn="just">
                        <a:lnSpc>
                          <a:spcPct val="160000"/>
                        </a:lnSpc>
                      </a:pPr>
                      <a:r>
                        <a:rPr lang="en-US" sz="2000" dirty="0" smtClean="0">
                          <a:effectLst/>
                          <a:latin typeface="Times New Roman" panose="02020603050405020304" pitchFamily="18" charset="0"/>
                          <a:ea typeface="Calibri" panose="020F0502020204030204" pitchFamily="34" charset="0"/>
                          <a:cs typeface="Times New Roman" panose="02020603050405020304" pitchFamily="18" charset="0"/>
                        </a:rPr>
                        <a:t>Cognitive Processes I: Perception and Attribution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8872" marR="118872" marT="45696" marB="45696">
                    <a:solidFill>
                      <a:srgbClr val="FCB4B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To </a:t>
                      </a:r>
                      <a:r>
                        <a:rPr kumimoji="0" lang="en-IN"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study the concept of Perception &amp; Attribution</a:t>
                      </a:r>
                      <a:endParaRPr lang="en-IN" sz="2200" dirty="0" smtClean="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txBody>
                  <a:tcPr>
                    <a:solidFill>
                      <a:srgbClr val="FCB4B6"/>
                    </a:solidFill>
                  </a:tcPr>
                </a:tc>
                <a:tc>
                  <a:txBody>
                    <a:bodyPr/>
                    <a:lstStyle/>
                    <a:p>
                      <a:pPr algn="ctr"/>
                      <a:endParaRPr lang="en-US" sz="1900" b="0" dirty="0">
                        <a:latin typeface="Times New Roman" pitchFamily="18" charset="0"/>
                        <a:cs typeface="Times New Roman" pitchFamily="18" charset="0"/>
                      </a:endParaRPr>
                    </a:p>
                    <a:p>
                      <a:pPr algn="ctr"/>
                      <a:r>
                        <a:rPr lang="en-US" sz="2200" b="0" dirty="0" smtClean="0">
                          <a:latin typeface="Times New Roman" pitchFamily="18" charset="0"/>
                          <a:cs typeface="Times New Roman" pitchFamily="18" charset="0"/>
                        </a:rPr>
                        <a:t>CO1</a:t>
                      </a:r>
                      <a:endParaRPr lang="en-US" sz="2200" b="0" dirty="0">
                        <a:latin typeface="Times New Roman" pitchFamily="18" charset="0"/>
                        <a:cs typeface="Times New Roman" pitchFamily="18" charset="0"/>
                      </a:endParaRPr>
                    </a:p>
                    <a:p>
                      <a:pPr algn="ctr"/>
                      <a:endParaRPr lang="en-US" sz="1900" b="0" dirty="0">
                        <a:latin typeface="Times New Roman" pitchFamily="18" charset="0"/>
                        <a:cs typeface="Times New Roman" pitchFamily="18" charset="0"/>
                      </a:endParaRPr>
                    </a:p>
                    <a:p>
                      <a:pPr algn="ctr"/>
                      <a:endParaRPr lang="en-US" sz="2000" b="0" dirty="0">
                        <a:latin typeface="Times New Roman" pitchFamily="18" charset="0"/>
                        <a:cs typeface="Times New Roman" pitchFamily="18" charset="0"/>
                      </a:endParaRPr>
                    </a:p>
                  </a:txBody>
                  <a:tcPr marL="118872" marR="118872" marT="45696" marB="45696">
                    <a:solidFill>
                      <a:srgbClr val="FCB4B6"/>
                    </a:solidFill>
                  </a:tcPr>
                </a:tc>
                <a:extLst>
                  <a:ext uri="{0D108BD9-81ED-4DB2-BD59-A6C34878D82A}">
                    <a16:rowId xmlns="" xmlns:a16="http://schemas.microsoft.com/office/drawing/2014/main" val="10001"/>
                  </a:ext>
                </a:extLst>
              </a:tr>
              <a:tr h="1051608">
                <a:tc>
                  <a:txBody>
                    <a:bodyPr/>
                    <a:lstStyle/>
                    <a:p>
                      <a:pPr marL="0" marR="0" indent="0" algn="just" defTabSz="914400" rtl="0" eaLnBrk="1" fontAlgn="auto" latinLnBrk="0" hangingPunct="1">
                        <a:lnSpc>
                          <a:spcPct val="160000"/>
                        </a:lnSpc>
                        <a:spcBef>
                          <a:spcPts val="0"/>
                        </a:spcBef>
                        <a:spcAft>
                          <a:spcPts val="0"/>
                        </a:spcAft>
                        <a:buClrTx/>
                        <a:buSzTx/>
                        <a:buFontTx/>
                        <a:buNone/>
                        <a:tabLst/>
                        <a:defRPr/>
                      </a:pPr>
                      <a:r>
                        <a:rPr lang="en-US" sz="2000" dirty="0" smtClean="0">
                          <a:effectLst/>
                          <a:latin typeface="Times New Roman" panose="02020603050405020304" pitchFamily="18" charset="0"/>
                          <a:ea typeface="Calibri" panose="020F0502020204030204" pitchFamily="34" charset="0"/>
                          <a:cs typeface="Times New Roman" panose="02020603050405020304" pitchFamily="18" charset="0"/>
                        </a:rPr>
                        <a:t>Nature and importance of Perception</a:t>
                      </a:r>
                    </a:p>
                    <a:p>
                      <a:pPr algn="just">
                        <a:lnSpc>
                          <a:spcPct val="160000"/>
                        </a:lnSpc>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8872" marR="118872" marT="45696" marB="45696">
                    <a:solidFill>
                      <a:srgbClr val="FCB4B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To </a:t>
                      </a:r>
                      <a:r>
                        <a:rPr kumimoji="0" lang="en-IN"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study the importance of Perception</a:t>
                      </a:r>
                      <a:endParaRPr lang="en-IN" sz="2200" dirty="0" smtClean="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txBody>
                  <a:tcPr>
                    <a:solidFill>
                      <a:srgbClr val="FCB4B6"/>
                    </a:solidFill>
                  </a:tcPr>
                </a:tc>
                <a:tc>
                  <a:txBody>
                    <a:bodyPr/>
                    <a:lstStyle/>
                    <a:p>
                      <a:pPr algn="ctr"/>
                      <a:r>
                        <a:rPr lang="en-US" sz="2000" b="0" dirty="0" smtClean="0">
                          <a:latin typeface="Times New Roman" pitchFamily="18" charset="0"/>
                          <a:cs typeface="Times New Roman" pitchFamily="18" charset="0"/>
                        </a:rPr>
                        <a:t>CO1</a:t>
                      </a:r>
                      <a:endParaRPr lang="en-US" sz="2000" b="0" dirty="0">
                        <a:latin typeface="Times New Roman" pitchFamily="18" charset="0"/>
                        <a:cs typeface="Times New Roman" pitchFamily="18" charset="0"/>
                      </a:endParaRPr>
                    </a:p>
                  </a:txBody>
                  <a:tcPr marL="118872" marR="118872" marT="45696" marB="45696">
                    <a:solidFill>
                      <a:srgbClr val="FCB4B6"/>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b="1" dirty="0" smtClean="0">
                <a:solidFill>
                  <a:prstClr val="black"/>
                </a:solidFill>
                <a:latin typeface="Times New Roman" panose="02020603050405020304" pitchFamily="18" charset="0"/>
                <a:cs typeface="Times New Roman" panose="02020603050405020304" pitchFamily="18" charset="0"/>
              </a:rPr>
              <a:t>Cognitive Processes</a:t>
            </a:r>
            <a:endParaRPr lang="en-US" sz="2400" b="1"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533400" y="11430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212529"/>
                </a:solidFill>
                <a:effectLst/>
                <a:uLnTx/>
                <a:uFillTx/>
                <a:latin typeface="Times New Roman" panose="02020603050405020304" pitchFamily="18" charset="0"/>
                <a:ea typeface="+mn-ea"/>
                <a:cs typeface="Times New Roman" panose="02020603050405020304" pitchFamily="18" charset="0"/>
              </a:rPr>
              <a:t>Cognitive processes are the mental functions assumed to be involved in the acquisition, storage, interpretation, manipulation, transformation, and use of knowledge.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212529"/>
                </a:solidFill>
                <a:effectLst/>
                <a:uLnTx/>
                <a:uFillTx/>
                <a:latin typeface="Times New Roman" panose="02020603050405020304" pitchFamily="18" charset="0"/>
                <a:ea typeface="+mn-ea"/>
                <a:cs typeface="Times New Roman" panose="02020603050405020304" pitchFamily="18" charset="0"/>
              </a:rPr>
              <a:t>These processes encompass such activities as attention, perception, learning, and problem solving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2D2D2D"/>
                </a:solidFill>
                <a:effectLst/>
                <a:uLnTx/>
                <a:uFillTx/>
                <a:latin typeface="Times New Roman" panose="02020603050405020304" pitchFamily="18" charset="0"/>
                <a:ea typeface="+mn-ea"/>
                <a:cs typeface="Times New Roman" panose="02020603050405020304" pitchFamily="18" charset="0"/>
              </a:rPr>
              <a:t>Cognitive processes allow us to create cultures, societies, friends and occupations, many important aspects of human life</a:t>
            </a:r>
            <a:endPar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Cognitive Processes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20" name="Picture 2" descr="What are primary cognitive processes? Cognitive abilities transform sensory input into information we store and use. Primary cognitive processes include reasoning, attention, memory, language, learning, perception.">
            <a:extLst>
              <a:ext uri="{FF2B5EF4-FFF2-40B4-BE49-F238E27FC236}">
                <a16:creationId xmlns:a16="http://schemas.microsoft.com/office/drawing/2014/main" xmlns="" id="{39B68863-0C7C-CB63-A4AF-AEE562AA079F}"/>
              </a:ext>
            </a:extLst>
          </p:cNvPr>
          <p:cNvPicPr>
            <a:picLocks noChangeAspect="1" noChangeArrowheads="1"/>
          </p:cNvPicPr>
          <p:nvPr/>
        </p:nvPicPr>
        <p:blipFill rotWithShape="1">
          <a:blip r:embed="rId3">
            <a:extLst>
              <a:ext uri="{28A0092B-C50C-407E-A947-70E740481C1C}">
                <a14:useLocalDpi xmlns:a14="http://schemas.microsoft.com/office/drawing/2010/main" xmlns="" val="0"/>
              </a:ext>
            </a:extLst>
          </a:blip>
          <a:srcRect t="21315"/>
          <a:stretch/>
        </p:blipFill>
        <p:spPr bwMode="auto">
          <a:xfrm>
            <a:off x="899592" y="1484784"/>
            <a:ext cx="7330007" cy="4104456"/>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Definition of Perception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533400" y="1143000"/>
            <a:ext cx="8229600" cy="4525963"/>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Perception is defined as “a process by which individuals organize and interpret their sensory impressions in order to give meaning to their environment (Robbins)”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Perception (from the Latin perceptio, meaning gathering or receiving) is the organization, identification, and interpretation of sensory information in order to represent and understand the presented information or environment.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Perceptual Process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533400" y="990600"/>
            <a:ext cx="8305800" cy="5274586"/>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 Receiving Stimuli</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 Selection of Stimuli</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 Organization of Stimuli        (</a:t>
            </a:r>
            <a:r>
              <a:rPr kumimoji="0" lang="en-US" sz="2200" b="0" i="0" u="none" strike="noStrike" kern="120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Grouping(ii) Closure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(iii) Simplification. (iv)Interpretation</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21" name="Picture 20">
            <a:extLst>
              <a:ext uri="{FF2B5EF4-FFF2-40B4-BE49-F238E27FC236}">
                <a16:creationId xmlns:a16="http://schemas.microsoft.com/office/drawing/2014/main" xmlns="" id="{F9DBBBD0-77E4-4CD8-9A0B-2DC5AC359062}"/>
              </a:ext>
            </a:extLst>
          </p:cNvPr>
          <p:cNvPicPr>
            <a:picLocks noChangeAspect="1"/>
          </p:cNvPicPr>
          <p:nvPr/>
        </p:nvPicPr>
        <p:blipFill>
          <a:blip r:embed="rId3"/>
          <a:stretch>
            <a:fillRect/>
          </a:stretch>
        </p:blipFill>
        <p:spPr>
          <a:xfrm>
            <a:off x="2133600" y="3048000"/>
            <a:ext cx="5105400" cy="281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Model of the Perceptual Process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7" name="Content Placeholder 9">
            <a:extLst>
              <a:ext uri="{FF2B5EF4-FFF2-40B4-BE49-F238E27FC236}">
                <a16:creationId xmlns:a16="http://schemas.microsoft.com/office/drawing/2014/main" xmlns="" id="{FF64B4E7-C2F3-4FAF-8B26-522350A8B4EC}"/>
              </a:ext>
            </a:extLst>
          </p:cNvPr>
          <p:cNvPicPr>
            <a:picLocks noChangeAspect="1"/>
          </p:cNvPicPr>
          <p:nvPr/>
        </p:nvPicPr>
        <p:blipFill>
          <a:blip r:embed="rId3"/>
          <a:stretch>
            <a:fillRect/>
          </a:stretch>
        </p:blipFill>
        <p:spPr>
          <a:xfrm>
            <a:off x="969506" y="1828800"/>
            <a:ext cx="7336293" cy="35585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Perception Test</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7" name="Picture 2" descr="Can You Pass This Perception Test? QUIZ">
            <a:extLst>
              <a:ext uri="{FF2B5EF4-FFF2-40B4-BE49-F238E27FC236}">
                <a16:creationId xmlns:a16="http://schemas.microsoft.com/office/drawing/2014/main" xmlns="" id="{A7FA1BD4-A2F1-7D48-9F9E-AE73A0499787}"/>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51758" y="1000140"/>
            <a:ext cx="8229600" cy="428625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Factors Affecting Perception/ Perceptual Selectivity </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20" name="Picture 2" descr="Factors That Affect Our Perception | slsi.lk"/>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059720" y="1192832"/>
            <a:ext cx="7627080" cy="4598474"/>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Perceptual Organization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457200" y="16002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Perceptual organization is concerned with process of organizing the inputs into identifiable whole objects.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 person’s perceptual process organizes the incoming information into meaningful whole.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Perceptual organisation is a process that groups the visual elements so that it is easy to determine the meaning of the visual as a whole.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It is an essential concept because it allows individuals to make sense of the things that they see at a rapid pace.</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Principles of Perpetual Organization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457200" y="1143000"/>
            <a:ext cx="8229600" cy="4983163"/>
          </a:xfrm>
          <a:prstGeom prst="rect">
            <a:avLst/>
          </a:prstGeom>
        </p:spPr>
        <p:txBody>
          <a:bodyPr>
            <a:normAutofit/>
          </a:bodyPr>
          <a:lstStyle/>
          <a:p>
            <a:pPr marL="0" marR="0" lvl="0" indent="0" algn="l" defTabSz="914400" rtl="0" eaLnBrk="1" fontAlgn="base"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smtClean="0">
                <a:ln>
                  <a:noFill/>
                </a:ln>
                <a:solidFill>
                  <a:srgbClr val="006699"/>
                </a:solidFill>
                <a:effectLst/>
                <a:uLnTx/>
                <a:uFillTx/>
                <a:latin typeface="Times New Roman" panose="02020603050405020304" pitchFamily="18" charset="0"/>
                <a:ea typeface="+mn-ea"/>
                <a:cs typeface="Times New Roman" panose="02020603050405020304" pitchFamily="18" charset="0"/>
              </a:rPr>
              <a:t>1. Figure Ground</a:t>
            </a:r>
            <a:endParaRPr kumimoji="0" lang="en-US" sz="2000" b="1" i="0" u="none" strike="noStrike" kern="1200" cap="none" spc="0" normalizeH="0" baseline="0" noProof="0" smtClean="0">
              <a:ln>
                <a:noFill/>
              </a:ln>
              <a:solidFill>
                <a:srgbClr val="252525"/>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smtClean="0">
                <a:ln>
                  <a:noFill/>
                </a:ln>
                <a:solidFill>
                  <a:srgbClr val="757575"/>
                </a:solidFill>
                <a:effectLst/>
                <a:uLnTx/>
                <a:uFillTx/>
                <a:latin typeface="Times New Roman" panose="02020603050405020304" pitchFamily="18" charset="0"/>
                <a:ea typeface="+mn-ea"/>
                <a:cs typeface="Times New Roman" panose="02020603050405020304" pitchFamily="18" charset="0"/>
              </a:rPr>
              <a:t>Basic principle “the perceived objects stands out as separable from their general back ground”. Perceptual selectivity will influence perceptual organization.  The viewer is set to perceive one things and the situation is deferent, perceptual organization will be effected.</a:t>
            </a:r>
            <a:endParaRPr kumimoji="0" lang="en-US" sz="2000" b="0" i="0" u="none" strike="noStrike" kern="1200" cap="none" spc="0" normalizeH="0" baseline="0" noProof="0" dirty="0">
              <a:ln>
                <a:noFill/>
              </a:ln>
              <a:solidFill>
                <a:srgbClr val="757575"/>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Principles of Perpetual Organization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457200" y="1143000"/>
            <a:ext cx="8229600" cy="4983163"/>
          </a:xfrm>
          <a:prstGeom prst="rect">
            <a:avLst/>
          </a:prstGeom>
        </p:spPr>
        <p:txBody>
          <a:bodyPr>
            <a:normAutofit/>
          </a:bodyPr>
          <a:lstStyle/>
          <a:p>
            <a:pPr marL="0" marR="0" lvl="0" indent="0" algn="l" defTabSz="914400" rtl="0" eaLnBrk="1" fontAlgn="base"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smtClean="0">
              <a:ln>
                <a:noFill/>
              </a:ln>
              <a:solidFill>
                <a:srgbClr val="006699"/>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smtClean="0">
              <a:ln>
                <a:noFill/>
              </a:ln>
              <a:solidFill>
                <a:srgbClr val="006699"/>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smtClean="0">
                <a:ln>
                  <a:noFill/>
                </a:ln>
                <a:solidFill>
                  <a:srgbClr val="006699"/>
                </a:solidFill>
                <a:effectLst/>
                <a:uLnTx/>
                <a:uFillTx/>
                <a:latin typeface="Times New Roman" panose="02020603050405020304" pitchFamily="18" charset="0"/>
                <a:ea typeface="+mn-ea"/>
                <a:cs typeface="Times New Roman" panose="02020603050405020304" pitchFamily="18" charset="0"/>
              </a:rPr>
              <a:t>2. Perceptual Grouping</a:t>
            </a:r>
            <a:endParaRPr kumimoji="0" lang="en-US" sz="2400" b="1" i="0" u="none" strike="noStrike" kern="1200" cap="none" spc="0" normalizeH="0" baseline="0" noProof="0" smtClean="0">
              <a:ln>
                <a:noFill/>
              </a:ln>
              <a:solidFill>
                <a:srgbClr val="252525"/>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rgbClr val="757575"/>
                </a:solidFill>
                <a:effectLst/>
                <a:uLnTx/>
                <a:uFillTx/>
                <a:latin typeface="Times New Roman" panose="02020603050405020304" pitchFamily="18" charset="0"/>
                <a:ea typeface="+mn-ea"/>
                <a:cs typeface="Times New Roman" panose="02020603050405020304" pitchFamily="18" charset="0"/>
              </a:rPr>
              <a:t>There is a tendency to group several stimuli together into a recognizable pattern. Grouping is done on the basis of Closure, Continuity, proximity or similarity.</a:t>
            </a:r>
            <a:endParaRPr kumimoji="0" lang="en-US" sz="2400" b="0" i="0" u="none" strike="noStrike" kern="1200" cap="none" spc="0" normalizeH="0" baseline="0" noProof="0" dirty="0">
              <a:ln>
                <a:noFill/>
              </a:ln>
              <a:solidFill>
                <a:srgbClr val="757575"/>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Principles of Perpetual Organization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20" name="Picture 2" descr="Perceptual Organization - ppt download">
            <a:extLst>
              <a:ext uri="{FF2B5EF4-FFF2-40B4-BE49-F238E27FC236}">
                <a16:creationId xmlns:a16="http://schemas.microsoft.com/office/drawing/2014/main" xmlns="" id="{DD66DAA4-584A-0D77-62BF-EE273C101879}"/>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99592" y="1340768"/>
            <a:ext cx="7482408" cy="454410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Errors or Barriers to Perception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457200" y="16002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Selective perception </a:t>
            </a: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is a perceptual process in which a person only perceives what he desires to and sets aside or ignores other perceptions or viewpoints.</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Halo Effect-</a:t>
            </a: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 "halo effect" is when one trait of a person or thing is used to make an overall judgment of that person or thing. </a:t>
            </a:r>
            <a:endParaRPr kumimoji="0" lang="en-US" sz="2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Errors or Barriers to Perception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457200" y="1600200"/>
            <a:ext cx="8229600" cy="4525963"/>
          </a:xfrm>
          <a:prstGeom prst="rect">
            <a:avLst/>
          </a:prstGeom>
        </p:spPr>
        <p:txBody>
          <a:bodyPr>
            <a:normAutofit/>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Stereotyping</a:t>
            </a: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-We always have a tendency to classify people to a general groups /categories in order to simplify the matter. For example-Women are always good homemakers and can do well in work life balance</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Contrast Effect</a:t>
            </a: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-We again sometimes judge people in comparison to others . This example generally found in sports, academics and performance review</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Errors or Barriers to Perception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457200" y="1600200"/>
            <a:ext cx="8229600" cy="4525963"/>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Projection</a:t>
            </a: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-This is very common among Perceptual errors. Projection of one's own attitude, personality or behavior into some other person. For example- To all honest people, everybody is honest.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Impression</a:t>
            </a: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-We all know the term "first impression is the last impression" and we apply that too .For example-During the time of hiring, thought like this "The most decent and modest person in the interview can do very well in every roles and responsibilities " always arise.</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Attribution</a:t>
            </a: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 is what happens when a person takes the information they perceived and determines a reason as to what happened.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Behavioral Implications of Perception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457200" y="1143000"/>
            <a:ext cx="8458200" cy="49831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Perception is very important in understanding human behavior because every person perceives the world and approaches life problems differently.</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If people behave on the basis of their perception, we can predict their behavior in the changed circumstances by understanding their present perception of the environment.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With the help of perception, the needs of various people can be determined, because people’s perception is influenced by their needs.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Perception is very important for the manager who wants to avoid making errors when dealing with people and events in the work setting. </a:t>
            </a: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Perception Tests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7" name="Picture 2" descr="Can You Pass The Perception Test?">
            <a:extLst>
              <a:ext uri="{FF2B5EF4-FFF2-40B4-BE49-F238E27FC236}">
                <a16:creationId xmlns:a16="http://schemas.microsoft.com/office/drawing/2014/main" xmlns="" id="{F713826D-F479-98AB-5AD6-86E1DF67BC08}"/>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699792" y="1772816"/>
            <a:ext cx="3960440" cy="3528392"/>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Perception Tests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4" name="Picture 2" descr="Vision Perception Test Image » Funny, Bizarre, Amazing Pictures &amp; Videos">
            <a:extLst>
              <a:ext uri="{FF2B5EF4-FFF2-40B4-BE49-F238E27FC236}">
                <a16:creationId xmlns="" xmlns:a16="http://schemas.microsoft.com/office/drawing/2014/main" id="{37975222-399A-A808-A4E4-A6ABD1D993E5}"/>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595563" y="1268760"/>
            <a:ext cx="3952875" cy="492249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Recap</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304800" y="1371600"/>
            <a:ext cx="8686800" cy="4984750"/>
          </a:xfrm>
          <a:prstGeom prst="rect">
            <a:avLst/>
          </a:prstGeom>
        </p:spPr>
        <p:txBody>
          <a:bodyPr>
            <a:noAutofit/>
          </a:bodyPr>
          <a:lstStyle/>
          <a:p>
            <a:pPr marL="0" marR="0" lvl="0" indent="-342900" algn="just" defTabSz="914400" rtl="0" eaLnBrk="1" fontAlgn="t" latinLnBrk="0" hangingPunct="1">
              <a:lnSpc>
                <a:spcPct val="150000"/>
              </a:lnSpc>
              <a:spcBef>
                <a:spcPts val="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In this topic ,we learned about Online Public Relations</a:t>
            </a:r>
            <a:endParaRPr kumimoji="0" lang="en-IN"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t" latinLnBrk="0" hangingPunct="1">
              <a:lnSpc>
                <a:spcPct val="150000"/>
              </a:lnSpc>
              <a:spcBef>
                <a:spcPts val="0"/>
              </a:spcBef>
              <a:spcAft>
                <a:spcPts val="0"/>
              </a:spcAft>
              <a:buClrTx/>
              <a:buSzTx/>
              <a:buFont typeface="Arial" pitchFamily="34" charset="0"/>
              <a:buChar char="•"/>
              <a:tabLst/>
              <a:defRPr/>
            </a:pPr>
            <a:r>
              <a:rPr kumimoji="0" lang="en-US" sz="22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We have also learned about how Online PR is different from PR &amp; Online Reputation Management.</a:t>
            </a:r>
            <a:endParaRPr kumimoji="0" lang="en-IN"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Daily Quiz</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457200" y="1219200"/>
            <a:ext cx="8686800" cy="528955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Which of the following words does NOT describe perception?</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passive process</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psychological process</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No direct contact with the physical world</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Using sense organs</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Sensation is to ________ as perception is to ________.</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vision, olfaction</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b. conscious, unconscious</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c. awareness, interpretation</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 taste, vision</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Daily Quiz</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457200" y="1219200"/>
            <a:ext cx="8686800" cy="528955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Mary is so beautiful, I bet she is smart too. This is an example of :</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Stereotyping</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Impression</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Halo effect</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Recency effect</a:t>
            </a: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______ prevents you from seeing an individual as an individual rather than a group or community.</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Recency effect</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b. Stereotyping</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c. Halo effect</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 Leniency effect</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You Tube Links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533400" y="1143000"/>
            <a:ext cx="8229600" cy="4525963"/>
          </a:xfrm>
          <a:prstGeom prst="rect">
            <a:avLst/>
          </a:prstGeom>
        </p:spPr>
        <p:txBody>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mn-lt"/>
                <a:ea typeface="+mn-ea"/>
                <a:cs typeface="+mn-cs"/>
                <a:hlinkClick r:id="rId3"/>
              </a:rPr>
              <a:t>https://courses.lumenlearning.com/waymaker-psychology/chapter/reading-what-is-perception/</a:t>
            </a:r>
            <a:r>
              <a:rPr kumimoji="0" lang="en-US" sz="2000" b="0" i="0" u="none" strike="noStrike" kern="1200" cap="none" spc="0" normalizeH="0" baseline="0" noProof="0" smtClean="0">
                <a:ln>
                  <a:noFill/>
                </a:ln>
                <a:solidFill>
                  <a:schemeClr val="tx1"/>
                </a:solidFill>
                <a:effectLst/>
                <a:uLnTx/>
                <a:uFillTx/>
                <a:latin typeface="+mn-lt"/>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mn-lt"/>
                <a:ea typeface="+mn-ea"/>
                <a:cs typeface="+mn-cs"/>
                <a:hlinkClick r:id="rId4"/>
              </a:rPr>
              <a:t>https://www.youtube.com/watch?v=uWCcFrnGPBw</a:t>
            </a:r>
            <a:r>
              <a:rPr kumimoji="0" lang="en-US" sz="2000" b="0" i="0" u="none" strike="noStrike" kern="1200" cap="none" spc="0" normalizeH="0" baseline="0" noProof="0" smtClean="0">
                <a:ln>
                  <a:noFill/>
                </a:ln>
                <a:solidFill>
                  <a:schemeClr val="tx1"/>
                </a:solidFill>
                <a:effectLst/>
                <a:uLnTx/>
                <a:uFillTx/>
                <a:latin typeface="+mn-lt"/>
                <a:ea typeface="+mn-ea"/>
                <a:cs typeface="+mn-cs"/>
              </a:rPr>
              <a:t> </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err="1" smtClean="0">
                <a:solidFill>
                  <a:prstClr val="black"/>
                </a:solidFill>
                <a:latin typeface="Times New Roman" panose="02020603050405020304" pitchFamily="18" charset="0"/>
                <a:cs typeface="Times New Roman" panose="02020603050405020304" pitchFamily="18" charset="0"/>
              </a:rPr>
              <a:t>Noida</a:t>
            </a:r>
            <a:r>
              <a:rPr lang="en-US" sz="2400" dirty="0" smtClean="0">
                <a:solidFill>
                  <a:prstClr val="black"/>
                </a:solidFill>
                <a:latin typeface="Times New Roman" panose="02020603050405020304" pitchFamily="18" charset="0"/>
                <a:cs typeface="Times New Roman" panose="02020603050405020304" pitchFamily="18" charset="0"/>
              </a:rPr>
              <a:t> Institute of Engineering &amp; Technology, Greater </a:t>
            </a:r>
            <a:r>
              <a:rPr lang="en-US" sz="2400" dirty="0" err="1" smtClean="0">
                <a:solidFill>
                  <a:prstClr val="black"/>
                </a:solidFill>
                <a:latin typeface="Times New Roman" panose="02020603050405020304" pitchFamily="18" charset="0"/>
                <a:cs typeface="Times New Roman" panose="02020603050405020304" pitchFamily="18" charset="0"/>
              </a:rPr>
              <a:t>Noida</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Subtitle 2"/>
          <p:cNvSpPr txBox="1">
            <a:spLocks/>
          </p:cNvSpPr>
          <p:nvPr/>
        </p:nvSpPr>
        <p:spPr>
          <a:xfrm>
            <a:off x="1785079" y="1077067"/>
            <a:ext cx="6934200" cy="725591"/>
          </a:xfrm>
          <a:prstGeom prst="rect">
            <a:avLst/>
          </a:prstGeom>
          <a:ln>
            <a:solidFill>
              <a:srgbClr val="DF5556"/>
            </a:solidFill>
          </a:ln>
        </p:spPr>
        <p:style>
          <a:lnRef idx="2">
            <a:schemeClr val="accent5"/>
          </a:lnRef>
          <a:fillRef idx="1">
            <a:schemeClr val="lt1"/>
          </a:fillRef>
          <a:effectRef idx="0">
            <a:schemeClr val="accent5"/>
          </a:effectRef>
          <a:fontRef idx="minor">
            <a:schemeClr val="dk1"/>
          </a:fontRef>
        </p:style>
        <p:txBody>
          <a:bodyPr anchor="ctr">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Attribution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5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1" name="Subtitle 2"/>
          <p:cNvSpPr txBox="1">
            <a:spLocks/>
          </p:cNvSpPr>
          <p:nvPr/>
        </p:nvSpPr>
        <p:spPr>
          <a:xfrm>
            <a:off x="190500" y="2667079"/>
            <a:ext cx="2057400" cy="533400"/>
          </a:xfrm>
          <a:prstGeom prst="rect">
            <a:avLst/>
          </a:prstGeom>
          <a:ln>
            <a:solidFill>
              <a:srgbClr val="DF5556"/>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2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Topic </a:t>
            </a:r>
            <a:r>
              <a:rPr lang="en-US" sz="2500" b="1" noProof="0" dirty="0" smtClean="0">
                <a:solidFill>
                  <a:prstClr val="black"/>
                </a:solidFill>
                <a:latin typeface="Times New Roman" panose="02020603050405020304" pitchFamily="18" charset="0"/>
                <a:cs typeface="Times New Roman" panose="02020603050405020304" pitchFamily="18" charset="0"/>
              </a:rPr>
              <a:t>4</a:t>
            </a:r>
            <a:endParaRPr kumimoji="0" lang="en-US" sz="2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2" name="Subtitle 2"/>
          <p:cNvSpPr txBox="1">
            <a:spLocks/>
          </p:cNvSpPr>
          <p:nvPr/>
        </p:nvSpPr>
        <p:spPr>
          <a:xfrm>
            <a:off x="190500" y="3463927"/>
            <a:ext cx="5143500" cy="574673"/>
          </a:xfrm>
          <a:prstGeom prst="rect">
            <a:avLst/>
          </a:prstGeom>
          <a:ln>
            <a:solidFill>
              <a:srgbClr val="DF5556"/>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24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Human Psychology &amp; OB (AOE0765)</a:t>
            </a:r>
            <a:endPar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3" name="Picture 4" descr="C:\Users\Manks\Downloads\speak.png"/>
          <p:cNvPicPr>
            <a:picLocks noChangeAspect="1" noChangeArrowheads="1"/>
          </p:cNvPicPr>
          <p:nvPr/>
        </p:nvPicPr>
        <p:blipFill>
          <a:blip r:embed="rId3" cstate="print"/>
          <a:srcRect/>
          <a:stretch>
            <a:fillRect/>
          </a:stretch>
        </p:blipFill>
        <p:spPr bwMode="auto">
          <a:xfrm>
            <a:off x="6477000" y="2667000"/>
            <a:ext cx="1524000" cy="1524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Topic Objective/ Topic Outcome</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0" name="Content Placeholder 8">
            <a:extLst>
              <a:ext uri="{FF2B5EF4-FFF2-40B4-BE49-F238E27FC236}">
                <a16:creationId xmlns="" xmlns:a16="http://schemas.microsoft.com/office/drawing/2014/main" id="{B48416E4-E089-4F59-9BEB-F5821EF943BD}"/>
              </a:ext>
            </a:extLst>
          </p:cNvPr>
          <p:cNvGraphicFramePr>
            <a:graphicFrameLocks/>
          </p:cNvGraphicFramePr>
          <p:nvPr>
            <p:extLst>
              <p:ext uri="{D42A27DB-BD31-4B8C-83A1-F6EECF244321}">
                <p14:modId xmlns="" xmlns:p14="http://schemas.microsoft.com/office/powerpoint/2010/main" val="729673794"/>
              </p:ext>
            </p:extLst>
          </p:nvPr>
        </p:nvGraphicFramePr>
        <p:xfrm>
          <a:off x="152401" y="1143000"/>
          <a:ext cx="8839199" cy="3108864"/>
        </p:xfrm>
        <a:graphic>
          <a:graphicData uri="http://schemas.openxmlformats.org/drawingml/2006/table">
            <a:tbl>
              <a:tblPr firstRow="1" bandRow="1">
                <a:tableStyleId>{5C22544A-7EE6-4342-B048-85BDC9FD1C3A}</a:tableStyleId>
              </a:tblPr>
              <a:tblGrid>
                <a:gridCol w="3886199">
                  <a:extLst>
                    <a:ext uri="{9D8B030D-6E8A-4147-A177-3AD203B41FA5}">
                      <a16:colId xmlns="" xmlns:a16="http://schemas.microsoft.com/office/drawing/2014/main" val="20000"/>
                    </a:ext>
                  </a:extLst>
                </a:gridCol>
                <a:gridCol w="3305014">
                  <a:extLst>
                    <a:ext uri="{9D8B030D-6E8A-4147-A177-3AD203B41FA5}">
                      <a16:colId xmlns="" xmlns:a16="http://schemas.microsoft.com/office/drawing/2014/main" val="20001"/>
                    </a:ext>
                  </a:extLst>
                </a:gridCol>
                <a:gridCol w="1647986">
                  <a:extLst>
                    <a:ext uri="{9D8B030D-6E8A-4147-A177-3AD203B41FA5}">
                      <a16:colId xmlns="" xmlns:a16="http://schemas.microsoft.com/office/drawing/2014/main" val="20002"/>
                    </a:ext>
                  </a:extLst>
                </a:gridCol>
              </a:tblGrid>
              <a:tr h="385093">
                <a:tc>
                  <a:txBody>
                    <a:bodyPr/>
                    <a:lstStyle/>
                    <a:p>
                      <a:pPr algn="ctr"/>
                      <a:r>
                        <a:rPr lang="en-US" sz="2000" dirty="0">
                          <a:solidFill>
                            <a:schemeClr val="tx1"/>
                          </a:solidFill>
                          <a:latin typeface="Times New Roman" pitchFamily="18" charset="0"/>
                          <a:cs typeface="Times New Roman" pitchFamily="18" charset="0"/>
                        </a:rPr>
                        <a:t>Name of Topic</a:t>
                      </a:r>
                    </a:p>
                  </a:txBody>
                  <a:tcPr marL="118872" marR="118872" marT="45696" marB="45696" anchor="ctr">
                    <a:solidFill>
                      <a:srgbClr val="DF5556"/>
                    </a:solidFill>
                  </a:tcPr>
                </a:tc>
                <a:tc>
                  <a:txBody>
                    <a:bodyPr/>
                    <a:lstStyle/>
                    <a:p>
                      <a:pPr algn="ctr"/>
                      <a:r>
                        <a:rPr lang="en-US" sz="2000" dirty="0">
                          <a:solidFill>
                            <a:schemeClr val="tx1"/>
                          </a:solidFill>
                          <a:latin typeface="Times New Roman" pitchFamily="18" charset="0"/>
                          <a:cs typeface="Times New Roman" pitchFamily="18" charset="0"/>
                        </a:rPr>
                        <a:t>Objective</a:t>
                      </a:r>
                      <a:r>
                        <a:rPr lang="en-US" sz="2000" baseline="0" dirty="0">
                          <a:solidFill>
                            <a:schemeClr val="tx1"/>
                          </a:solidFill>
                          <a:latin typeface="Times New Roman" pitchFamily="18" charset="0"/>
                          <a:cs typeface="Times New Roman" pitchFamily="18" charset="0"/>
                        </a:rPr>
                        <a:t> of Topic</a:t>
                      </a:r>
                      <a:endParaRPr lang="en-US" sz="2000" dirty="0">
                        <a:solidFill>
                          <a:schemeClr val="tx1"/>
                        </a:solidFill>
                        <a:latin typeface="Times New Roman" pitchFamily="18" charset="0"/>
                        <a:cs typeface="Times New Roman" pitchFamily="18" charset="0"/>
                      </a:endParaRPr>
                    </a:p>
                  </a:txBody>
                  <a:tcPr marL="118872" marR="118872" marT="45696" marB="45696" anchor="ctr">
                    <a:solidFill>
                      <a:srgbClr val="DF5556"/>
                    </a:solidFill>
                  </a:tcPr>
                </a:tc>
                <a:tc>
                  <a:txBody>
                    <a:bodyPr/>
                    <a:lstStyle/>
                    <a:p>
                      <a:pPr algn="ctr"/>
                      <a:r>
                        <a:rPr lang="en-US" sz="2000" dirty="0">
                          <a:solidFill>
                            <a:schemeClr val="tx1"/>
                          </a:solidFill>
                          <a:latin typeface="Times New Roman" pitchFamily="18" charset="0"/>
                          <a:cs typeface="Times New Roman" pitchFamily="18" charset="0"/>
                        </a:rPr>
                        <a:t>Mapping with CO</a:t>
                      </a:r>
                    </a:p>
                  </a:txBody>
                  <a:tcPr marL="118872" marR="118872" marT="45696" marB="45696" anchor="ctr">
                    <a:solidFill>
                      <a:srgbClr val="DF5556"/>
                    </a:solidFill>
                  </a:tcPr>
                </a:tc>
                <a:extLst>
                  <a:ext uri="{0D108BD9-81ED-4DB2-BD59-A6C34878D82A}">
                    <a16:rowId xmlns="" xmlns:a16="http://schemas.microsoft.com/office/drawing/2014/main" val="10000"/>
                  </a:ext>
                </a:extLst>
              </a:tr>
              <a:tr h="1051608">
                <a:tc>
                  <a:txBody>
                    <a:bodyPr/>
                    <a:lstStyle/>
                    <a:p>
                      <a:pPr algn="just">
                        <a:lnSpc>
                          <a:spcPct val="160000"/>
                        </a:lnSpc>
                      </a:pPr>
                      <a:r>
                        <a:rPr lang="en-US" sz="2000" dirty="0" smtClean="0">
                          <a:effectLst/>
                          <a:latin typeface="Times New Roman" panose="02020603050405020304" pitchFamily="18" charset="0"/>
                          <a:cs typeface="Times New Roman" panose="02020603050405020304" pitchFamily="18" charset="0"/>
                        </a:rPr>
                        <a:t>Social perception – Attribution Theories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8872" marR="118872" marT="45696" marB="45696">
                    <a:solidFill>
                      <a:srgbClr val="FCB4B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To </a:t>
                      </a:r>
                      <a:r>
                        <a:rPr kumimoji="0" lang="en-IN"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study the social perception &amp; attribution theories</a:t>
                      </a:r>
                      <a:endParaRPr lang="en-US" sz="2200" dirty="0">
                        <a:latin typeface="Times New Roman" panose="02020603050405020304" pitchFamily="18" charset="0"/>
                        <a:cs typeface="Times New Roman" panose="02020603050405020304" pitchFamily="18" charset="0"/>
                      </a:endParaRPr>
                    </a:p>
                  </a:txBody>
                  <a:tcPr>
                    <a:solidFill>
                      <a:srgbClr val="FCB4B6"/>
                    </a:solidFill>
                  </a:tcPr>
                </a:tc>
                <a:tc>
                  <a:txBody>
                    <a:bodyPr/>
                    <a:lstStyle/>
                    <a:p>
                      <a:pPr algn="ctr"/>
                      <a:endParaRPr lang="en-US" sz="1900" b="0" dirty="0">
                        <a:latin typeface="Times New Roman" pitchFamily="18" charset="0"/>
                        <a:cs typeface="Times New Roman" pitchFamily="18" charset="0"/>
                      </a:endParaRPr>
                    </a:p>
                    <a:p>
                      <a:pPr algn="ctr"/>
                      <a:r>
                        <a:rPr lang="en-US" sz="2200" b="0" dirty="0" smtClean="0">
                          <a:latin typeface="Times New Roman" pitchFamily="18" charset="0"/>
                          <a:cs typeface="Times New Roman" pitchFamily="18" charset="0"/>
                        </a:rPr>
                        <a:t>CO1</a:t>
                      </a:r>
                      <a:endParaRPr lang="en-US" sz="2200" b="0" dirty="0">
                        <a:latin typeface="Times New Roman" pitchFamily="18" charset="0"/>
                        <a:cs typeface="Times New Roman" pitchFamily="18" charset="0"/>
                      </a:endParaRPr>
                    </a:p>
                    <a:p>
                      <a:pPr algn="ctr"/>
                      <a:endParaRPr lang="en-US" sz="1900" b="0" dirty="0">
                        <a:latin typeface="Times New Roman" pitchFamily="18" charset="0"/>
                        <a:cs typeface="Times New Roman" pitchFamily="18" charset="0"/>
                      </a:endParaRPr>
                    </a:p>
                    <a:p>
                      <a:pPr algn="ctr"/>
                      <a:endParaRPr lang="en-US" sz="2000" b="0" dirty="0">
                        <a:latin typeface="Times New Roman" pitchFamily="18" charset="0"/>
                        <a:cs typeface="Times New Roman" pitchFamily="18" charset="0"/>
                      </a:endParaRPr>
                    </a:p>
                  </a:txBody>
                  <a:tcPr marL="118872" marR="118872" marT="45696" marB="45696">
                    <a:solidFill>
                      <a:srgbClr val="FCB4B6"/>
                    </a:solidFill>
                  </a:tcPr>
                </a:tc>
                <a:extLst>
                  <a:ext uri="{0D108BD9-81ED-4DB2-BD59-A6C34878D82A}">
                    <a16:rowId xmlns="" xmlns:a16="http://schemas.microsoft.com/office/drawing/2014/main" val="10001"/>
                  </a:ext>
                </a:extLst>
              </a:tr>
              <a:tr h="1051608">
                <a:tc>
                  <a:txBody>
                    <a:bodyPr/>
                    <a:lstStyle/>
                    <a:p>
                      <a:pPr algn="just">
                        <a:lnSpc>
                          <a:spcPct val="160000"/>
                        </a:lnSpc>
                      </a:pPr>
                      <a:r>
                        <a:rPr lang="en-US" sz="2000" dirty="0" smtClean="0">
                          <a:effectLst/>
                          <a:latin typeface="Times New Roman" panose="02020603050405020304" pitchFamily="18" charset="0"/>
                          <a:cs typeface="Times New Roman" panose="02020603050405020304" pitchFamily="18" charset="0"/>
                        </a:rPr>
                        <a:t>Locus of control –Attribution Errors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8872" marR="118872" marT="45696" marB="45696">
                    <a:solidFill>
                      <a:srgbClr val="FCB4B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To </a:t>
                      </a:r>
                      <a:r>
                        <a:rPr kumimoji="0" lang="en-IN" sz="2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study the Attribution errors</a:t>
                      </a:r>
                      <a:endParaRPr lang="en-US" sz="2200" dirty="0" smtClean="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txBody>
                  <a:tcPr>
                    <a:solidFill>
                      <a:srgbClr val="FCB4B6"/>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smtClean="0">
                          <a:latin typeface="Times New Roman" pitchFamily="18" charset="0"/>
                          <a:cs typeface="Times New Roman" pitchFamily="18" charset="0"/>
                        </a:rPr>
                        <a:t>CO1</a:t>
                      </a:r>
                    </a:p>
                    <a:p>
                      <a:pPr algn="ctr"/>
                      <a:endParaRPr lang="en-US" sz="2000" b="0" dirty="0">
                        <a:latin typeface="Times New Roman" pitchFamily="18" charset="0"/>
                        <a:cs typeface="Times New Roman" pitchFamily="18" charset="0"/>
                      </a:endParaRPr>
                    </a:p>
                  </a:txBody>
                  <a:tcPr marL="118872" marR="118872" marT="45696" marB="45696">
                    <a:solidFill>
                      <a:srgbClr val="FCB4B6"/>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Attribution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7">
            <a:extLst>
              <a:ext uri="{FF2B5EF4-FFF2-40B4-BE49-F238E27FC236}">
                <a16:creationId xmlns="" xmlns:a16="http://schemas.microsoft.com/office/drawing/2014/main" id="{D9C6B628-AB9D-DA43-FCD8-97178A54EBD4}"/>
              </a:ext>
            </a:extLst>
          </p:cNvPr>
          <p:cNvSpPr txBox="1">
            <a:spLocks/>
          </p:cNvSpPr>
          <p:nvPr/>
        </p:nvSpPr>
        <p:spPr>
          <a:xfrm>
            <a:off x="457200" y="16002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Attribution theory, proposed by Fritz Heider (1958), is a social psychology theory that deals with how individuals relate and make sense of the social world.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More specifically, it is concerned with how people translate events around them and how their translations affect their thinking and behavior. </a:t>
            </a:r>
            <a:endParaRPr kumimoji="0" lang="en-I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Types of Attribution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7">
            <a:extLst>
              <a:ext uri="{FF2B5EF4-FFF2-40B4-BE49-F238E27FC236}">
                <a16:creationId xmlns="" xmlns:a16="http://schemas.microsoft.com/office/drawing/2014/main" id="{D9C6B628-AB9D-DA43-FCD8-97178A54EBD4}"/>
              </a:ext>
            </a:extLst>
          </p:cNvPr>
          <p:cNvSpPr txBox="1">
            <a:spLocks/>
          </p:cNvSpPr>
          <p:nvPr/>
        </p:nvSpPr>
        <p:spPr>
          <a:xfrm>
            <a:off x="457200" y="1600200"/>
            <a:ext cx="8229600" cy="4525963"/>
          </a:xfrm>
          <a:prstGeom prst="rect">
            <a:avLst/>
          </a:prstGeom>
        </p:spPr>
        <p:txBody>
          <a:bodyPr>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Heider says that all behavior is considered to be determined by either internal or by external factors:</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External Attribution (Situational Attribution)</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Internal Attribution (Dispositional Attribution)</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External Attribution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7">
            <a:extLst>
              <a:ext uri="{FF2B5EF4-FFF2-40B4-BE49-F238E27FC236}">
                <a16:creationId xmlns="" xmlns:a16="http://schemas.microsoft.com/office/drawing/2014/main" id="{D9C6B628-AB9D-DA43-FCD8-97178A54EBD4}"/>
              </a:ext>
            </a:extLst>
          </p:cNvPr>
          <p:cNvSpPr txBox="1">
            <a:spLocks/>
          </p:cNvSpPr>
          <p:nvPr/>
        </p:nvSpPr>
        <p:spPr>
          <a:xfrm>
            <a:off x="426111" y="1166018"/>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External Attribution (Situational Attribution)</a:t>
            </a: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 Causality is assigned to an outside factor, agent or force. Outside factors fall outside your control.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You perceive you have no choice. So your behavior is influenced, limited or even completely determined by influences outside your control.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Therefore you feel not responsible.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generic example is the weather.</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Internal Attribution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7">
            <a:extLst>
              <a:ext uri="{FF2B5EF4-FFF2-40B4-BE49-F238E27FC236}">
                <a16:creationId xmlns="" xmlns:a16="http://schemas.microsoft.com/office/drawing/2014/main" id="{D9C6B628-AB9D-DA43-FCD8-97178A54EBD4}"/>
              </a:ext>
            </a:extLst>
          </p:cNvPr>
          <p:cNvSpPr txBox="1">
            <a:spLocks/>
          </p:cNvSpPr>
          <p:nvPr/>
        </p:nvSpPr>
        <p:spPr>
          <a:xfrm>
            <a:off x="457200" y="1166018"/>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Internal Attribution (Dispositional Attribution)</a:t>
            </a: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 Causality is assigned to an inside factor, agent or force. Inside factors fall inside your own control.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You can choose to behave in a particular way or not. So your behavior is not influenced, limited or even completely determined by influences outside your control.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Therefore you feel responsible. A typical example is your own intelligence.</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Locus of Control</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533400" y="11430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Locus of control refers to a person's beliefs about how much control they have over what happens to them in their life and how much influence they have over what happens in the world around them.</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Locus of control refers to one’s assumption about responsibility for good and bad events. Every person during his lifetime comes across some good and some had outcomes. While he acts to maximise the possibility of good outcomes and enjoys the success of his life, he tries to minimise the possibility of bad outcomes.</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Locus of Control-Types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533400" y="1143000"/>
            <a:ext cx="8229600" cy="4525963"/>
          </a:xfrm>
          <a:prstGeom prst="rect">
            <a:avLst/>
          </a:prstGeom>
        </p:spPr>
        <p:txBody>
          <a:bodyPr>
            <a:normAutofit/>
          </a:bodyPr>
          <a:lstStyle/>
          <a:p>
            <a:pPr marL="342900" marR="0" lvl="0" indent="-34290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(1) Internal Locus of control</a:t>
            </a:r>
          </a:p>
          <a:p>
            <a:pPr marL="342900" marR="0" lvl="0" indent="-34290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(2) External Locus of control.</a:t>
            </a:r>
            <a:endPar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Internal Locus of Control</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533400" y="1143000"/>
            <a:ext cx="8229600" cy="4525963"/>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Internal locus of control means that control comes from within. You have personal control over your own behavior.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When you have an internal locus of control, you believe you have personal agency over your own life and actions. Because of this, these people tend to have more </a:t>
            </a:r>
            <a:r>
              <a:rPr kumimoji="0" 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self-efficacy</a:t>
            </a:r>
            <a:r>
              <a:rPr kumimoji="0" lang="en-US" sz="2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External Locus of Control</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533400" y="11430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External locus of control means that control stems from external forces. When you have an external locus of control, you believe that events outside of your control drive your actions and the outcomes you get.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Those who are always at the mercy of luck, fate and unforeseen uncontrollable outside force and feel helpless all the time and never like to take the responsibility for their bad outcomes and miserable performances in life are said to have external locus of control.</a:t>
            </a:r>
            <a:endPar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Daily Quiz</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457200" y="1219200"/>
            <a:ext cx="8686800" cy="5289550"/>
          </a:xfrm>
          <a:prstGeom prst="rect">
            <a:avLst/>
          </a:prstGeom>
        </p:spPr>
        <p:txBody>
          <a:bodyPr>
            <a:noAutofit/>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1. Sathish has a low absenteeism rate. He takes responsibility for his health and has good health habits. He is likely to have a(an):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Internal locus of control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b. External locus of control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c. Core locus of control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 High emotional stability level</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2. Some people strongly believe that each person have control of his own life. This is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extroversion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b. conscientiousness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c. internal locus of control</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 d. external locus of control</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Daily Quiz</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457200" y="1219200"/>
            <a:ext cx="8686800" cy="5289550"/>
          </a:xfrm>
          <a:prstGeom prst="rect">
            <a:avLst/>
          </a:prstGeom>
        </p:spPr>
        <p:txBody>
          <a:bodyPr>
            <a:noAutofit/>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3. If a person responds the same way over time, attribution theory states that the behaviour shows.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Distinctiveness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b. Consensus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c. Consistency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 continuity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4. Mr.Balu is late for work each day by about ten minutes. How would attribution theory describe this behaviour?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It shows consensus.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b. It shows similarity.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c. It shows reliability.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 It shows consistency</a:t>
            </a:r>
            <a:endPar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Weekly Assignment</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304800" y="1219200"/>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04800" y="990600"/>
            <a:ext cx="8610600" cy="5105400"/>
          </a:xfrm>
          <a:prstGeom prst="rect">
            <a:avLst/>
          </a:prstGeom>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 name="Content Placeholder 2"/>
          <p:cNvSpPr txBox="1">
            <a:spLocks/>
          </p:cNvSpPr>
          <p:nvPr/>
        </p:nvSpPr>
        <p:spPr>
          <a:xfrm>
            <a:off x="304800" y="1066800"/>
            <a:ext cx="8686800" cy="5289550"/>
          </a:xfrm>
          <a:prstGeom prst="rect">
            <a:avLst/>
          </a:prstGeom>
        </p:spPr>
        <p:txBody>
          <a:bodyPr>
            <a:noAutofit/>
          </a:bodyPr>
          <a:lstStyle/>
          <a:p>
            <a:pPr marL="457200" marR="0" lvl="0" indent="-457200" algn="just" defTabSz="914400" rtl="0" eaLnBrk="1" fontAlgn="auto" latinLnBrk="0" hangingPunct="1">
              <a:lnSpc>
                <a:spcPct val="100000"/>
              </a:lnSpc>
              <a:spcBef>
                <a:spcPct val="20000"/>
              </a:spcBef>
              <a:spcAft>
                <a:spcPts val="0"/>
              </a:spcAft>
              <a:buClrTx/>
              <a:buSzTx/>
              <a:buFont typeface="+mj-lt"/>
              <a:buAutoNum type="alphaLcParenR"/>
              <a:tabLst/>
              <a:defRPr/>
            </a:pPr>
            <a:endPar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UcPeriod" startAt="4"/>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 name="Content Placeholder 2"/>
          <p:cNvSpPr txBox="1">
            <a:spLocks/>
          </p:cNvSpPr>
          <p:nvPr/>
        </p:nvSpPr>
        <p:spPr>
          <a:xfrm>
            <a:off x="533400" y="838200"/>
            <a:ext cx="8229600" cy="5410200"/>
          </a:xfrm>
          <a:prstGeom prst="rect">
            <a:avLst/>
          </a:prstGeom>
        </p:spPr>
        <p:txBody>
          <a:bodyPr>
            <a:normAutofit/>
          </a:bodyPr>
          <a:lstStyle/>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itchFamily="18" charset="0"/>
                <a:ea typeface="+mn-ea"/>
                <a:cs typeface="Times New Roman" pitchFamily="18" charset="0"/>
              </a:rPr>
              <a:t>Define OB. Discuss its nature and scope.</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itchFamily="18" charset="0"/>
                <a:ea typeface="+mn-ea"/>
                <a:cs typeface="Times New Roman" pitchFamily="18" charset="0"/>
              </a:rPr>
              <a:t>Discuss the impact of Globalization and diversity on Organizational behavior.</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itchFamily="18" charset="0"/>
                <a:ea typeface="+mn-ea"/>
                <a:cs typeface="Times New Roman" pitchFamily="18" charset="0"/>
              </a:rPr>
              <a:t>Explain the implications of Perception on managerial decision making.</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itchFamily="18" charset="0"/>
                <a:ea typeface="+mn-ea"/>
                <a:cs typeface="Times New Roman" pitchFamily="18" charset="0"/>
              </a:rPr>
              <a:t>Differentiate between Internal and External Locus of Control.</a:t>
            </a: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YouTube &amp; NPTEL Video Links along with Online Course Details </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4" name="Content Placeholder 2"/>
          <p:cNvSpPr txBox="1">
            <a:spLocks/>
          </p:cNvSpPr>
          <p:nvPr/>
        </p:nvSpPr>
        <p:spPr>
          <a:xfrm>
            <a:off x="533400" y="1143000"/>
            <a:ext cx="8229600" cy="45259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hlinkClick r:id="rId3"/>
              </a:rPr>
              <a:t>https://www.youtube.com/watch?v=f_S_bapYEm4</a:t>
            </a: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hlinkClick r:id="rId4"/>
              </a:rPr>
              <a:t>https://www.youtube.com/watch?v=GW2A8xoSoYk</a:t>
            </a: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MCQs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4" name="Content Placeholder 2"/>
          <p:cNvSpPr txBox="1">
            <a:spLocks/>
          </p:cNvSpPr>
          <p:nvPr/>
        </p:nvSpPr>
        <p:spPr>
          <a:xfrm>
            <a:off x="457200" y="1066800"/>
            <a:ext cx="8229600" cy="5289550"/>
          </a:xfrm>
          <a:prstGeom prst="rect">
            <a:avLst/>
          </a:prstGeom>
        </p:spPr>
        <p:txBody>
          <a:bodyPr>
            <a:noAutofit/>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 name="Content Placeholder 2"/>
          <p:cNvSpPr txBox="1">
            <a:spLocks/>
          </p:cNvSpPr>
          <p:nvPr/>
        </p:nvSpPr>
        <p:spPr>
          <a:xfrm>
            <a:off x="533400" y="838200"/>
            <a:ext cx="8229600" cy="5410200"/>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Which behavioural science discipline is most focused on understanding individual behaviour?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Sociology</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social psychology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Psychology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anthropology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2. The science that seeks to measure, explain, and sometimes change the behaviour of humans and other animals is known as .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Psychiatry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Psychology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Sociology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organizational behavior</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MCQs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4" name="Content Placeholder 2"/>
          <p:cNvSpPr txBox="1">
            <a:spLocks/>
          </p:cNvSpPr>
          <p:nvPr/>
        </p:nvSpPr>
        <p:spPr>
          <a:xfrm>
            <a:off x="457200" y="1020763"/>
            <a:ext cx="8229600" cy="5410200"/>
          </a:xfrm>
          <a:prstGeom prst="rect">
            <a:avLst/>
          </a:prstGeom>
        </p:spPr>
        <p:txBody>
          <a:bodyPr>
            <a:normAutofit/>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3. Organization Behavior is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An interdisciplinary approach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A humanistic approach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Total system approach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All of these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4. Organization Behavior is not a /an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A separate field of study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Applied science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Normative science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Pessimistic approach</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MCQs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Content Placeholder 2"/>
          <p:cNvSpPr txBox="1">
            <a:spLocks/>
          </p:cNvSpPr>
          <p:nvPr/>
        </p:nvSpPr>
        <p:spPr>
          <a:xfrm>
            <a:off x="533400" y="838200"/>
            <a:ext cx="8229600" cy="5410200"/>
          </a:xfrm>
          <a:prstGeom prst="rect">
            <a:avLst/>
          </a:prstGeom>
        </p:spPr>
        <p:txBody>
          <a:bodyPr>
            <a:normAutofit/>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5. The cognitive process through which an individual selects, organizes but misinterprets environmental stimuli is known as_________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Perception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Projection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Selective Perception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Mis-Perception</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6. What is the process by which individuals organize and interpret their sensory impressions in order to give meaning to their environment?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Interpretation</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environmental analysis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Outlook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lphaLcPeriod"/>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itchFamily="18" charset="0"/>
              </a:rPr>
              <a:t>perception</a:t>
            </a: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Glossary Question</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Old Question Papers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Old Question Papers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Old Question Papers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Expected Question for University Exam</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Content Placeholder 2"/>
          <p:cNvSpPr txBox="1">
            <a:spLocks/>
          </p:cNvSpPr>
          <p:nvPr/>
        </p:nvSpPr>
        <p:spPr>
          <a:xfrm>
            <a:off x="533400" y="1143000"/>
            <a:ext cx="8229600" cy="4525963"/>
          </a:xfrm>
          <a:prstGeom prst="rect">
            <a:avLst/>
          </a:prstGeom>
        </p:spPr>
        <p:txBody>
          <a:bodyPr>
            <a:normAutofit fontScale="85000" lnSpcReduction="10000"/>
          </a:bodyPr>
          <a:lstStyle/>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What is organizational behavior?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What are the major behavioural science disciplines that contribute to OB?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What is the link between perception and decision making? How does one affect the other? </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What are some of the common decision biases or errors that people make?</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What are the influences of individual differences, organizational constraints, and culture on decision making?</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Discuss the nature and scope of OB.</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Discuss the impact of Globalization and diversity on Organizational behavior.</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Explain the implications of Perception on managerial decision making.</a:t>
            </a:r>
          </a:p>
          <a:p>
            <a:pPr marL="457200" marR="0" lvl="0" indent="-457200" algn="just" defTabSz="9144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Differentiate between Internal and External Locus of Control.</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 Explain the Attribution theory.</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400" dirty="0" smtClean="0">
                <a:solidFill>
                  <a:prstClr val="black"/>
                </a:solidFill>
                <a:latin typeface="Times New Roman" panose="02020603050405020304" pitchFamily="18" charset="0"/>
                <a:cs typeface="Times New Roman" panose="02020603050405020304" pitchFamily="18" charset="0"/>
              </a:rPr>
              <a:t>References</a:t>
            </a: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Content Placeholder 2"/>
          <p:cNvSpPr txBox="1">
            <a:spLocks/>
          </p:cNvSpPr>
          <p:nvPr/>
        </p:nvSpPr>
        <p:spPr>
          <a:xfrm>
            <a:off x="381000" y="1143000"/>
            <a:ext cx="8382000" cy="5029200"/>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1.Robbins Stephen P&amp; Judge Timothy A. ―Organizational Behaviour (Pearson)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2. Pareek Udai :Understanding Organizational Behaviour, (Oxford University Press, 4th Edition, 2016)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3. Luthans Fred : Organizational Behaviour, (McGraw Hill International Edition, 12th Edition,2013)</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DDA8D44-C954-4477-8CB1-DF55DE5258EB}" type="datetime1">
              <a:rPr lang="en-IN" smtClean="0"/>
              <a:pPr/>
              <a:t>24-07-2025</a:t>
            </a:fld>
            <a:endParaRPr lang="en-US"/>
          </a:p>
        </p:txBody>
      </p:sp>
      <p:sp>
        <p:nvSpPr>
          <p:cNvPr id="8" name="Footer Placeholder 12"/>
          <p:cNvSpPr>
            <a:spLocks noGrp="1"/>
          </p:cNvSpPr>
          <p:nvPr>
            <p:ph type="ftr" sz="quarter" idx="11"/>
          </p:nvPr>
        </p:nvSpPr>
        <p:spPr>
          <a:xfrm>
            <a:off x="3124200" y="6356350"/>
            <a:ext cx="5181600" cy="365125"/>
          </a:xfrm>
        </p:spPr>
        <p:txBody>
          <a:bodyPr/>
          <a:lstStyle/>
          <a:p>
            <a:r>
              <a:rPr lang="en-US" dirty="0" smtClean="0"/>
              <a:t>Ms. </a:t>
            </a:r>
            <a:r>
              <a:rPr lang="en-US" dirty="0" err="1" smtClean="0"/>
              <a:t>Shruti</a:t>
            </a:r>
            <a:r>
              <a:rPr lang="en-US" dirty="0" smtClean="0"/>
              <a:t> </a:t>
            </a:r>
            <a:r>
              <a:rPr lang="en-US" dirty="0" err="1" smtClean="0"/>
              <a:t>Mittal</a:t>
            </a:r>
            <a:r>
              <a:rPr lang="en-US" dirty="0" smtClean="0"/>
              <a:t>          Human Psychology &amp; OB (AOE0765)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18" name="Title 1">
            <a:extLst>
              <a:ext uri="{FF2B5EF4-FFF2-40B4-BE49-F238E27FC236}">
                <a16:creationId xmlns:a16="http://schemas.microsoft.com/office/drawing/2014/main" xmlns="" id="{9A687381-4ED7-0ED6-6BA4-F436C8C62ED7}"/>
              </a:ext>
            </a:extLst>
          </p:cNvPr>
          <p:cNvSpPr txBox="1">
            <a:spLocks/>
          </p:cNvSpPr>
          <p:nvPr/>
        </p:nvSpPr>
        <p:spPr>
          <a:xfrm>
            <a:off x="1371600" y="4022"/>
            <a:ext cx="7772399" cy="6817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9" name="Picture 18" descr="A black and red logo&#10;&#10;Description automatically generated">
            <a:extLst>
              <a:ext uri="{FF2B5EF4-FFF2-40B4-BE49-F238E27FC236}">
                <a16:creationId xmlns:a16="http://schemas.microsoft.com/office/drawing/2014/main" xmlns="" id="{01E0D9BC-68AD-D998-1FD3-81728EFB5C0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 y="86046"/>
            <a:ext cx="1371600" cy="710451"/>
          </a:xfrm>
          <a:prstGeom prst="rect">
            <a:avLst/>
          </a:prstGeom>
        </p:spPr>
      </p:pic>
      <p:sp>
        <p:nvSpPr>
          <p:cNvPr id="12" name="Rectangle 3"/>
          <p:cNvSpPr txBox="1">
            <a:spLocks noChangeArrowheads="1"/>
          </p:cNvSpPr>
          <p:nvPr/>
        </p:nvSpPr>
        <p:spPr>
          <a:xfrm>
            <a:off x="500062" y="1571625"/>
            <a:ext cx="7958137" cy="42195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3"/>
          <p:cNvSpPr txBox="1">
            <a:spLocks noChangeArrowheads="1"/>
          </p:cNvSpPr>
          <p:nvPr/>
        </p:nvSpPr>
        <p:spPr>
          <a:xfrm>
            <a:off x="685800" y="1219200"/>
            <a:ext cx="7924800" cy="380047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2" pitchFamily="18" charset="2"/>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2" pitchFamily="18" charset="2"/>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685800" y="1355725"/>
            <a:ext cx="8001000" cy="4511675"/>
          </a:xfrm>
          <a:prstGeom prst="rect">
            <a:avLst/>
          </a:prstGeom>
        </p:spPr>
        <p:txBody>
          <a:bodyPr>
            <a:no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10"/>
          <p:cNvSpPr/>
          <p:nvPr/>
        </p:nvSpPr>
        <p:spPr>
          <a:xfrm>
            <a:off x="2057400" y="2133600"/>
            <a:ext cx="5623026" cy="1323439"/>
          </a:xfrm>
          <a:prstGeom prst="rect">
            <a:avLst/>
          </a:prstGeom>
          <a:solidFill>
            <a:srgbClr val="F9B4B6"/>
          </a:solidFill>
        </p:spPr>
        <p:txBody>
          <a:bodyPr wrap="square">
            <a:spAutoFit/>
          </a:bodyPr>
          <a:lstStyle/>
          <a:p>
            <a:pPr algn="ctr">
              <a:buNone/>
            </a:pPr>
            <a:r>
              <a:rPr lang="en-US" sz="8000" b="1" dirty="0" smtClean="0">
                <a:ln w="10541" cmpd="sng">
                  <a:solidFill>
                    <a:schemeClr val="accent1">
                      <a:shade val="88000"/>
                      <a:satMod val="110000"/>
                    </a:schemeClr>
                  </a:solidFill>
                  <a:prstDash val="solid"/>
                </a:ln>
                <a:solidFill>
                  <a:srgbClr val="C00000"/>
                </a:solidFill>
              </a:rPr>
              <a:t>Thank </a:t>
            </a:r>
            <a:r>
              <a:rPr lang="en-US" sz="8000" b="1" dirty="0" smtClean="0">
                <a:ln w="10541" cmpd="sng">
                  <a:solidFill>
                    <a:schemeClr val="accent1">
                      <a:shade val="88000"/>
                      <a:satMod val="110000"/>
                    </a:schemeClr>
                  </a:solidFill>
                  <a:prstDash val="solid"/>
                </a:ln>
                <a:solidFill>
                  <a:srgbClr val="C00000"/>
                </a:solidFill>
                <a:latin typeface="Times New Roman" panose="02020603050405020304" pitchFamily="18" charset="0"/>
                <a:cs typeface="Times New Roman" panose="02020603050405020304" pitchFamily="18" charset="0"/>
              </a:rPr>
              <a:t>You</a:t>
            </a:r>
            <a:endParaRPr lang="en-US" sz="8000" b="1" dirty="0">
              <a:ln w="10541" cmpd="sng">
                <a:solidFill>
                  <a:schemeClr val="accent1">
                    <a:shade val="88000"/>
                    <a:satMod val="110000"/>
                  </a:schemeClr>
                </a:solidFill>
                <a:prstDash val="solid"/>
              </a:ln>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heel(4)">
                                      <p:cBhvr>
                                        <p:cTn id="7"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7423</TotalTime>
  <Words>5907</Words>
  <Application>Microsoft Office PowerPoint</Application>
  <PresentationFormat>On-screen Show (4:3)</PresentationFormat>
  <Paragraphs>1342</Paragraphs>
  <Slides>103</Slides>
  <Notes>1</Notes>
  <HiddenSlides>0</HiddenSlides>
  <MMClips>0</MMClips>
  <ScaleCrop>false</ScaleCrop>
  <HeadingPairs>
    <vt:vector size="4" baseType="variant">
      <vt:variant>
        <vt:lpstr>Theme</vt:lpstr>
      </vt:variant>
      <vt:variant>
        <vt:i4>1</vt:i4>
      </vt:variant>
      <vt:variant>
        <vt:lpstr>Slide Titles</vt:lpstr>
      </vt:variant>
      <vt:variant>
        <vt:i4>103</vt:i4>
      </vt:variant>
    </vt:vector>
  </HeadingPairs>
  <TitlesOfParts>
    <vt:vector size="104" baseType="lpstr">
      <vt:lpstr>Office Theme</vt:lpstr>
      <vt:lpstr>Noida Institute of Engineering and Technology, Greater Noida</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dell</cp:lastModifiedBy>
  <cp:revision>444</cp:revision>
  <dcterms:created xsi:type="dcterms:W3CDTF">2006-08-16T00:00:00Z</dcterms:created>
  <dcterms:modified xsi:type="dcterms:W3CDTF">2025-07-24T11:22:37Z</dcterms:modified>
</cp:coreProperties>
</file>